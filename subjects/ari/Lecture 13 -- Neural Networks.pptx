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3" r:id="rId6"/>
    <p:sldId id="260" r:id="rId7"/>
    <p:sldId id="261" r:id="rId8"/>
    <p:sldId id="262" r:id="rId9"/>
    <p:sldId id="264" r:id="rId10"/>
    <p:sldId id="268" r:id="rId11"/>
    <p:sldId id="266" r:id="rId12"/>
    <p:sldId id="269" r:id="rId13"/>
    <p:sldId id="26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334" autoAdjust="0"/>
  </p:normalViewPr>
  <p:slideViewPr>
    <p:cSldViewPr snapToGrid="0">
      <p:cViewPr varScale="1">
        <p:scale>
          <a:sx n="82" d="100"/>
          <a:sy n="82" d="100"/>
        </p:scale>
        <p:origin x="95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2665F7-9DE5-41C5-A262-C8020BB36BC7}" type="datetimeFigureOut">
              <a:rPr lang="en-GB" smtClean="0"/>
              <a:t>25/05/2024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7D11E4-79F3-4F64-8ED9-BB991668FB1E}" type="slidenum">
              <a:rPr lang="en-GB" smtClean="0"/>
              <a:t>‹#›</a:t>
            </a:fld>
            <a:endParaRPr lang="en-GB"/>
          </a:p>
        </p:txBody>
      </p:sp>
    </p:spTree>
    <p:extLst>
      <p:ext uri="{BB962C8B-B14F-4D97-AF65-F5344CB8AC3E}">
        <p14:creationId xmlns:p14="http://schemas.microsoft.com/office/powerpoint/2010/main" val="3702862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this presentation, we will explore the perceptron, a fundamental unit of artificial neural networks. </a:t>
            </a:r>
          </a:p>
          <a:p>
            <a:r>
              <a:rPr lang="en-GB" dirty="0" err="1"/>
              <a:t>Perceptrons</a:t>
            </a:r>
            <a:r>
              <a:rPr lang="en-GB" dirty="0"/>
              <a:t>, though simple, are the building blocks for more complex neural network architectures. </a:t>
            </a:r>
          </a:p>
          <a:p>
            <a:r>
              <a:rPr lang="en-GB" dirty="0"/>
              <a:t>We will delve into their structure, function, and limitations, laying the groundwork for understanding more advanced neural networks.</a:t>
            </a:r>
          </a:p>
        </p:txBody>
      </p:sp>
      <p:sp>
        <p:nvSpPr>
          <p:cNvPr id="4" name="Slide Number Placeholder 3"/>
          <p:cNvSpPr>
            <a:spLocks noGrp="1"/>
          </p:cNvSpPr>
          <p:nvPr>
            <p:ph type="sldNum" sz="quarter" idx="5"/>
          </p:nvPr>
        </p:nvSpPr>
        <p:spPr/>
        <p:txBody>
          <a:bodyPr/>
          <a:lstStyle/>
          <a:p>
            <a:fld id="{1B7D11E4-79F3-4F64-8ED9-BB991668FB1E}" type="slidenum">
              <a:rPr lang="en-GB" smtClean="0"/>
              <a:t>1</a:t>
            </a:fld>
            <a:endParaRPr lang="en-GB"/>
          </a:p>
        </p:txBody>
      </p:sp>
    </p:spTree>
    <p:extLst>
      <p:ext uri="{BB962C8B-B14F-4D97-AF65-F5344CB8AC3E}">
        <p14:creationId xmlns:p14="http://schemas.microsoft.com/office/powerpoint/2010/main" val="25784615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Artificial neural networks are a powerful tool in machine learning, mimicking the human brain's ability to learn and adapt. These networks are made up of interconnected artificial neurons, which process information and learn from data. By training these networks on vast amounts of data, they can identify patterns and make predictions for various tasks.</a:t>
            </a:r>
          </a:p>
        </p:txBody>
      </p:sp>
      <p:sp>
        <p:nvSpPr>
          <p:cNvPr id="4" name="Slide Number Placeholder 3"/>
          <p:cNvSpPr>
            <a:spLocks noGrp="1"/>
          </p:cNvSpPr>
          <p:nvPr>
            <p:ph type="sldNum" sz="quarter" idx="5"/>
          </p:nvPr>
        </p:nvSpPr>
        <p:spPr/>
        <p:txBody>
          <a:bodyPr/>
          <a:lstStyle/>
          <a:p>
            <a:fld id="{1B7D11E4-79F3-4F64-8ED9-BB991668FB1E}" type="slidenum">
              <a:rPr lang="en-GB" smtClean="0"/>
              <a:t>2</a:t>
            </a:fld>
            <a:endParaRPr lang="en-GB"/>
          </a:p>
        </p:txBody>
      </p:sp>
    </p:spTree>
    <p:extLst>
      <p:ext uri="{BB962C8B-B14F-4D97-AF65-F5344CB8AC3E}">
        <p14:creationId xmlns:p14="http://schemas.microsoft.com/office/powerpoint/2010/main" val="4316025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perceptron is the fundamental unit of neural networks. It receives data through its input nodes, each having an associated weight that determines the importance of that input. These weighted inputs are summed, and an activation function is applied to determine the final output of the perceptron.</a:t>
            </a:r>
          </a:p>
        </p:txBody>
      </p:sp>
      <p:sp>
        <p:nvSpPr>
          <p:cNvPr id="4" name="Slide Number Placeholder 3"/>
          <p:cNvSpPr>
            <a:spLocks noGrp="1"/>
          </p:cNvSpPr>
          <p:nvPr>
            <p:ph type="sldNum" sz="quarter" idx="5"/>
          </p:nvPr>
        </p:nvSpPr>
        <p:spPr/>
        <p:txBody>
          <a:bodyPr/>
          <a:lstStyle/>
          <a:p>
            <a:fld id="{1B7D11E4-79F3-4F64-8ED9-BB991668FB1E}" type="slidenum">
              <a:rPr lang="en-GB" smtClean="0"/>
              <a:t>3</a:t>
            </a:fld>
            <a:endParaRPr lang="en-GB"/>
          </a:p>
        </p:txBody>
      </p:sp>
    </p:spTree>
    <p:extLst>
      <p:ext uri="{BB962C8B-B14F-4D97-AF65-F5344CB8AC3E}">
        <p14:creationId xmlns:p14="http://schemas.microsoft.com/office/powerpoint/2010/main" val="18588586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Perceptrons</a:t>
            </a:r>
            <a:r>
              <a:rPr lang="en-GB" dirty="0"/>
              <a:t> learn through a process called the perceptron learning rule. This supervised learning algorithm compares the actual output of the perceptron with the desired output and adjusts the weights of the connections to minimize the error. This iterative process continues until the perceptron can accurately classify the data it is trained on.</a:t>
            </a:r>
          </a:p>
        </p:txBody>
      </p:sp>
      <p:sp>
        <p:nvSpPr>
          <p:cNvPr id="4" name="Slide Number Placeholder 3"/>
          <p:cNvSpPr>
            <a:spLocks noGrp="1"/>
          </p:cNvSpPr>
          <p:nvPr>
            <p:ph type="sldNum" sz="quarter" idx="5"/>
          </p:nvPr>
        </p:nvSpPr>
        <p:spPr/>
        <p:txBody>
          <a:bodyPr/>
          <a:lstStyle/>
          <a:p>
            <a:fld id="{1B7D11E4-79F3-4F64-8ED9-BB991668FB1E}" type="slidenum">
              <a:rPr lang="en-GB" smtClean="0"/>
              <a:t>4</a:t>
            </a:fld>
            <a:endParaRPr lang="en-GB"/>
          </a:p>
        </p:txBody>
      </p:sp>
    </p:spTree>
    <p:extLst>
      <p:ext uri="{BB962C8B-B14F-4D97-AF65-F5344CB8AC3E}">
        <p14:creationId xmlns:p14="http://schemas.microsoft.com/office/powerpoint/2010/main" val="40116738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Perceptrons</a:t>
            </a:r>
            <a:r>
              <a:rPr lang="en-GB" dirty="0"/>
              <a:t> learn through a process called the perceptron learning rule. This supervised learning algorithm compares the actual output of the perceptron with the desired output and adjusts the weights of the connections to minimize the error. Imagine training a perceptron to classify emails as spam or not spam. The perceptron would receive features of an email (e.g., presence of certain words) and learn to adjust its weights to accurately classify emails based on training data.</a:t>
            </a:r>
          </a:p>
        </p:txBody>
      </p:sp>
      <p:sp>
        <p:nvSpPr>
          <p:cNvPr id="4" name="Slide Number Placeholder 3"/>
          <p:cNvSpPr>
            <a:spLocks noGrp="1"/>
          </p:cNvSpPr>
          <p:nvPr>
            <p:ph type="sldNum" sz="quarter" idx="5"/>
          </p:nvPr>
        </p:nvSpPr>
        <p:spPr/>
        <p:txBody>
          <a:bodyPr/>
          <a:lstStyle/>
          <a:p>
            <a:fld id="{1B7D11E4-79F3-4F64-8ED9-BB991668FB1E}" type="slidenum">
              <a:rPr lang="en-GB" smtClean="0"/>
              <a:t>5</a:t>
            </a:fld>
            <a:endParaRPr lang="en-GB"/>
          </a:p>
        </p:txBody>
      </p:sp>
    </p:spTree>
    <p:extLst>
      <p:ext uri="{BB962C8B-B14F-4D97-AF65-F5344CB8AC3E}">
        <p14:creationId xmlns:p14="http://schemas.microsoft.com/office/powerpoint/2010/main" val="28187381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Perceptrons</a:t>
            </a:r>
            <a:r>
              <a:rPr lang="en-GB" dirty="0"/>
              <a:t> excel at solving problems with linearly separable data, where a straight line can perfectly divide the data into two categories. Applications include spam filtering, where emails are classified as spam or not spam, and basic image recognition tasks like identifying shapes. However, </a:t>
            </a:r>
            <a:r>
              <a:rPr lang="en-GB" dirty="0" err="1"/>
              <a:t>perceptrons</a:t>
            </a:r>
            <a:r>
              <a:rPr lang="en-GB" dirty="0"/>
              <a:t> struggle with non-linear data, limiting their applications in complex scenarios.</a:t>
            </a:r>
          </a:p>
        </p:txBody>
      </p:sp>
      <p:sp>
        <p:nvSpPr>
          <p:cNvPr id="4" name="Slide Number Placeholder 3"/>
          <p:cNvSpPr>
            <a:spLocks noGrp="1"/>
          </p:cNvSpPr>
          <p:nvPr>
            <p:ph type="sldNum" sz="quarter" idx="5"/>
          </p:nvPr>
        </p:nvSpPr>
        <p:spPr/>
        <p:txBody>
          <a:bodyPr/>
          <a:lstStyle/>
          <a:p>
            <a:fld id="{1B7D11E4-79F3-4F64-8ED9-BB991668FB1E}" type="slidenum">
              <a:rPr lang="en-GB" smtClean="0"/>
              <a:t>6</a:t>
            </a:fld>
            <a:endParaRPr lang="en-GB"/>
          </a:p>
        </p:txBody>
      </p:sp>
    </p:spTree>
    <p:extLst>
      <p:ext uri="{BB962C8B-B14F-4D97-AF65-F5344CB8AC3E}">
        <p14:creationId xmlns:p14="http://schemas.microsoft.com/office/powerpoint/2010/main" val="26809425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significant limitation of </a:t>
            </a:r>
            <a:r>
              <a:rPr lang="en-GB" dirty="0" err="1"/>
              <a:t>perceptrons</a:t>
            </a:r>
            <a:r>
              <a:rPr lang="en-GB" dirty="0"/>
              <a:t> is their inability to solve problems with non-linearly separable data. Imagine classifying data points scattered in a circle and a crescent shape. No straight line can perfectly separate these two classes. This limitation restricts </a:t>
            </a:r>
            <a:r>
              <a:rPr lang="en-GB" dirty="0" err="1"/>
              <a:t>perceptrons</a:t>
            </a:r>
            <a:r>
              <a:rPr lang="en-GB" dirty="0"/>
              <a:t> to simpler tasks and necessitates the development of more advanced neural network architectures like multi-layer </a:t>
            </a:r>
            <a:r>
              <a:rPr lang="en-GB" dirty="0" err="1"/>
              <a:t>perceptrons</a:t>
            </a:r>
            <a:r>
              <a:rPr lang="en-GB" dirty="0"/>
              <a:t> (MLPs) to handle complex real-world</a:t>
            </a:r>
          </a:p>
        </p:txBody>
      </p:sp>
      <p:sp>
        <p:nvSpPr>
          <p:cNvPr id="4" name="Slide Number Placeholder 3"/>
          <p:cNvSpPr>
            <a:spLocks noGrp="1"/>
          </p:cNvSpPr>
          <p:nvPr>
            <p:ph type="sldNum" sz="quarter" idx="5"/>
          </p:nvPr>
        </p:nvSpPr>
        <p:spPr/>
        <p:txBody>
          <a:bodyPr/>
          <a:lstStyle/>
          <a:p>
            <a:fld id="{1B7D11E4-79F3-4F64-8ED9-BB991668FB1E}" type="slidenum">
              <a:rPr lang="en-GB" smtClean="0"/>
              <a:t>7</a:t>
            </a:fld>
            <a:endParaRPr lang="en-GB"/>
          </a:p>
        </p:txBody>
      </p:sp>
    </p:spTree>
    <p:extLst>
      <p:ext uri="{BB962C8B-B14F-4D97-AF65-F5344CB8AC3E}">
        <p14:creationId xmlns:p14="http://schemas.microsoft.com/office/powerpoint/2010/main" val="22433209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perceptron is the fundamental unit of neural networks. It receives data through its input nodes, each having an associated weight that determines the importance of that input. These weighted inputs are summed along with a bias unit, and an activation function is applied to determine the final output of the perceptron.</a:t>
            </a:r>
          </a:p>
        </p:txBody>
      </p:sp>
      <p:sp>
        <p:nvSpPr>
          <p:cNvPr id="4" name="Slide Number Placeholder 3"/>
          <p:cNvSpPr>
            <a:spLocks noGrp="1"/>
          </p:cNvSpPr>
          <p:nvPr>
            <p:ph type="sldNum" sz="quarter" idx="5"/>
          </p:nvPr>
        </p:nvSpPr>
        <p:spPr/>
        <p:txBody>
          <a:bodyPr/>
          <a:lstStyle/>
          <a:p>
            <a:fld id="{1B7D11E4-79F3-4F64-8ED9-BB991668FB1E}" type="slidenum">
              <a:rPr lang="en-GB" smtClean="0"/>
              <a:t>8</a:t>
            </a:fld>
            <a:endParaRPr lang="en-GB"/>
          </a:p>
        </p:txBody>
      </p:sp>
    </p:spTree>
    <p:extLst>
      <p:ext uri="{BB962C8B-B14F-4D97-AF65-F5344CB8AC3E}">
        <p14:creationId xmlns:p14="http://schemas.microsoft.com/office/powerpoint/2010/main" val="12139835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B7D11E4-79F3-4F64-8ED9-BB991668FB1E}" type="slidenum">
              <a:rPr lang="en-GB" smtClean="0"/>
              <a:t>11</a:t>
            </a:fld>
            <a:endParaRPr lang="en-GB"/>
          </a:p>
        </p:txBody>
      </p:sp>
    </p:spTree>
    <p:extLst>
      <p:ext uri="{BB962C8B-B14F-4D97-AF65-F5344CB8AC3E}">
        <p14:creationId xmlns:p14="http://schemas.microsoft.com/office/powerpoint/2010/main" val="39656001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1A928-FB8D-9E6A-D01A-BC5CDC8D16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D40FC26-2A11-C61C-89AB-0568E1B26F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CB138F0-8477-EA58-3E91-47FB6DC746C7}"/>
              </a:ext>
            </a:extLst>
          </p:cNvPr>
          <p:cNvSpPr>
            <a:spLocks noGrp="1"/>
          </p:cNvSpPr>
          <p:nvPr>
            <p:ph type="dt" sz="half" idx="10"/>
          </p:nvPr>
        </p:nvSpPr>
        <p:spPr/>
        <p:txBody>
          <a:bodyPr/>
          <a:lstStyle/>
          <a:p>
            <a:fld id="{0014718B-8A91-4A23-8D57-D99E337A92AF}" type="datetimeFigureOut">
              <a:rPr lang="en-GB" smtClean="0"/>
              <a:t>25/05/2024</a:t>
            </a:fld>
            <a:endParaRPr lang="en-GB"/>
          </a:p>
        </p:txBody>
      </p:sp>
      <p:sp>
        <p:nvSpPr>
          <p:cNvPr id="5" name="Footer Placeholder 4">
            <a:extLst>
              <a:ext uri="{FF2B5EF4-FFF2-40B4-BE49-F238E27FC236}">
                <a16:creationId xmlns:a16="http://schemas.microsoft.com/office/drawing/2014/main" id="{B25E1385-067F-3828-897A-C37FF6F81F8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E00E1AD-6FE4-584F-8159-60FD430B761F}"/>
              </a:ext>
            </a:extLst>
          </p:cNvPr>
          <p:cNvSpPr>
            <a:spLocks noGrp="1"/>
          </p:cNvSpPr>
          <p:nvPr>
            <p:ph type="sldNum" sz="quarter" idx="12"/>
          </p:nvPr>
        </p:nvSpPr>
        <p:spPr/>
        <p:txBody>
          <a:bodyPr/>
          <a:lstStyle/>
          <a:p>
            <a:fld id="{77F67350-E88F-49EA-B02A-00ABE9EA524F}" type="slidenum">
              <a:rPr lang="en-GB" smtClean="0"/>
              <a:t>‹#›</a:t>
            </a:fld>
            <a:endParaRPr lang="en-GB"/>
          </a:p>
        </p:txBody>
      </p:sp>
    </p:spTree>
    <p:extLst>
      <p:ext uri="{BB962C8B-B14F-4D97-AF65-F5344CB8AC3E}">
        <p14:creationId xmlns:p14="http://schemas.microsoft.com/office/powerpoint/2010/main" val="908625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220F1-B705-D6BA-96F8-C091165C478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87B7B5C-05DB-F305-3043-01C49B9707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FC1C503-4739-BF4F-6313-63AD050D893D}"/>
              </a:ext>
            </a:extLst>
          </p:cNvPr>
          <p:cNvSpPr>
            <a:spLocks noGrp="1"/>
          </p:cNvSpPr>
          <p:nvPr>
            <p:ph type="dt" sz="half" idx="10"/>
          </p:nvPr>
        </p:nvSpPr>
        <p:spPr/>
        <p:txBody>
          <a:bodyPr/>
          <a:lstStyle/>
          <a:p>
            <a:fld id="{0014718B-8A91-4A23-8D57-D99E337A92AF}" type="datetimeFigureOut">
              <a:rPr lang="en-GB" smtClean="0"/>
              <a:t>25/05/2024</a:t>
            </a:fld>
            <a:endParaRPr lang="en-GB"/>
          </a:p>
        </p:txBody>
      </p:sp>
      <p:sp>
        <p:nvSpPr>
          <p:cNvPr id="5" name="Footer Placeholder 4">
            <a:extLst>
              <a:ext uri="{FF2B5EF4-FFF2-40B4-BE49-F238E27FC236}">
                <a16:creationId xmlns:a16="http://schemas.microsoft.com/office/drawing/2014/main" id="{4D7B5767-8E5E-F70A-8C8A-873872BCF03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FAE3AAA-C6BE-EC3C-AB17-0CBF68A3EAAB}"/>
              </a:ext>
            </a:extLst>
          </p:cNvPr>
          <p:cNvSpPr>
            <a:spLocks noGrp="1"/>
          </p:cNvSpPr>
          <p:nvPr>
            <p:ph type="sldNum" sz="quarter" idx="12"/>
          </p:nvPr>
        </p:nvSpPr>
        <p:spPr/>
        <p:txBody>
          <a:bodyPr/>
          <a:lstStyle/>
          <a:p>
            <a:fld id="{77F67350-E88F-49EA-B02A-00ABE9EA524F}" type="slidenum">
              <a:rPr lang="en-GB" smtClean="0"/>
              <a:t>‹#›</a:t>
            </a:fld>
            <a:endParaRPr lang="en-GB"/>
          </a:p>
        </p:txBody>
      </p:sp>
    </p:spTree>
    <p:extLst>
      <p:ext uri="{BB962C8B-B14F-4D97-AF65-F5344CB8AC3E}">
        <p14:creationId xmlns:p14="http://schemas.microsoft.com/office/powerpoint/2010/main" val="769847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A49F9-49BA-C746-7D3E-EDF98A0C9F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09C7110-2BB6-F686-0714-F3816BAC1EF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531E96-5C86-4D80-9802-21C2AFECDD96}"/>
              </a:ext>
            </a:extLst>
          </p:cNvPr>
          <p:cNvSpPr>
            <a:spLocks noGrp="1"/>
          </p:cNvSpPr>
          <p:nvPr>
            <p:ph type="dt" sz="half" idx="10"/>
          </p:nvPr>
        </p:nvSpPr>
        <p:spPr/>
        <p:txBody>
          <a:bodyPr/>
          <a:lstStyle/>
          <a:p>
            <a:fld id="{0014718B-8A91-4A23-8D57-D99E337A92AF}" type="datetimeFigureOut">
              <a:rPr lang="en-GB" smtClean="0"/>
              <a:t>25/05/2024</a:t>
            </a:fld>
            <a:endParaRPr lang="en-GB"/>
          </a:p>
        </p:txBody>
      </p:sp>
      <p:sp>
        <p:nvSpPr>
          <p:cNvPr id="5" name="Footer Placeholder 4">
            <a:extLst>
              <a:ext uri="{FF2B5EF4-FFF2-40B4-BE49-F238E27FC236}">
                <a16:creationId xmlns:a16="http://schemas.microsoft.com/office/drawing/2014/main" id="{F1F3B012-84AA-2AD2-3123-E8CBD93016A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E84EB65-E1F7-BE83-BF25-ABAECA68CAB9}"/>
              </a:ext>
            </a:extLst>
          </p:cNvPr>
          <p:cNvSpPr>
            <a:spLocks noGrp="1"/>
          </p:cNvSpPr>
          <p:nvPr>
            <p:ph type="sldNum" sz="quarter" idx="12"/>
          </p:nvPr>
        </p:nvSpPr>
        <p:spPr/>
        <p:txBody>
          <a:bodyPr/>
          <a:lstStyle/>
          <a:p>
            <a:fld id="{77F67350-E88F-49EA-B02A-00ABE9EA524F}" type="slidenum">
              <a:rPr lang="en-GB" smtClean="0"/>
              <a:t>‹#›</a:t>
            </a:fld>
            <a:endParaRPr lang="en-GB"/>
          </a:p>
        </p:txBody>
      </p:sp>
    </p:spTree>
    <p:extLst>
      <p:ext uri="{BB962C8B-B14F-4D97-AF65-F5344CB8AC3E}">
        <p14:creationId xmlns:p14="http://schemas.microsoft.com/office/powerpoint/2010/main" val="3628933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E5C8B-AEAE-7903-CCBD-FF2FFBC95D8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E5679AB-3371-D256-25EA-16990CF967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229D0E5-E289-4352-E89D-5E73BCD0D6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B0267BF-D955-9246-C506-2900ACF83945}"/>
              </a:ext>
            </a:extLst>
          </p:cNvPr>
          <p:cNvSpPr>
            <a:spLocks noGrp="1"/>
          </p:cNvSpPr>
          <p:nvPr>
            <p:ph type="dt" sz="half" idx="10"/>
          </p:nvPr>
        </p:nvSpPr>
        <p:spPr/>
        <p:txBody>
          <a:bodyPr/>
          <a:lstStyle/>
          <a:p>
            <a:fld id="{0014718B-8A91-4A23-8D57-D99E337A92AF}" type="datetimeFigureOut">
              <a:rPr lang="en-GB" smtClean="0"/>
              <a:t>25/05/2024</a:t>
            </a:fld>
            <a:endParaRPr lang="en-GB"/>
          </a:p>
        </p:txBody>
      </p:sp>
      <p:sp>
        <p:nvSpPr>
          <p:cNvPr id="6" name="Footer Placeholder 5">
            <a:extLst>
              <a:ext uri="{FF2B5EF4-FFF2-40B4-BE49-F238E27FC236}">
                <a16:creationId xmlns:a16="http://schemas.microsoft.com/office/drawing/2014/main" id="{C5519AFE-13F1-72C7-4CD0-0907A10BE1D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E80430-9B02-E02A-9B07-C246FD005955}"/>
              </a:ext>
            </a:extLst>
          </p:cNvPr>
          <p:cNvSpPr>
            <a:spLocks noGrp="1"/>
          </p:cNvSpPr>
          <p:nvPr>
            <p:ph type="sldNum" sz="quarter" idx="12"/>
          </p:nvPr>
        </p:nvSpPr>
        <p:spPr/>
        <p:txBody>
          <a:bodyPr/>
          <a:lstStyle/>
          <a:p>
            <a:fld id="{77F67350-E88F-49EA-B02A-00ABE9EA524F}" type="slidenum">
              <a:rPr lang="en-GB" smtClean="0"/>
              <a:t>‹#›</a:t>
            </a:fld>
            <a:endParaRPr lang="en-GB"/>
          </a:p>
        </p:txBody>
      </p:sp>
    </p:spTree>
    <p:extLst>
      <p:ext uri="{BB962C8B-B14F-4D97-AF65-F5344CB8AC3E}">
        <p14:creationId xmlns:p14="http://schemas.microsoft.com/office/powerpoint/2010/main" val="2670637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AB7A2-3889-D450-34C1-337A4008AB0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3E1AAF1-CD70-0BA4-E847-EF2E39359B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6D60F7-19EE-C7A9-4955-8DEC3D5C9A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F48915F-8861-D31E-EDBF-BAD76CE631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C32951-5315-1CAD-94F1-205D8C9985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EA4DBE9-A3CD-C6D0-83C3-AE64F768576C}"/>
              </a:ext>
            </a:extLst>
          </p:cNvPr>
          <p:cNvSpPr>
            <a:spLocks noGrp="1"/>
          </p:cNvSpPr>
          <p:nvPr>
            <p:ph type="dt" sz="half" idx="10"/>
          </p:nvPr>
        </p:nvSpPr>
        <p:spPr/>
        <p:txBody>
          <a:bodyPr/>
          <a:lstStyle/>
          <a:p>
            <a:fld id="{0014718B-8A91-4A23-8D57-D99E337A92AF}" type="datetimeFigureOut">
              <a:rPr lang="en-GB" smtClean="0"/>
              <a:t>25/05/2024</a:t>
            </a:fld>
            <a:endParaRPr lang="en-GB"/>
          </a:p>
        </p:txBody>
      </p:sp>
      <p:sp>
        <p:nvSpPr>
          <p:cNvPr id="8" name="Footer Placeholder 7">
            <a:extLst>
              <a:ext uri="{FF2B5EF4-FFF2-40B4-BE49-F238E27FC236}">
                <a16:creationId xmlns:a16="http://schemas.microsoft.com/office/drawing/2014/main" id="{B1CC69BB-09BA-B1FD-FB4D-FF6810A641AE}"/>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51BC837E-CC99-2F9B-2C8A-6A5F21955C7C}"/>
              </a:ext>
            </a:extLst>
          </p:cNvPr>
          <p:cNvSpPr>
            <a:spLocks noGrp="1"/>
          </p:cNvSpPr>
          <p:nvPr>
            <p:ph type="sldNum" sz="quarter" idx="12"/>
          </p:nvPr>
        </p:nvSpPr>
        <p:spPr/>
        <p:txBody>
          <a:bodyPr/>
          <a:lstStyle/>
          <a:p>
            <a:fld id="{77F67350-E88F-49EA-B02A-00ABE9EA524F}" type="slidenum">
              <a:rPr lang="en-GB" smtClean="0"/>
              <a:t>‹#›</a:t>
            </a:fld>
            <a:endParaRPr lang="en-GB"/>
          </a:p>
        </p:txBody>
      </p:sp>
    </p:spTree>
    <p:extLst>
      <p:ext uri="{BB962C8B-B14F-4D97-AF65-F5344CB8AC3E}">
        <p14:creationId xmlns:p14="http://schemas.microsoft.com/office/powerpoint/2010/main" val="3181082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66DBA-A836-04D3-79DB-DA2A216CF22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07A24FD-271C-CA4C-012F-A6A80781996C}"/>
              </a:ext>
            </a:extLst>
          </p:cNvPr>
          <p:cNvSpPr>
            <a:spLocks noGrp="1"/>
          </p:cNvSpPr>
          <p:nvPr>
            <p:ph type="dt" sz="half" idx="10"/>
          </p:nvPr>
        </p:nvSpPr>
        <p:spPr/>
        <p:txBody>
          <a:bodyPr/>
          <a:lstStyle/>
          <a:p>
            <a:fld id="{0014718B-8A91-4A23-8D57-D99E337A92AF}" type="datetimeFigureOut">
              <a:rPr lang="en-GB" smtClean="0"/>
              <a:t>25/05/2024</a:t>
            </a:fld>
            <a:endParaRPr lang="en-GB"/>
          </a:p>
        </p:txBody>
      </p:sp>
      <p:sp>
        <p:nvSpPr>
          <p:cNvPr id="4" name="Footer Placeholder 3">
            <a:extLst>
              <a:ext uri="{FF2B5EF4-FFF2-40B4-BE49-F238E27FC236}">
                <a16:creationId xmlns:a16="http://schemas.microsoft.com/office/drawing/2014/main" id="{A264AEE1-2E6B-D47A-7469-841788211E6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898B2B7-B0C7-FBEF-ABF8-6A4B54BEC861}"/>
              </a:ext>
            </a:extLst>
          </p:cNvPr>
          <p:cNvSpPr>
            <a:spLocks noGrp="1"/>
          </p:cNvSpPr>
          <p:nvPr>
            <p:ph type="sldNum" sz="quarter" idx="12"/>
          </p:nvPr>
        </p:nvSpPr>
        <p:spPr/>
        <p:txBody>
          <a:bodyPr/>
          <a:lstStyle/>
          <a:p>
            <a:fld id="{77F67350-E88F-49EA-B02A-00ABE9EA524F}" type="slidenum">
              <a:rPr lang="en-GB" smtClean="0"/>
              <a:t>‹#›</a:t>
            </a:fld>
            <a:endParaRPr lang="en-GB"/>
          </a:p>
        </p:txBody>
      </p:sp>
    </p:spTree>
    <p:extLst>
      <p:ext uri="{BB962C8B-B14F-4D97-AF65-F5344CB8AC3E}">
        <p14:creationId xmlns:p14="http://schemas.microsoft.com/office/powerpoint/2010/main" val="692469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14B0C4-6040-34FA-582F-F47B33FB0960}"/>
              </a:ext>
            </a:extLst>
          </p:cNvPr>
          <p:cNvSpPr>
            <a:spLocks noGrp="1"/>
          </p:cNvSpPr>
          <p:nvPr>
            <p:ph type="dt" sz="half" idx="10"/>
          </p:nvPr>
        </p:nvSpPr>
        <p:spPr/>
        <p:txBody>
          <a:bodyPr/>
          <a:lstStyle/>
          <a:p>
            <a:fld id="{0014718B-8A91-4A23-8D57-D99E337A92AF}" type="datetimeFigureOut">
              <a:rPr lang="en-GB" smtClean="0"/>
              <a:t>25/05/2024</a:t>
            </a:fld>
            <a:endParaRPr lang="en-GB"/>
          </a:p>
        </p:txBody>
      </p:sp>
      <p:sp>
        <p:nvSpPr>
          <p:cNvPr id="3" name="Footer Placeholder 2">
            <a:extLst>
              <a:ext uri="{FF2B5EF4-FFF2-40B4-BE49-F238E27FC236}">
                <a16:creationId xmlns:a16="http://schemas.microsoft.com/office/drawing/2014/main" id="{E59696EA-A433-3394-12EE-7A7EA7A4413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48AA0E9-1CE5-521C-C7AA-0662EFB7D0B2}"/>
              </a:ext>
            </a:extLst>
          </p:cNvPr>
          <p:cNvSpPr>
            <a:spLocks noGrp="1"/>
          </p:cNvSpPr>
          <p:nvPr>
            <p:ph type="sldNum" sz="quarter" idx="12"/>
          </p:nvPr>
        </p:nvSpPr>
        <p:spPr/>
        <p:txBody>
          <a:bodyPr/>
          <a:lstStyle/>
          <a:p>
            <a:fld id="{77F67350-E88F-49EA-B02A-00ABE9EA524F}" type="slidenum">
              <a:rPr lang="en-GB" smtClean="0"/>
              <a:t>‹#›</a:t>
            </a:fld>
            <a:endParaRPr lang="en-GB"/>
          </a:p>
        </p:txBody>
      </p:sp>
    </p:spTree>
    <p:extLst>
      <p:ext uri="{BB962C8B-B14F-4D97-AF65-F5344CB8AC3E}">
        <p14:creationId xmlns:p14="http://schemas.microsoft.com/office/powerpoint/2010/main" val="3730050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8ABBC-0D32-8D49-3EF3-8DE390BFFA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5B9133A-AA4B-6F35-42DB-1EAEBFC8D5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0C92A03-2DEC-1EB2-F45F-64B781B4FF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7208EC-114C-5255-6CA0-BB5B14824FFA}"/>
              </a:ext>
            </a:extLst>
          </p:cNvPr>
          <p:cNvSpPr>
            <a:spLocks noGrp="1"/>
          </p:cNvSpPr>
          <p:nvPr>
            <p:ph type="dt" sz="half" idx="10"/>
          </p:nvPr>
        </p:nvSpPr>
        <p:spPr/>
        <p:txBody>
          <a:bodyPr/>
          <a:lstStyle/>
          <a:p>
            <a:fld id="{0014718B-8A91-4A23-8D57-D99E337A92AF}" type="datetimeFigureOut">
              <a:rPr lang="en-GB" smtClean="0"/>
              <a:t>25/05/2024</a:t>
            </a:fld>
            <a:endParaRPr lang="en-GB"/>
          </a:p>
        </p:txBody>
      </p:sp>
      <p:sp>
        <p:nvSpPr>
          <p:cNvPr id="6" name="Footer Placeholder 5">
            <a:extLst>
              <a:ext uri="{FF2B5EF4-FFF2-40B4-BE49-F238E27FC236}">
                <a16:creationId xmlns:a16="http://schemas.microsoft.com/office/drawing/2014/main" id="{B84AAECD-1C82-30D7-9C93-5EFC4218837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39C85D7-C008-8379-75F4-1853D7C9DC30}"/>
              </a:ext>
            </a:extLst>
          </p:cNvPr>
          <p:cNvSpPr>
            <a:spLocks noGrp="1"/>
          </p:cNvSpPr>
          <p:nvPr>
            <p:ph type="sldNum" sz="quarter" idx="12"/>
          </p:nvPr>
        </p:nvSpPr>
        <p:spPr/>
        <p:txBody>
          <a:bodyPr/>
          <a:lstStyle/>
          <a:p>
            <a:fld id="{77F67350-E88F-49EA-B02A-00ABE9EA524F}" type="slidenum">
              <a:rPr lang="en-GB" smtClean="0"/>
              <a:t>‹#›</a:t>
            </a:fld>
            <a:endParaRPr lang="en-GB"/>
          </a:p>
        </p:txBody>
      </p:sp>
    </p:spTree>
    <p:extLst>
      <p:ext uri="{BB962C8B-B14F-4D97-AF65-F5344CB8AC3E}">
        <p14:creationId xmlns:p14="http://schemas.microsoft.com/office/powerpoint/2010/main" val="1680996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35945-1A8F-C4A0-BD66-06B3931B5A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90174AB-EB52-514E-A6A3-A5E6CE0ACA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AE18471-DA20-EE05-1568-D215131376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39F2CD-C6AC-FFF8-4C85-4ECB9E73B9A5}"/>
              </a:ext>
            </a:extLst>
          </p:cNvPr>
          <p:cNvSpPr>
            <a:spLocks noGrp="1"/>
          </p:cNvSpPr>
          <p:nvPr>
            <p:ph type="dt" sz="half" idx="10"/>
          </p:nvPr>
        </p:nvSpPr>
        <p:spPr/>
        <p:txBody>
          <a:bodyPr/>
          <a:lstStyle/>
          <a:p>
            <a:fld id="{0014718B-8A91-4A23-8D57-D99E337A92AF}" type="datetimeFigureOut">
              <a:rPr lang="en-GB" smtClean="0"/>
              <a:t>25/05/2024</a:t>
            </a:fld>
            <a:endParaRPr lang="en-GB"/>
          </a:p>
        </p:txBody>
      </p:sp>
      <p:sp>
        <p:nvSpPr>
          <p:cNvPr id="6" name="Footer Placeholder 5">
            <a:extLst>
              <a:ext uri="{FF2B5EF4-FFF2-40B4-BE49-F238E27FC236}">
                <a16:creationId xmlns:a16="http://schemas.microsoft.com/office/drawing/2014/main" id="{DBA73E6A-92CC-C54D-B211-9AED46F7CCC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8579AE2-F226-2E60-8347-B0CDB423BAE5}"/>
              </a:ext>
            </a:extLst>
          </p:cNvPr>
          <p:cNvSpPr>
            <a:spLocks noGrp="1"/>
          </p:cNvSpPr>
          <p:nvPr>
            <p:ph type="sldNum" sz="quarter" idx="12"/>
          </p:nvPr>
        </p:nvSpPr>
        <p:spPr/>
        <p:txBody>
          <a:bodyPr/>
          <a:lstStyle/>
          <a:p>
            <a:fld id="{77F67350-E88F-49EA-B02A-00ABE9EA524F}" type="slidenum">
              <a:rPr lang="en-GB" smtClean="0"/>
              <a:t>‹#›</a:t>
            </a:fld>
            <a:endParaRPr lang="en-GB"/>
          </a:p>
        </p:txBody>
      </p:sp>
    </p:spTree>
    <p:extLst>
      <p:ext uri="{BB962C8B-B14F-4D97-AF65-F5344CB8AC3E}">
        <p14:creationId xmlns:p14="http://schemas.microsoft.com/office/powerpoint/2010/main" val="3180210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1E804-83A3-2DC4-8659-38811241EC74}"/>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B90A72B-30B6-C2A9-98C0-ADA9D660CB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32EBDA5-848E-23ED-AA96-990C95578DB5}"/>
              </a:ext>
            </a:extLst>
          </p:cNvPr>
          <p:cNvSpPr>
            <a:spLocks noGrp="1"/>
          </p:cNvSpPr>
          <p:nvPr>
            <p:ph type="dt" sz="half" idx="10"/>
          </p:nvPr>
        </p:nvSpPr>
        <p:spPr/>
        <p:txBody>
          <a:bodyPr/>
          <a:lstStyle/>
          <a:p>
            <a:fld id="{0014718B-8A91-4A23-8D57-D99E337A92AF}" type="datetimeFigureOut">
              <a:rPr lang="en-GB" smtClean="0"/>
              <a:t>25/05/2024</a:t>
            </a:fld>
            <a:endParaRPr lang="en-GB"/>
          </a:p>
        </p:txBody>
      </p:sp>
      <p:sp>
        <p:nvSpPr>
          <p:cNvPr id="5" name="Footer Placeholder 4">
            <a:extLst>
              <a:ext uri="{FF2B5EF4-FFF2-40B4-BE49-F238E27FC236}">
                <a16:creationId xmlns:a16="http://schemas.microsoft.com/office/drawing/2014/main" id="{2335A338-8C75-133B-D248-B88BD654C45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DAFD082-40A6-E7B3-4E18-A9C76E211504}"/>
              </a:ext>
            </a:extLst>
          </p:cNvPr>
          <p:cNvSpPr>
            <a:spLocks noGrp="1"/>
          </p:cNvSpPr>
          <p:nvPr>
            <p:ph type="sldNum" sz="quarter" idx="12"/>
          </p:nvPr>
        </p:nvSpPr>
        <p:spPr/>
        <p:txBody>
          <a:bodyPr/>
          <a:lstStyle/>
          <a:p>
            <a:fld id="{77F67350-E88F-49EA-B02A-00ABE9EA524F}" type="slidenum">
              <a:rPr lang="en-GB" smtClean="0"/>
              <a:t>‹#›</a:t>
            </a:fld>
            <a:endParaRPr lang="en-GB"/>
          </a:p>
        </p:txBody>
      </p:sp>
    </p:spTree>
    <p:extLst>
      <p:ext uri="{BB962C8B-B14F-4D97-AF65-F5344CB8AC3E}">
        <p14:creationId xmlns:p14="http://schemas.microsoft.com/office/powerpoint/2010/main" val="4175014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25E229-6BEA-7D9F-E6E0-F3298010A4A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49F24DD-8789-7554-2C23-69488D94C3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0924805-95A9-8614-7571-5A141878D34D}"/>
              </a:ext>
            </a:extLst>
          </p:cNvPr>
          <p:cNvSpPr>
            <a:spLocks noGrp="1"/>
          </p:cNvSpPr>
          <p:nvPr>
            <p:ph type="dt" sz="half" idx="10"/>
          </p:nvPr>
        </p:nvSpPr>
        <p:spPr/>
        <p:txBody>
          <a:bodyPr/>
          <a:lstStyle/>
          <a:p>
            <a:fld id="{0014718B-8A91-4A23-8D57-D99E337A92AF}" type="datetimeFigureOut">
              <a:rPr lang="en-GB" smtClean="0"/>
              <a:t>25/05/2024</a:t>
            </a:fld>
            <a:endParaRPr lang="en-GB"/>
          </a:p>
        </p:txBody>
      </p:sp>
      <p:sp>
        <p:nvSpPr>
          <p:cNvPr id="5" name="Footer Placeholder 4">
            <a:extLst>
              <a:ext uri="{FF2B5EF4-FFF2-40B4-BE49-F238E27FC236}">
                <a16:creationId xmlns:a16="http://schemas.microsoft.com/office/drawing/2014/main" id="{D14936E7-78FC-F800-A143-E14A47BFFC4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DAC6028-F9B4-0905-3C0C-944CC0CE68BE}"/>
              </a:ext>
            </a:extLst>
          </p:cNvPr>
          <p:cNvSpPr>
            <a:spLocks noGrp="1"/>
          </p:cNvSpPr>
          <p:nvPr>
            <p:ph type="sldNum" sz="quarter" idx="12"/>
          </p:nvPr>
        </p:nvSpPr>
        <p:spPr/>
        <p:txBody>
          <a:bodyPr/>
          <a:lstStyle/>
          <a:p>
            <a:fld id="{77F67350-E88F-49EA-B02A-00ABE9EA524F}" type="slidenum">
              <a:rPr lang="en-GB" smtClean="0"/>
              <a:t>‹#›</a:t>
            </a:fld>
            <a:endParaRPr lang="en-GB"/>
          </a:p>
        </p:txBody>
      </p:sp>
    </p:spTree>
    <p:extLst>
      <p:ext uri="{BB962C8B-B14F-4D97-AF65-F5344CB8AC3E}">
        <p14:creationId xmlns:p14="http://schemas.microsoft.com/office/powerpoint/2010/main" val="3371319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A6F365-D010-0903-E4DB-A984F1BE28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65E65E0-870D-A8AA-994E-A3EDC6DADE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3774AF6-D9D2-4550-6A31-201934D4E4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014718B-8A91-4A23-8D57-D99E337A92AF}" type="datetimeFigureOut">
              <a:rPr lang="en-GB" smtClean="0"/>
              <a:t>25/05/2024</a:t>
            </a:fld>
            <a:endParaRPr lang="en-GB"/>
          </a:p>
        </p:txBody>
      </p:sp>
      <p:sp>
        <p:nvSpPr>
          <p:cNvPr id="5" name="Footer Placeholder 4">
            <a:extLst>
              <a:ext uri="{FF2B5EF4-FFF2-40B4-BE49-F238E27FC236}">
                <a16:creationId xmlns:a16="http://schemas.microsoft.com/office/drawing/2014/main" id="{5BB132E5-A3FD-2E47-AFFE-77405B9B6A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F31DE6F2-69BA-EA73-A2BA-26FDA99C8B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7F67350-E88F-49EA-B02A-00ABE9EA524F}" type="slidenum">
              <a:rPr lang="en-GB" smtClean="0"/>
              <a:t>‹#›</a:t>
            </a:fld>
            <a:endParaRPr lang="en-GB"/>
          </a:p>
        </p:txBody>
      </p:sp>
    </p:spTree>
    <p:extLst>
      <p:ext uri="{BB962C8B-B14F-4D97-AF65-F5344CB8AC3E}">
        <p14:creationId xmlns:p14="http://schemas.microsoft.com/office/powerpoint/2010/main" val="825508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lose-up of a neuron">
            <a:extLst>
              <a:ext uri="{FF2B5EF4-FFF2-40B4-BE49-F238E27FC236}">
                <a16:creationId xmlns:a16="http://schemas.microsoft.com/office/drawing/2014/main" id="{DA56BDAD-A878-D756-596B-6132C2972A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598862"/>
            <a:ext cx="12192000" cy="12192000"/>
          </a:xfrm>
          <a:prstGeom prst="rect">
            <a:avLst/>
          </a:prstGeom>
        </p:spPr>
      </p:pic>
      <p:sp>
        <p:nvSpPr>
          <p:cNvPr id="6" name="Rectangle 5">
            <a:extLst>
              <a:ext uri="{FF2B5EF4-FFF2-40B4-BE49-F238E27FC236}">
                <a16:creationId xmlns:a16="http://schemas.microsoft.com/office/drawing/2014/main" id="{090CB866-0566-A366-48CF-05F7EB6E30EF}"/>
              </a:ext>
            </a:extLst>
          </p:cNvPr>
          <p:cNvSpPr/>
          <p:nvPr/>
        </p:nvSpPr>
        <p:spPr>
          <a:xfrm>
            <a:off x="0" y="-876300"/>
            <a:ext cx="12192000" cy="7734300"/>
          </a:xfrm>
          <a:prstGeom prst="rect">
            <a:avLst/>
          </a:prstGeom>
          <a:solidFill>
            <a:schemeClr val="bg1">
              <a:lumMod val="95000"/>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BDDAD9C-C9C2-F66F-F54B-ED80DB8BF68E}"/>
              </a:ext>
            </a:extLst>
          </p:cNvPr>
          <p:cNvSpPr>
            <a:spLocks noGrp="1"/>
          </p:cNvSpPr>
          <p:nvPr>
            <p:ph type="ctrTitle"/>
          </p:nvPr>
        </p:nvSpPr>
        <p:spPr/>
        <p:txBody>
          <a:bodyPr>
            <a:normAutofit/>
          </a:bodyPr>
          <a:lstStyle/>
          <a:p>
            <a:r>
              <a:rPr lang="en-GB" sz="4800" dirty="0" err="1"/>
              <a:t>Perceptrons</a:t>
            </a:r>
            <a:r>
              <a:rPr lang="en-GB" sz="4800" dirty="0"/>
              <a:t>: The Building Block of Neural Networks</a:t>
            </a:r>
          </a:p>
        </p:txBody>
      </p:sp>
      <p:sp>
        <p:nvSpPr>
          <p:cNvPr id="3" name="Subtitle 2">
            <a:extLst>
              <a:ext uri="{FF2B5EF4-FFF2-40B4-BE49-F238E27FC236}">
                <a16:creationId xmlns:a16="http://schemas.microsoft.com/office/drawing/2014/main" id="{C87E3D8E-19E3-D67F-61B1-4A3B236339B5}"/>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1831472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EEFC8-CAF5-549C-CEE7-EBD5934484F8}"/>
              </a:ext>
            </a:extLst>
          </p:cNvPr>
          <p:cNvSpPr>
            <a:spLocks noGrp="1"/>
          </p:cNvSpPr>
          <p:nvPr>
            <p:ph type="title"/>
          </p:nvPr>
        </p:nvSpPr>
        <p:spPr>
          <a:xfrm>
            <a:off x="838200" y="365125"/>
            <a:ext cx="5600700" cy="1325563"/>
          </a:xfrm>
        </p:spPr>
        <p:txBody>
          <a:bodyPr/>
          <a:lstStyle/>
          <a:p>
            <a:r>
              <a:rPr lang="en-GB" dirty="0"/>
              <a:t>Introduction to Artificial Neural Networks</a:t>
            </a:r>
          </a:p>
        </p:txBody>
      </p:sp>
      <p:sp>
        <p:nvSpPr>
          <p:cNvPr id="3" name="Content Placeholder 2">
            <a:extLst>
              <a:ext uri="{FF2B5EF4-FFF2-40B4-BE49-F238E27FC236}">
                <a16:creationId xmlns:a16="http://schemas.microsoft.com/office/drawing/2014/main" id="{568156CA-F54D-2A2C-F2E9-F313E7E1E477}"/>
              </a:ext>
            </a:extLst>
          </p:cNvPr>
          <p:cNvSpPr>
            <a:spLocks noGrp="1"/>
          </p:cNvSpPr>
          <p:nvPr>
            <p:ph idx="1"/>
          </p:nvPr>
        </p:nvSpPr>
        <p:spPr>
          <a:xfrm>
            <a:off x="838200" y="1825625"/>
            <a:ext cx="6121400" cy="4351338"/>
          </a:xfrm>
        </p:spPr>
        <p:txBody>
          <a:bodyPr/>
          <a:lstStyle/>
          <a:p>
            <a:r>
              <a:rPr lang="en-GB" dirty="0"/>
              <a:t>Artificial Neural Networks (ANNs) are inspired by the structure and function of the human brain.</a:t>
            </a:r>
          </a:p>
          <a:p>
            <a:r>
              <a:rPr lang="en-GB" dirty="0"/>
              <a:t>They consist of interconnected processing units called artificial neurons.</a:t>
            </a:r>
          </a:p>
          <a:p>
            <a:r>
              <a:rPr lang="en-GB" dirty="0"/>
              <a:t>ANNs are trained to learn patterns from data and make predictions.</a:t>
            </a:r>
          </a:p>
        </p:txBody>
      </p:sp>
      <p:sp>
        <p:nvSpPr>
          <p:cNvPr id="7" name="Rectangle 6">
            <a:extLst>
              <a:ext uri="{FF2B5EF4-FFF2-40B4-BE49-F238E27FC236}">
                <a16:creationId xmlns:a16="http://schemas.microsoft.com/office/drawing/2014/main" id="{3EB09967-8EE9-3A65-CD90-BFD2D274B4B4}"/>
              </a:ext>
            </a:extLst>
          </p:cNvPr>
          <p:cNvSpPr/>
          <p:nvPr/>
        </p:nvSpPr>
        <p:spPr>
          <a:xfrm>
            <a:off x="7099300" y="0"/>
            <a:ext cx="5689600" cy="6858000"/>
          </a:xfrm>
          <a:prstGeom prst="rect">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999038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6A7F1-9C9E-D851-55EB-B62D00DAB6F1}"/>
              </a:ext>
            </a:extLst>
          </p:cNvPr>
          <p:cNvSpPr>
            <a:spLocks noGrp="1"/>
          </p:cNvSpPr>
          <p:nvPr>
            <p:ph type="title"/>
          </p:nvPr>
        </p:nvSpPr>
        <p:spPr/>
        <p:txBody>
          <a:bodyPr/>
          <a:lstStyle/>
          <a:p>
            <a:r>
              <a:rPr lang="en-GB" dirty="0"/>
              <a:t>The Perceptron: A Simple Artificial Neuron</a:t>
            </a:r>
          </a:p>
        </p:txBody>
      </p:sp>
      <p:sp>
        <p:nvSpPr>
          <p:cNvPr id="3" name="Content Placeholder 2">
            <a:extLst>
              <a:ext uri="{FF2B5EF4-FFF2-40B4-BE49-F238E27FC236}">
                <a16:creationId xmlns:a16="http://schemas.microsoft.com/office/drawing/2014/main" id="{A99E7188-8CAA-8274-78F9-09006DF02202}"/>
              </a:ext>
            </a:extLst>
          </p:cNvPr>
          <p:cNvSpPr>
            <a:spLocks noGrp="1"/>
          </p:cNvSpPr>
          <p:nvPr>
            <p:ph idx="1"/>
          </p:nvPr>
        </p:nvSpPr>
        <p:spPr/>
        <p:txBody>
          <a:bodyPr/>
          <a:lstStyle/>
          <a:p>
            <a:r>
              <a:rPr lang="en-GB" dirty="0"/>
              <a:t>The perceptron is the simplest form of an artificial neuron.</a:t>
            </a:r>
          </a:p>
          <a:p>
            <a:r>
              <a:rPr lang="en-GB" dirty="0"/>
              <a:t>It has one or more input nodes that receive data.</a:t>
            </a:r>
          </a:p>
          <a:p>
            <a:r>
              <a:rPr lang="en-GB" dirty="0"/>
              <a:t>Each input is associated with a weight, determining its influence on the output.</a:t>
            </a:r>
          </a:p>
          <a:p>
            <a:r>
              <a:rPr lang="en-GB" dirty="0"/>
              <a:t>Weighted inputs are summed and passed through an activation function to generate the final output.</a:t>
            </a:r>
          </a:p>
        </p:txBody>
      </p:sp>
    </p:spTree>
    <p:extLst>
      <p:ext uri="{BB962C8B-B14F-4D97-AF65-F5344CB8AC3E}">
        <p14:creationId xmlns:p14="http://schemas.microsoft.com/office/powerpoint/2010/main" val="1999045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8193E-189F-0955-3288-74587C518C56}"/>
              </a:ext>
            </a:extLst>
          </p:cNvPr>
          <p:cNvSpPr>
            <a:spLocks noGrp="1"/>
          </p:cNvSpPr>
          <p:nvPr>
            <p:ph type="title"/>
          </p:nvPr>
        </p:nvSpPr>
        <p:spPr/>
        <p:txBody>
          <a:bodyPr/>
          <a:lstStyle/>
          <a:p>
            <a:r>
              <a:rPr lang="en-GB" dirty="0"/>
              <a:t>Learning in </a:t>
            </a:r>
            <a:r>
              <a:rPr lang="en-GB" dirty="0" err="1"/>
              <a:t>Perceptrons</a:t>
            </a:r>
            <a:endParaRPr lang="en-GB" dirty="0"/>
          </a:p>
        </p:txBody>
      </p:sp>
      <p:sp>
        <p:nvSpPr>
          <p:cNvPr id="3" name="Content Placeholder 2">
            <a:extLst>
              <a:ext uri="{FF2B5EF4-FFF2-40B4-BE49-F238E27FC236}">
                <a16:creationId xmlns:a16="http://schemas.microsoft.com/office/drawing/2014/main" id="{AAC9DFB8-0C31-014C-5748-2BD805ED3A53}"/>
              </a:ext>
            </a:extLst>
          </p:cNvPr>
          <p:cNvSpPr>
            <a:spLocks noGrp="1"/>
          </p:cNvSpPr>
          <p:nvPr>
            <p:ph idx="1"/>
          </p:nvPr>
        </p:nvSpPr>
        <p:spPr/>
        <p:txBody>
          <a:bodyPr/>
          <a:lstStyle/>
          <a:p>
            <a:r>
              <a:rPr lang="en-GB" dirty="0" err="1"/>
              <a:t>Perceptrons</a:t>
            </a:r>
            <a:r>
              <a:rPr lang="en-GB" dirty="0"/>
              <a:t> learn through a supervised learning algorithm called the perceptron learning rule.</a:t>
            </a:r>
          </a:p>
          <a:p>
            <a:r>
              <a:rPr lang="en-GB" dirty="0"/>
              <a:t>This rule adjusts the weights based on the difference between the desired output and the actual output.</a:t>
            </a:r>
          </a:p>
          <a:p>
            <a:r>
              <a:rPr lang="en-GB" dirty="0"/>
              <a:t>The learning process continues iteratively until the perceptron achieves the desired level of accuracy.</a:t>
            </a:r>
          </a:p>
        </p:txBody>
      </p:sp>
    </p:spTree>
    <p:extLst>
      <p:ext uri="{BB962C8B-B14F-4D97-AF65-F5344CB8AC3E}">
        <p14:creationId xmlns:p14="http://schemas.microsoft.com/office/powerpoint/2010/main" val="3594755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BBDCD-E12E-D172-62B2-46285646EA6C}"/>
              </a:ext>
            </a:extLst>
          </p:cNvPr>
          <p:cNvSpPr>
            <a:spLocks noGrp="1"/>
          </p:cNvSpPr>
          <p:nvPr>
            <p:ph type="title"/>
          </p:nvPr>
        </p:nvSpPr>
        <p:spPr/>
        <p:txBody>
          <a:bodyPr/>
          <a:lstStyle/>
          <a:p>
            <a:r>
              <a:rPr lang="en-GB" dirty="0"/>
              <a:t>Learning Process</a:t>
            </a:r>
          </a:p>
        </p:txBody>
      </p:sp>
      <p:sp>
        <p:nvSpPr>
          <p:cNvPr id="3" name="Content Placeholder 2">
            <a:extLst>
              <a:ext uri="{FF2B5EF4-FFF2-40B4-BE49-F238E27FC236}">
                <a16:creationId xmlns:a16="http://schemas.microsoft.com/office/drawing/2014/main" id="{75B01685-223C-1A3A-61F4-3DB0EF4F0DBC}"/>
              </a:ext>
            </a:extLst>
          </p:cNvPr>
          <p:cNvSpPr>
            <a:spLocks noGrp="1"/>
          </p:cNvSpPr>
          <p:nvPr>
            <p:ph idx="1"/>
          </p:nvPr>
        </p:nvSpPr>
        <p:spPr/>
        <p:txBody>
          <a:bodyPr/>
          <a:lstStyle/>
          <a:p>
            <a:pPr>
              <a:buFont typeface="Arial" panose="020B0604020202020204" pitchFamily="34" charset="0"/>
              <a:buChar char="•"/>
            </a:pPr>
            <a:r>
              <a:rPr lang="en-GB" dirty="0"/>
              <a:t>Supervised learning through the perceptron learning rule.</a:t>
            </a:r>
          </a:p>
          <a:p>
            <a:pPr>
              <a:buFont typeface="Arial" panose="020B0604020202020204" pitchFamily="34" charset="0"/>
              <a:buChar char="•"/>
            </a:pPr>
            <a:r>
              <a:rPr lang="en-GB" dirty="0"/>
              <a:t>Compares desired output with the actual output.</a:t>
            </a:r>
          </a:p>
          <a:p>
            <a:pPr>
              <a:buFont typeface="Arial" panose="020B0604020202020204" pitchFamily="34" charset="0"/>
              <a:buChar char="•"/>
            </a:pPr>
            <a:r>
              <a:rPr lang="en-GB" dirty="0"/>
              <a:t>Adjusts weights based on the difference (error) to minimize future errors.</a:t>
            </a:r>
          </a:p>
          <a:p>
            <a:pPr>
              <a:buFont typeface="Arial" panose="020B0604020202020204" pitchFamily="34" charset="0"/>
              <a:buChar char="•"/>
            </a:pPr>
            <a:r>
              <a:rPr lang="en-GB" dirty="0"/>
              <a:t>Iterative process until the perceptron achieves desired accuracy.</a:t>
            </a:r>
          </a:p>
          <a:p>
            <a:endParaRPr lang="en-GB" dirty="0"/>
          </a:p>
        </p:txBody>
      </p:sp>
    </p:spTree>
    <p:extLst>
      <p:ext uri="{BB962C8B-B14F-4D97-AF65-F5344CB8AC3E}">
        <p14:creationId xmlns:p14="http://schemas.microsoft.com/office/powerpoint/2010/main" val="31477812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A48A5-FC40-FA25-0083-6B901F2C1670}"/>
              </a:ext>
            </a:extLst>
          </p:cNvPr>
          <p:cNvSpPr>
            <a:spLocks noGrp="1"/>
          </p:cNvSpPr>
          <p:nvPr>
            <p:ph type="title"/>
          </p:nvPr>
        </p:nvSpPr>
        <p:spPr/>
        <p:txBody>
          <a:bodyPr/>
          <a:lstStyle/>
          <a:p>
            <a:r>
              <a:rPr lang="en-GB" dirty="0"/>
              <a:t>Applications of </a:t>
            </a:r>
            <a:r>
              <a:rPr lang="en-GB" dirty="0" err="1"/>
              <a:t>Perceptrons</a:t>
            </a:r>
            <a:endParaRPr lang="en-GB" dirty="0"/>
          </a:p>
        </p:txBody>
      </p:sp>
      <p:sp>
        <p:nvSpPr>
          <p:cNvPr id="3" name="Content Placeholder 2">
            <a:extLst>
              <a:ext uri="{FF2B5EF4-FFF2-40B4-BE49-F238E27FC236}">
                <a16:creationId xmlns:a16="http://schemas.microsoft.com/office/drawing/2014/main" id="{160B6031-3BDC-7A5A-ED20-5A84CE8DE8F9}"/>
              </a:ext>
            </a:extLst>
          </p:cNvPr>
          <p:cNvSpPr>
            <a:spLocks noGrp="1"/>
          </p:cNvSpPr>
          <p:nvPr>
            <p:ph idx="1"/>
          </p:nvPr>
        </p:nvSpPr>
        <p:spPr/>
        <p:txBody>
          <a:bodyPr/>
          <a:lstStyle/>
          <a:p>
            <a:r>
              <a:rPr lang="en-GB" dirty="0" err="1"/>
              <a:t>Perceptrons</a:t>
            </a:r>
            <a:r>
              <a:rPr lang="en-GB" dirty="0"/>
              <a:t> are well-suited for simple linear classification tasks.</a:t>
            </a:r>
          </a:p>
          <a:p>
            <a:pPr lvl="1"/>
            <a:r>
              <a:rPr lang="en-GB" dirty="0"/>
              <a:t>Data can be perfectly separated by a straight line.</a:t>
            </a:r>
          </a:p>
          <a:p>
            <a:r>
              <a:rPr lang="en-GB" dirty="0"/>
              <a:t>Examples include:</a:t>
            </a:r>
          </a:p>
          <a:p>
            <a:pPr lvl="1"/>
            <a:r>
              <a:rPr lang="en-GB" dirty="0"/>
              <a:t>Spam filtering (classifying emails as spam or not spam)</a:t>
            </a:r>
          </a:p>
          <a:p>
            <a:pPr lvl="1"/>
            <a:r>
              <a:rPr lang="en-GB" dirty="0"/>
              <a:t>Image recognition (identifying basic shapes)</a:t>
            </a:r>
          </a:p>
          <a:p>
            <a:pPr lvl="1"/>
            <a:r>
              <a:rPr lang="en-GB" dirty="0"/>
              <a:t>Linear regression (predicting continuous values)</a:t>
            </a:r>
          </a:p>
        </p:txBody>
      </p:sp>
    </p:spTree>
    <p:extLst>
      <p:ext uri="{BB962C8B-B14F-4D97-AF65-F5344CB8AC3E}">
        <p14:creationId xmlns:p14="http://schemas.microsoft.com/office/powerpoint/2010/main" val="2434947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8CE79-A391-99C1-1670-F982FA3FE685}"/>
              </a:ext>
            </a:extLst>
          </p:cNvPr>
          <p:cNvSpPr>
            <a:spLocks noGrp="1"/>
          </p:cNvSpPr>
          <p:nvPr>
            <p:ph type="title"/>
          </p:nvPr>
        </p:nvSpPr>
        <p:spPr/>
        <p:txBody>
          <a:bodyPr/>
          <a:lstStyle/>
          <a:p>
            <a:r>
              <a:rPr lang="en-GB" dirty="0"/>
              <a:t>Limitations of </a:t>
            </a:r>
            <a:r>
              <a:rPr lang="en-GB" dirty="0" err="1"/>
              <a:t>Perceptrons</a:t>
            </a:r>
            <a:endParaRPr lang="en-GB" dirty="0"/>
          </a:p>
        </p:txBody>
      </p:sp>
      <p:sp>
        <p:nvSpPr>
          <p:cNvPr id="3" name="Content Placeholder 2">
            <a:extLst>
              <a:ext uri="{FF2B5EF4-FFF2-40B4-BE49-F238E27FC236}">
                <a16:creationId xmlns:a16="http://schemas.microsoft.com/office/drawing/2014/main" id="{A9827E05-E87F-06CE-C606-EF1DC8884ABF}"/>
              </a:ext>
            </a:extLst>
          </p:cNvPr>
          <p:cNvSpPr>
            <a:spLocks noGrp="1"/>
          </p:cNvSpPr>
          <p:nvPr>
            <p:ph idx="1"/>
          </p:nvPr>
        </p:nvSpPr>
        <p:spPr/>
        <p:txBody>
          <a:bodyPr/>
          <a:lstStyle/>
          <a:p>
            <a:r>
              <a:rPr lang="en-GB" dirty="0" err="1"/>
              <a:t>Perceptrons</a:t>
            </a:r>
            <a:r>
              <a:rPr lang="en-GB" dirty="0"/>
              <a:t> can only solve linearly separable problems.</a:t>
            </a:r>
          </a:p>
          <a:p>
            <a:r>
              <a:rPr lang="en-GB" dirty="0"/>
              <a:t>They cannot handle complex, non-linear relationships in data.</a:t>
            </a:r>
          </a:p>
          <a:p>
            <a:r>
              <a:rPr lang="en-GB" dirty="0"/>
              <a:t>This limitation restricts their use in many real-world applications.</a:t>
            </a:r>
          </a:p>
        </p:txBody>
      </p:sp>
    </p:spTree>
    <p:extLst>
      <p:ext uri="{BB962C8B-B14F-4D97-AF65-F5344CB8AC3E}">
        <p14:creationId xmlns:p14="http://schemas.microsoft.com/office/powerpoint/2010/main" val="2885068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BCBAB-F36C-2753-399B-408B2D227B81}"/>
              </a:ext>
            </a:extLst>
          </p:cNvPr>
          <p:cNvSpPr>
            <a:spLocks noGrp="1"/>
          </p:cNvSpPr>
          <p:nvPr>
            <p:ph type="title"/>
          </p:nvPr>
        </p:nvSpPr>
        <p:spPr/>
        <p:txBody>
          <a:bodyPr/>
          <a:lstStyle/>
          <a:p>
            <a:r>
              <a:rPr lang="en-GB" dirty="0"/>
              <a:t>Structure of a Perceptron:</a:t>
            </a:r>
          </a:p>
        </p:txBody>
      </p:sp>
      <p:sp>
        <p:nvSpPr>
          <p:cNvPr id="3" name="Content Placeholder 2">
            <a:extLst>
              <a:ext uri="{FF2B5EF4-FFF2-40B4-BE49-F238E27FC236}">
                <a16:creationId xmlns:a16="http://schemas.microsoft.com/office/drawing/2014/main" id="{B48C7A93-DA0D-11BB-1D62-2AFF2313E78F}"/>
              </a:ext>
            </a:extLst>
          </p:cNvPr>
          <p:cNvSpPr>
            <a:spLocks noGrp="1"/>
          </p:cNvSpPr>
          <p:nvPr>
            <p:ph idx="1"/>
          </p:nvPr>
        </p:nvSpPr>
        <p:spPr/>
        <p:txBody>
          <a:bodyPr/>
          <a:lstStyle/>
          <a:p>
            <a:r>
              <a:rPr lang="en-GB" dirty="0"/>
              <a:t>Input nodes: Receive data (e.g., pixel values from an image).</a:t>
            </a:r>
          </a:p>
          <a:p>
            <a:r>
              <a:rPr lang="en-GB" dirty="0"/>
              <a:t>Weights: Associated with each input, determining its influence on the output.</a:t>
            </a:r>
          </a:p>
          <a:p>
            <a:r>
              <a:rPr lang="en-GB" dirty="0"/>
              <a:t>Bias unit: Constant value added to the weighted sum of inputs, adjusting the overall output.</a:t>
            </a:r>
          </a:p>
          <a:p>
            <a:r>
              <a:rPr lang="en-GB" dirty="0"/>
              <a:t>Activation function: Transforms the weighted sum and bias into a final output.</a:t>
            </a:r>
          </a:p>
        </p:txBody>
      </p:sp>
    </p:spTree>
    <p:extLst>
      <p:ext uri="{BB962C8B-B14F-4D97-AF65-F5344CB8AC3E}">
        <p14:creationId xmlns:p14="http://schemas.microsoft.com/office/powerpoint/2010/main" val="3447868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DB7D4-C7F5-1D7A-6C57-EA51B6078AFE}"/>
              </a:ext>
            </a:extLst>
          </p:cNvPr>
          <p:cNvSpPr>
            <a:spLocks noGrp="1"/>
          </p:cNvSpPr>
          <p:nvPr>
            <p:ph type="title"/>
          </p:nvPr>
        </p:nvSpPr>
        <p:spPr/>
        <p:txBody>
          <a:bodyPr/>
          <a:lstStyle/>
          <a:p>
            <a:r>
              <a:rPr lang="en-GB" dirty="0"/>
              <a:t>Perceptron Model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AF09E43-5880-9291-DE96-8BF1270AC1F4}"/>
                  </a:ext>
                </a:extLst>
              </p:cNvPr>
              <p:cNvSpPr>
                <a:spLocks noGrp="1"/>
              </p:cNvSpPr>
              <p:nvPr>
                <p:ph idx="1"/>
              </p:nvPr>
            </p:nvSpPr>
            <p:spPr>
              <a:xfrm>
                <a:off x="838200" y="1825625"/>
                <a:ext cx="10515600" cy="3764022"/>
              </a:xfrm>
            </p:spPr>
            <p:txBody>
              <a:bodyPr/>
              <a:lstStyle/>
              <a:p>
                <a:r>
                  <a:rPr lang="en-GB" sz="2400" dirty="0"/>
                  <a:t>Inputs : x. </a:t>
                </a:r>
              </a:p>
              <a:p>
                <a:r>
                  <a:rPr lang="en-GB" sz="2400" dirty="0"/>
                  <a:t>Parameters : w</a:t>
                </a:r>
              </a:p>
              <a:p>
                <a:endParaRPr lang="en-GB" sz="2400" b="1" dirty="0"/>
              </a:p>
              <a:p>
                <a:pPr marL="0" indent="0">
                  <a:buNone/>
                </a:pPr>
                <a:r>
                  <a:rPr lang="en-GB" sz="2400" dirty="0"/>
                  <a:t>y =  1 if </a:t>
                </a:r>
                <a14:m>
                  <m:oMath xmlns:m="http://schemas.openxmlformats.org/officeDocument/2006/math">
                    <m:r>
                      <a:rPr lang="en-GB" sz="2400" b="0" i="0" smtClean="0">
                        <a:latin typeface="Cambria Math" panose="02040503050406030204" pitchFamily="18" charset="0"/>
                      </a:rPr>
                      <m:t> </m:t>
                    </m:r>
                    <m:sSup>
                      <m:sSupPr>
                        <m:ctrlPr>
                          <a:rPr lang="en-GB" sz="2400" b="1" i="1" smtClean="0">
                            <a:latin typeface="Cambria Math" panose="02040503050406030204" pitchFamily="18" charset="0"/>
                          </a:rPr>
                        </m:ctrlPr>
                      </m:sSupPr>
                      <m:e>
                        <m:r>
                          <a:rPr lang="en-GB" sz="2400" b="1" i="1" smtClean="0">
                            <a:latin typeface="Cambria Math" panose="02040503050406030204" pitchFamily="18" charset="0"/>
                          </a:rPr>
                          <m:t>𝒘</m:t>
                        </m:r>
                      </m:e>
                      <m:sup>
                        <m:r>
                          <a:rPr lang="en-GB" sz="2400" b="1" i="1" smtClean="0">
                            <a:latin typeface="Cambria Math" panose="02040503050406030204" pitchFamily="18" charset="0"/>
                          </a:rPr>
                          <m:t>𝒕</m:t>
                        </m:r>
                      </m:sup>
                    </m:sSup>
                    <m:r>
                      <a:rPr lang="en-GB" sz="2400" b="1" i="1" smtClean="0">
                        <a:latin typeface="Cambria Math" panose="02040503050406030204" pitchFamily="18" charset="0"/>
                      </a:rPr>
                      <m:t>𝒙</m:t>
                    </m:r>
                    <m:r>
                      <a:rPr lang="en-GB" sz="2400" b="1" i="1" smtClean="0">
                        <a:latin typeface="Cambria Math" panose="02040503050406030204" pitchFamily="18" charset="0"/>
                      </a:rPr>
                      <m:t> ≥</m:t>
                    </m:r>
                    <m:r>
                      <a:rPr lang="en-GB" sz="2400" b="1" i="1" smtClean="0">
                        <a:latin typeface="Cambria Math" panose="02040503050406030204" pitchFamily="18" charset="0"/>
                        <a:ea typeface="Cambria Math" panose="02040503050406030204" pitchFamily="18" charset="0"/>
                      </a:rPr>
                      <m:t>𝟎</m:t>
                    </m:r>
                    <m:r>
                      <a:rPr lang="en-GB" sz="2400" b="1" i="1" smtClean="0">
                        <a:latin typeface="Cambria Math" panose="02040503050406030204" pitchFamily="18" charset="0"/>
                        <a:ea typeface="Cambria Math" panose="02040503050406030204" pitchFamily="18" charset="0"/>
                      </a:rPr>
                      <m:t> </m:t>
                    </m:r>
                  </m:oMath>
                </a14:m>
                <a:endParaRPr lang="en-GB" sz="2400" b="1" dirty="0">
                  <a:ea typeface="Cambria Math" panose="02040503050406030204" pitchFamily="18" charset="0"/>
                </a:endParaRPr>
              </a:p>
              <a:p>
                <a:pPr marL="457200" lvl="1" indent="0">
                  <a:buNone/>
                </a:pPr>
                <a:r>
                  <a:rPr lang="en-GB" sz="2000" dirty="0"/>
                  <a:t>=</a:t>
                </a:r>
                <a:r>
                  <a:rPr lang="en-GB" sz="2000" b="1" dirty="0"/>
                  <a:t> 0 </a:t>
                </a:r>
                <a:r>
                  <a:rPr lang="en-GB" sz="2000" dirty="0"/>
                  <a:t>otherwise</a:t>
                </a:r>
              </a:p>
              <a:p>
                <a:pPr marL="457200" lvl="1" indent="0">
                  <a:buNone/>
                </a:pPr>
                <a:endParaRPr lang="en-GB" sz="2000" dirty="0"/>
              </a:p>
              <a:p>
                <a:pPr marL="457200" lvl="1" indent="0">
                  <a:buNone/>
                </a:pPr>
                <a:r>
                  <a:rPr lang="en-GB" sz="2000" dirty="0"/>
                  <a:t>An example of a binary linear classifier.</a:t>
                </a:r>
              </a:p>
              <a:p>
                <a:pPr marL="457200" lvl="1" indent="0">
                  <a:buNone/>
                </a:pPr>
                <a:r>
                  <a:rPr lang="en-GB" sz="2000" dirty="0"/>
                  <a:t>	Binary : Two possible classification decisions (0 or 1).</a:t>
                </a:r>
              </a:p>
              <a:p>
                <a:pPr marL="457200" lvl="1" indent="0">
                  <a:buNone/>
                </a:pPr>
                <a:r>
                  <a:rPr lang="en-GB" sz="2000" dirty="0"/>
                  <a:t>	Linear: </a:t>
                </a:r>
                <a14:m>
                  <m:oMath xmlns:m="http://schemas.openxmlformats.org/officeDocument/2006/math">
                    <m:sSup>
                      <m:sSupPr>
                        <m:ctrlPr>
                          <a:rPr lang="en-GB" sz="2000" b="1" i="1" smtClean="0">
                            <a:latin typeface="Cambria Math" panose="02040503050406030204" pitchFamily="18" charset="0"/>
                          </a:rPr>
                        </m:ctrlPr>
                      </m:sSupPr>
                      <m:e>
                        <m:r>
                          <a:rPr lang="en-GB" sz="2000" b="1" i="1" smtClean="0">
                            <a:latin typeface="Cambria Math" panose="02040503050406030204" pitchFamily="18" charset="0"/>
                          </a:rPr>
                          <m:t>𝒘</m:t>
                        </m:r>
                      </m:e>
                      <m:sup>
                        <m:r>
                          <a:rPr lang="en-GB" sz="2000" b="1" i="1" smtClean="0">
                            <a:latin typeface="Cambria Math" panose="02040503050406030204" pitchFamily="18" charset="0"/>
                          </a:rPr>
                          <m:t>𝒕</m:t>
                        </m:r>
                      </m:sup>
                    </m:sSup>
                    <m:r>
                      <a:rPr lang="en-GB" sz="2000" b="1" i="1" smtClean="0">
                        <a:latin typeface="Cambria Math" panose="02040503050406030204" pitchFamily="18" charset="0"/>
                      </a:rPr>
                      <m:t>𝒙</m:t>
                    </m:r>
                    <m:r>
                      <a:rPr lang="en-GB" sz="2000" b="1" i="1" smtClean="0">
                        <a:latin typeface="Cambria Math" panose="02040503050406030204" pitchFamily="18" charset="0"/>
                      </a:rPr>
                      <m:t> ≥</m:t>
                    </m:r>
                    <m:r>
                      <a:rPr lang="en-GB" sz="2000" b="1" i="1" smtClean="0">
                        <a:latin typeface="Cambria Math" panose="02040503050406030204" pitchFamily="18" charset="0"/>
                        <a:ea typeface="Cambria Math" panose="02040503050406030204" pitchFamily="18" charset="0"/>
                      </a:rPr>
                      <m:t>𝟎</m:t>
                    </m:r>
                    <m:r>
                      <a:rPr lang="en-GB" sz="2000" b="1" i="1" smtClean="0">
                        <a:latin typeface="Cambria Math" panose="02040503050406030204" pitchFamily="18" charset="0"/>
                        <a:ea typeface="Cambria Math" panose="02040503050406030204" pitchFamily="18" charset="0"/>
                      </a:rPr>
                      <m:t> </m:t>
                    </m:r>
                  </m:oMath>
                </a14:m>
                <a:endParaRPr lang="en-GB" sz="2000" b="1" dirty="0">
                  <a:ea typeface="Cambria Math" panose="02040503050406030204" pitchFamily="18" charset="0"/>
                </a:endParaRPr>
              </a:p>
              <a:p>
                <a:pPr marL="457200" lvl="1" indent="0">
                  <a:buNone/>
                </a:pPr>
                <a:endParaRPr lang="en-GB" dirty="0"/>
              </a:p>
            </p:txBody>
          </p:sp>
        </mc:Choice>
        <mc:Fallback>
          <p:sp>
            <p:nvSpPr>
              <p:cNvPr id="3" name="Content Placeholder 2">
                <a:extLst>
                  <a:ext uri="{FF2B5EF4-FFF2-40B4-BE49-F238E27FC236}">
                    <a16:creationId xmlns:a16="http://schemas.microsoft.com/office/drawing/2014/main" id="{8AF09E43-5880-9291-DE96-8BF1270AC1F4}"/>
                  </a:ext>
                </a:extLst>
              </p:cNvPr>
              <p:cNvSpPr>
                <a:spLocks noGrp="1" noRot="1" noChangeAspect="1" noMove="1" noResize="1" noEditPoints="1" noAdjustHandles="1" noChangeArrowheads="1" noChangeShapeType="1" noTextEdit="1"/>
              </p:cNvSpPr>
              <p:nvPr>
                <p:ph idx="1"/>
              </p:nvPr>
            </p:nvSpPr>
            <p:spPr>
              <a:xfrm>
                <a:off x="838200" y="1825625"/>
                <a:ext cx="10515600" cy="3764022"/>
              </a:xfrm>
              <a:blipFill>
                <a:blip r:embed="rId2"/>
                <a:stretch>
                  <a:fillRect l="-928" t="-2104"/>
                </a:stretch>
              </a:blipFill>
            </p:spPr>
            <p:txBody>
              <a:bodyPr/>
              <a:lstStyle/>
              <a:p>
                <a:r>
                  <a:rPr lang="en-GB">
                    <a:noFill/>
                  </a:rPr>
                  <a:t> </a:t>
                </a:r>
              </a:p>
            </p:txBody>
          </p:sp>
        </mc:Fallback>
      </mc:AlternateContent>
      <p:sp>
        <p:nvSpPr>
          <p:cNvPr id="4" name="TextBox 3">
            <a:extLst>
              <a:ext uri="{FF2B5EF4-FFF2-40B4-BE49-F238E27FC236}">
                <a16:creationId xmlns:a16="http://schemas.microsoft.com/office/drawing/2014/main" id="{BEEEE1A1-5BA7-C71C-1DC0-2C15A441F2E9}"/>
              </a:ext>
            </a:extLst>
          </p:cNvPr>
          <p:cNvSpPr txBox="1"/>
          <p:nvPr/>
        </p:nvSpPr>
        <p:spPr>
          <a:xfrm>
            <a:off x="7099301" y="1522353"/>
            <a:ext cx="4965699" cy="2862322"/>
          </a:xfrm>
          <a:prstGeom prst="rect">
            <a:avLst/>
          </a:prstGeom>
          <a:noFill/>
        </p:spPr>
        <p:txBody>
          <a:bodyPr wrap="square" rtlCol="0">
            <a:spAutoFit/>
          </a:bodyPr>
          <a:lstStyle/>
          <a:p>
            <a:r>
              <a:rPr lang="en-GB" b="1" dirty="0"/>
              <a:t>Formula:</a:t>
            </a:r>
          </a:p>
          <a:p>
            <a:endParaRPr lang="en-GB" b="1" dirty="0"/>
          </a:p>
          <a:p>
            <a:r>
              <a:rPr lang="en-GB" b="1" dirty="0"/>
              <a:t>Output (y) = f(Σ(</a:t>
            </a:r>
            <a:r>
              <a:rPr lang="en-GB" b="1" dirty="0" err="1"/>
              <a:t>w_i</a:t>
            </a:r>
            <a:r>
              <a:rPr lang="en-GB" b="1" dirty="0"/>
              <a:t> * </a:t>
            </a:r>
            <a:r>
              <a:rPr lang="en-GB" b="1" dirty="0" err="1"/>
              <a:t>x_i</a:t>
            </a:r>
            <a:r>
              <a:rPr lang="en-GB" b="1" dirty="0"/>
              <a:t>) + b)</a:t>
            </a:r>
            <a:endParaRPr lang="en-GB" dirty="0"/>
          </a:p>
          <a:p>
            <a:r>
              <a:rPr lang="en-GB" dirty="0"/>
              <a:t>Where:</a:t>
            </a:r>
          </a:p>
          <a:p>
            <a:pPr>
              <a:buFont typeface="Arial" panose="020B0604020202020204" pitchFamily="34" charset="0"/>
              <a:buChar char="•"/>
            </a:pPr>
            <a:r>
              <a:rPr lang="en-GB" dirty="0"/>
              <a:t>Σ represents the summation over all n inputs.</a:t>
            </a:r>
          </a:p>
          <a:p>
            <a:pPr>
              <a:buFont typeface="Arial" panose="020B0604020202020204" pitchFamily="34" charset="0"/>
              <a:buChar char="•"/>
            </a:pPr>
            <a:r>
              <a:rPr lang="en-GB" dirty="0" err="1"/>
              <a:t>w_i</a:t>
            </a:r>
            <a:r>
              <a:rPr lang="en-GB" dirty="0"/>
              <a:t> is the weight for the </a:t>
            </a:r>
            <a:r>
              <a:rPr lang="en-GB" dirty="0" err="1"/>
              <a:t>i-th</a:t>
            </a:r>
            <a:r>
              <a:rPr lang="en-GB" dirty="0"/>
              <a:t> input.</a:t>
            </a:r>
          </a:p>
          <a:p>
            <a:pPr>
              <a:buFont typeface="Arial" panose="020B0604020202020204" pitchFamily="34" charset="0"/>
              <a:buChar char="•"/>
            </a:pPr>
            <a:r>
              <a:rPr lang="en-GB" dirty="0" err="1"/>
              <a:t>x_i</a:t>
            </a:r>
            <a:r>
              <a:rPr lang="en-GB" dirty="0"/>
              <a:t> is the value of the </a:t>
            </a:r>
            <a:r>
              <a:rPr lang="en-GB" dirty="0" err="1"/>
              <a:t>i-th</a:t>
            </a:r>
            <a:r>
              <a:rPr lang="en-GB" dirty="0"/>
              <a:t> input.</a:t>
            </a:r>
          </a:p>
          <a:p>
            <a:pPr>
              <a:buFont typeface="Arial" panose="020B0604020202020204" pitchFamily="34" charset="0"/>
              <a:buChar char="•"/>
            </a:pPr>
            <a:r>
              <a:rPr lang="en-GB" dirty="0"/>
              <a:t>b is the bias term.</a:t>
            </a:r>
          </a:p>
          <a:p>
            <a:pPr>
              <a:buFont typeface="Arial" panose="020B0604020202020204" pitchFamily="34" charset="0"/>
              <a:buChar char="•"/>
            </a:pPr>
            <a:r>
              <a:rPr lang="en-GB" dirty="0"/>
              <a:t>f( ) is the activation function.</a:t>
            </a:r>
          </a:p>
          <a:p>
            <a:endParaRPr lang="en-GB" dirty="0"/>
          </a:p>
        </p:txBody>
      </p:sp>
    </p:spTree>
    <p:extLst>
      <p:ext uri="{BB962C8B-B14F-4D97-AF65-F5344CB8AC3E}">
        <p14:creationId xmlns:p14="http://schemas.microsoft.com/office/powerpoint/2010/main" val="1234736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78E29-CE19-DED8-F4A7-CE3805348EF7}"/>
              </a:ext>
            </a:extLst>
          </p:cNvPr>
          <p:cNvSpPr>
            <a:spLocks noGrp="1"/>
          </p:cNvSpPr>
          <p:nvPr>
            <p:ph type="title"/>
          </p:nvPr>
        </p:nvSpPr>
        <p:spPr>
          <a:xfrm>
            <a:off x="838200" y="365125"/>
            <a:ext cx="10515600" cy="727075"/>
          </a:xfrm>
        </p:spPr>
        <p:txBody>
          <a:bodyPr>
            <a:normAutofit/>
          </a:bodyPr>
          <a:lstStyle/>
          <a:p>
            <a:r>
              <a:rPr lang="en-GB" sz="4000" dirty="0"/>
              <a:t>Weighted Sum equation.</a:t>
            </a:r>
          </a:p>
        </p:txBody>
      </p:sp>
      <p:pic>
        <p:nvPicPr>
          <p:cNvPr id="5" name="Content Placeholder 4">
            <a:extLst>
              <a:ext uri="{FF2B5EF4-FFF2-40B4-BE49-F238E27FC236}">
                <a16:creationId xmlns:a16="http://schemas.microsoft.com/office/drawing/2014/main" id="{8551201A-D5FE-C740-FE2F-B25DD6E2172B}"/>
              </a:ext>
            </a:extLst>
          </p:cNvPr>
          <p:cNvPicPr>
            <a:picLocks noGrp="1" noChangeAspect="1"/>
          </p:cNvPicPr>
          <p:nvPr>
            <p:ph idx="1"/>
          </p:nvPr>
        </p:nvPicPr>
        <p:blipFill>
          <a:blip r:embed="rId2"/>
          <a:stretch>
            <a:fillRect/>
          </a:stretch>
        </p:blipFill>
        <p:spPr>
          <a:xfrm>
            <a:off x="699477" y="1092200"/>
            <a:ext cx="2930803" cy="925517"/>
          </a:xfrm>
        </p:spPr>
      </p:pic>
      <p:sp>
        <p:nvSpPr>
          <p:cNvPr id="8" name="TextBox 7">
            <a:extLst>
              <a:ext uri="{FF2B5EF4-FFF2-40B4-BE49-F238E27FC236}">
                <a16:creationId xmlns:a16="http://schemas.microsoft.com/office/drawing/2014/main" id="{E67630D3-5A71-B84B-B57A-181372076F6B}"/>
              </a:ext>
            </a:extLst>
          </p:cNvPr>
          <p:cNvSpPr txBox="1"/>
          <p:nvPr/>
        </p:nvSpPr>
        <p:spPr>
          <a:xfrm>
            <a:off x="838200" y="1092200"/>
            <a:ext cx="10922000" cy="4924425"/>
          </a:xfrm>
          <a:prstGeom prst="rect">
            <a:avLst/>
          </a:prstGeom>
          <a:noFill/>
        </p:spPr>
        <p:txBody>
          <a:bodyPr wrap="square" rtlCol="0">
            <a:spAutoFit/>
          </a:bodyPr>
          <a:lstStyle/>
          <a:p>
            <a:endParaRPr lang="en-GB" sz="1600" b="1" dirty="0"/>
          </a:p>
          <a:p>
            <a:endParaRPr lang="en-GB" sz="1600" b="1" dirty="0"/>
          </a:p>
          <a:p>
            <a:endParaRPr lang="en-GB" sz="1600" b="1" dirty="0"/>
          </a:p>
          <a:p>
            <a:endParaRPr lang="en-GB" sz="1600" b="1" dirty="0"/>
          </a:p>
          <a:p>
            <a:endParaRPr lang="en-GB" sz="1600" b="1" dirty="0"/>
          </a:p>
          <a:p>
            <a:r>
              <a:rPr lang="en-GB" dirty="0"/>
              <a:t>𝑤ˉ: This represents the weight vector that defines the decision boundary in the feature space.</a:t>
            </a:r>
          </a:p>
          <a:p>
            <a:endParaRPr lang="en-GB" dirty="0"/>
          </a:p>
          <a:p>
            <a:r>
              <a:rPr lang="en-GB" dirty="0"/>
              <a:t>𝜂: This is a scaling factor or learning rate, used to adjust the influence of each term in the summation.</a:t>
            </a:r>
          </a:p>
          <a:p>
            <a:endParaRPr lang="en-GB" dirty="0"/>
          </a:p>
          <a:p>
            <a:r>
              <a:rPr lang="en-GB" dirty="0"/>
              <a:t>∑𝑖=1𝑚: This indicates a summation over all training examples, from 𝑖=1</a:t>
            </a:r>
            <a:r>
              <a:rPr lang="en-GB" i="1" dirty="0"/>
              <a:t>i</a:t>
            </a:r>
            <a:r>
              <a:rPr lang="en-GB" dirty="0"/>
              <a:t>=1 to 𝑖=𝑚</a:t>
            </a:r>
            <a:r>
              <a:rPr lang="en-GB" i="1" dirty="0" err="1"/>
              <a:t>i</a:t>
            </a:r>
            <a:r>
              <a:rPr lang="en-GB" dirty="0"/>
              <a:t>=</a:t>
            </a:r>
            <a:r>
              <a:rPr lang="en-GB" i="1" dirty="0"/>
              <a:t>m</a:t>
            </a:r>
            <a:r>
              <a:rPr lang="en-GB" dirty="0"/>
              <a:t>.</a:t>
            </a:r>
          </a:p>
          <a:p>
            <a:endParaRPr lang="en-GB" dirty="0"/>
          </a:p>
          <a:p>
            <a:r>
              <a:rPr lang="en-GB" dirty="0"/>
              <a:t>𝛼</a:t>
            </a:r>
            <a:r>
              <a:rPr lang="en-GB" dirty="0" err="1"/>
              <a:t>i</a:t>
            </a:r>
            <a:r>
              <a:rPr lang="en-GB" dirty="0"/>
              <a:t>​: These are the Lagrange multipliers associated with each training example. They are non-negative and represent the contribution of each training example to the decision boundary.</a:t>
            </a:r>
          </a:p>
          <a:p>
            <a:endParaRPr lang="en-GB" dirty="0"/>
          </a:p>
          <a:p>
            <a:r>
              <a:rPr lang="en-GB" dirty="0"/>
              <a:t>𝑦𝑖: This represents the class label of the 𝑖</a:t>
            </a:r>
            <a:r>
              <a:rPr lang="en-GB" i="1" dirty="0" err="1"/>
              <a:t>i</a:t>
            </a:r>
            <a:r>
              <a:rPr lang="en-GB" dirty="0" err="1"/>
              <a:t>-th</a:t>
            </a:r>
            <a:r>
              <a:rPr lang="en-GB" dirty="0"/>
              <a:t> training example. Typically, 𝑦𝑖∈{−1,1}</a:t>
            </a:r>
            <a:r>
              <a:rPr lang="en-GB" i="1" dirty="0" err="1"/>
              <a:t>yi</a:t>
            </a:r>
            <a:r>
              <a:rPr lang="en-GB" dirty="0"/>
              <a:t>∈{−1,1} for binary classification problems.</a:t>
            </a:r>
          </a:p>
          <a:p>
            <a:endParaRPr lang="en-GB" dirty="0"/>
          </a:p>
          <a:p>
            <a:r>
              <a:rPr lang="en-GB" dirty="0"/>
              <a:t>𝑥ˉ𝑖: This denotes the feature vector of the 𝑖-</a:t>
            </a:r>
            <a:r>
              <a:rPr lang="en-GB" dirty="0" err="1"/>
              <a:t>th</a:t>
            </a:r>
            <a:r>
              <a:rPr lang="en-GB" dirty="0"/>
              <a:t> training example.</a:t>
            </a:r>
          </a:p>
        </p:txBody>
      </p:sp>
    </p:spTree>
    <p:extLst>
      <p:ext uri="{BB962C8B-B14F-4D97-AF65-F5344CB8AC3E}">
        <p14:creationId xmlns:p14="http://schemas.microsoft.com/office/powerpoint/2010/main" val="36710638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78E29-CE19-DED8-F4A7-CE3805348EF7}"/>
              </a:ext>
            </a:extLst>
          </p:cNvPr>
          <p:cNvSpPr>
            <a:spLocks noGrp="1"/>
          </p:cNvSpPr>
          <p:nvPr>
            <p:ph type="title"/>
          </p:nvPr>
        </p:nvSpPr>
        <p:spPr>
          <a:xfrm>
            <a:off x="838200" y="365125"/>
            <a:ext cx="10515600" cy="727075"/>
          </a:xfrm>
        </p:spPr>
        <p:txBody>
          <a:bodyPr>
            <a:normAutofit/>
          </a:bodyPr>
          <a:lstStyle/>
          <a:p>
            <a:r>
              <a:rPr lang="en-GB" sz="4000" dirty="0"/>
              <a:t>Question 1: Perceptron example</a:t>
            </a:r>
          </a:p>
        </p:txBody>
      </p:sp>
      <p:sp>
        <p:nvSpPr>
          <p:cNvPr id="3" name="Content Placeholder 2">
            <a:extLst>
              <a:ext uri="{FF2B5EF4-FFF2-40B4-BE49-F238E27FC236}">
                <a16:creationId xmlns:a16="http://schemas.microsoft.com/office/drawing/2014/main" id="{F2F67FB6-2346-B0CC-6E8E-D88BE91A7B95}"/>
              </a:ext>
            </a:extLst>
          </p:cNvPr>
          <p:cNvSpPr>
            <a:spLocks noGrp="1"/>
          </p:cNvSpPr>
          <p:nvPr>
            <p:ph idx="1"/>
          </p:nvPr>
        </p:nvSpPr>
        <p:spPr>
          <a:xfrm>
            <a:off x="838200" y="1193800"/>
            <a:ext cx="10515600" cy="4983163"/>
          </a:xfrm>
        </p:spPr>
        <p:txBody>
          <a:bodyPr>
            <a:normAutofit fontScale="77500" lnSpcReduction="20000"/>
          </a:bodyPr>
          <a:lstStyle/>
          <a:p>
            <a:r>
              <a:rPr lang="en-GB" dirty="0"/>
              <a:t>This table shows a dataset and how many times each data point was classified incorrectly by the perceptron algorithm. The perceptron started with zero weights for all inputs.</a:t>
            </a:r>
          </a:p>
          <a:p>
            <a:pPr marL="0" indent="0">
              <a:buNone/>
            </a:pPr>
            <a:r>
              <a:rPr lang="en-GB" b="1" dirty="0"/>
              <a:t>Given the information in the table:</a:t>
            </a:r>
            <a:endParaRPr lang="en-GB" dirty="0"/>
          </a:p>
          <a:p>
            <a:pPr>
              <a:buFont typeface="Arial" panose="020B0604020202020204" pitchFamily="34" charset="0"/>
              <a:buChar char="•"/>
            </a:pPr>
            <a:r>
              <a:rPr lang="en-GB" dirty="0"/>
              <a:t>The data points themselves (represented by </a:t>
            </a:r>
            <a:r>
              <a:rPr lang="en-GB" dirty="0">
                <a:latin typeface="Aptos Light" panose="020F0502020204030204" pitchFamily="34" charset="0"/>
              </a:rPr>
              <a:t>x</a:t>
            </a:r>
            <a:r>
              <a:rPr lang="en-GB" dirty="0"/>
              <a:t>1, </a:t>
            </a:r>
            <a:r>
              <a:rPr lang="en-GB" dirty="0">
                <a:latin typeface="Aptos Light" panose="020B0004020202020204" pitchFamily="34" charset="0"/>
              </a:rPr>
              <a:t>x</a:t>
            </a:r>
            <a:r>
              <a:rPr lang="en-GB" dirty="0"/>
              <a:t>2).</a:t>
            </a:r>
          </a:p>
          <a:p>
            <a:pPr>
              <a:buFont typeface="Arial" panose="020B0604020202020204" pitchFamily="34" charset="0"/>
              <a:buChar char="•"/>
            </a:pPr>
            <a:r>
              <a:rPr lang="en-GB" dirty="0"/>
              <a:t>The number of times each data point was misclassified (indicating how well it's separated by the line).</a:t>
            </a:r>
          </a:p>
          <a:p>
            <a:r>
              <a:rPr lang="en-GB" b="1" dirty="0"/>
              <a:t>Assuming the perceptron learning algorithm was used with the following settings:</a:t>
            </a:r>
            <a:endParaRPr lang="en-GB" dirty="0"/>
          </a:p>
          <a:p>
            <a:pPr>
              <a:buFont typeface="Arial" panose="020B0604020202020204" pitchFamily="34" charset="0"/>
              <a:buChar char="•"/>
            </a:pPr>
            <a:r>
              <a:rPr lang="en-GB" dirty="0"/>
              <a:t>Learning rate: 1 (This determines how much the weights are adjusted based on errors).</a:t>
            </a:r>
          </a:p>
          <a:p>
            <a:pPr>
              <a:buFont typeface="Arial" panose="020B0604020202020204" pitchFamily="34" charset="0"/>
              <a:buChar char="•"/>
            </a:pPr>
            <a:r>
              <a:rPr lang="en-GB" dirty="0"/>
              <a:t>Initial weights: All zeros (This means the perceptron started with no bias towards any particular classification).</a:t>
            </a:r>
          </a:p>
          <a:p>
            <a:pPr marL="0" indent="0">
              <a:buNone/>
            </a:pPr>
            <a:endParaRPr lang="en-GB" dirty="0"/>
          </a:p>
          <a:p>
            <a:pPr marL="0" indent="0">
              <a:buNone/>
            </a:pPr>
            <a:r>
              <a:rPr lang="en-GB" dirty="0"/>
              <a:t>Can you tell me the equation of the decision boundary (separating line) that the algorithm learned?</a:t>
            </a:r>
          </a:p>
          <a:p>
            <a:endParaRPr lang="en-GB" dirty="0"/>
          </a:p>
        </p:txBody>
      </p:sp>
    </p:spTree>
    <p:extLst>
      <p:ext uri="{BB962C8B-B14F-4D97-AF65-F5344CB8AC3E}">
        <p14:creationId xmlns:p14="http://schemas.microsoft.com/office/powerpoint/2010/main" val="1288746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78E29-CE19-DED8-F4A7-CE3805348EF7}"/>
              </a:ext>
            </a:extLst>
          </p:cNvPr>
          <p:cNvSpPr>
            <a:spLocks noGrp="1"/>
          </p:cNvSpPr>
          <p:nvPr>
            <p:ph type="title"/>
          </p:nvPr>
        </p:nvSpPr>
        <p:spPr>
          <a:xfrm>
            <a:off x="838200" y="365125"/>
            <a:ext cx="10515600" cy="727075"/>
          </a:xfrm>
        </p:spPr>
        <p:txBody>
          <a:bodyPr>
            <a:normAutofit/>
          </a:bodyPr>
          <a:lstStyle/>
          <a:p>
            <a:r>
              <a:rPr lang="en-GB" sz="4000" dirty="0"/>
              <a:t>Question 1: Example</a:t>
            </a:r>
          </a:p>
        </p:txBody>
      </p:sp>
      <p:pic>
        <p:nvPicPr>
          <p:cNvPr id="5" name="Content Placeholder 4">
            <a:extLst>
              <a:ext uri="{FF2B5EF4-FFF2-40B4-BE49-F238E27FC236}">
                <a16:creationId xmlns:a16="http://schemas.microsoft.com/office/drawing/2014/main" id="{8551201A-D5FE-C740-FE2F-B25DD6E2172B}"/>
              </a:ext>
            </a:extLst>
          </p:cNvPr>
          <p:cNvPicPr>
            <a:picLocks noGrp="1" noChangeAspect="1"/>
          </p:cNvPicPr>
          <p:nvPr>
            <p:ph idx="1"/>
          </p:nvPr>
        </p:nvPicPr>
        <p:blipFill>
          <a:blip r:embed="rId2"/>
          <a:stretch>
            <a:fillRect/>
          </a:stretch>
        </p:blipFill>
        <p:spPr>
          <a:xfrm>
            <a:off x="838200" y="1282700"/>
            <a:ext cx="2930803" cy="925517"/>
          </a:xfrm>
        </p:spPr>
      </p:pic>
      <p:graphicFrame>
        <p:nvGraphicFramePr>
          <p:cNvPr id="7" name="Table 6">
            <a:extLst>
              <a:ext uri="{FF2B5EF4-FFF2-40B4-BE49-F238E27FC236}">
                <a16:creationId xmlns:a16="http://schemas.microsoft.com/office/drawing/2014/main" id="{C803C751-76B0-C24D-9AC8-8FC73E237FC3}"/>
              </a:ext>
            </a:extLst>
          </p:cNvPr>
          <p:cNvGraphicFramePr>
            <a:graphicFrameLocks noGrp="1"/>
          </p:cNvGraphicFramePr>
          <p:nvPr>
            <p:extLst>
              <p:ext uri="{D42A27DB-BD31-4B8C-83A1-F6EECF244321}">
                <p14:modId xmlns:p14="http://schemas.microsoft.com/office/powerpoint/2010/main" val="2640709987"/>
              </p:ext>
            </p:extLst>
          </p:nvPr>
        </p:nvGraphicFramePr>
        <p:xfrm>
          <a:off x="4102100" y="1515281"/>
          <a:ext cx="6261100" cy="1737360"/>
        </p:xfrm>
        <a:graphic>
          <a:graphicData uri="http://schemas.openxmlformats.org/drawingml/2006/table">
            <a:tbl>
              <a:tblPr firstRow="1" bandRow="1"/>
              <a:tblGrid>
                <a:gridCol w="1565275">
                  <a:extLst>
                    <a:ext uri="{9D8B030D-6E8A-4147-A177-3AD203B41FA5}">
                      <a16:colId xmlns:a16="http://schemas.microsoft.com/office/drawing/2014/main" val="889380935"/>
                    </a:ext>
                  </a:extLst>
                </a:gridCol>
                <a:gridCol w="1565275">
                  <a:extLst>
                    <a:ext uri="{9D8B030D-6E8A-4147-A177-3AD203B41FA5}">
                      <a16:colId xmlns:a16="http://schemas.microsoft.com/office/drawing/2014/main" val="632778336"/>
                    </a:ext>
                  </a:extLst>
                </a:gridCol>
                <a:gridCol w="1565275">
                  <a:extLst>
                    <a:ext uri="{9D8B030D-6E8A-4147-A177-3AD203B41FA5}">
                      <a16:colId xmlns:a16="http://schemas.microsoft.com/office/drawing/2014/main" val="2970969931"/>
                    </a:ext>
                  </a:extLst>
                </a:gridCol>
                <a:gridCol w="1565275">
                  <a:extLst>
                    <a:ext uri="{9D8B030D-6E8A-4147-A177-3AD203B41FA5}">
                      <a16:colId xmlns:a16="http://schemas.microsoft.com/office/drawing/2014/main" val="1100429501"/>
                    </a:ext>
                  </a:extLst>
                </a:gridCol>
              </a:tblGrid>
              <a:tr h="167156">
                <a:tc>
                  <a:txBody>
                    <a:bodyPr/>
                    <a:lstStyle/>
                    <a:p>
                      <a:r>
                        <a:rPr lang="en-GB" dirty="0"/>
                        <a:t>x1</a:t>
                      </a:r>
                    </a:p>
                  </a:txBody>
                  <a:tcPr/>
                </a:tc>
                <a:tc>
                  <a:txBody>
                    <a:bodyPr/>
                    <a:lstStyle/>
                    <a:p>
                      <a:r>
                        <a:rPr lang="en-GB" dirty="0"/>
                        <a:t>x2</a:t>
                      </a:r>
                    </a:p>
                  </a:txBody>
                  <a:tcPr/>
                </a:tc>
                <a:tc>
                  <a:txBody>
                    <a:bodyPr/>
                    <a:lstStyle/>
                    <a:p>
                      <a:r>
                        <a:rPr lang="en-GB" dirty="0"/>
                        <a:t>Y</a:t>
                      </a:r>
                    </a:p>
                  </a:txBody>
                  <a:tcPr/>
                </a:tc>
                <a:tc>
                  <a:txBody>
                    <a:bodyPr/>
                    <a:lstStyle/>
                    <a:p>
                      <a:r>
                        <a:rPr lang="en-GB" dirty="0"/>
                        <a:t>Times misclassified</a:t>
                      </a:r>
                    </a:p>
                  </a:txBody>
                  <a:tcPr/>
                </a:tc>
                <a:extLst>
                  <a:ext uri="{0D108BD9-81ED-4DB2-BD59-A6C34878D82A}">
                    <a16:rowId xmlns:a16="http://schemas.microsoft.com/office/drawing/2014/main" val="2642860033"/>
                  </a:ext>
                </a:extLst>
              </a:tr>
              <a:tr h="167156">
                <a:tc>
                  <a:txBody>
                    <a:bodyPr/>
                    <a:lstStyle/>
                    <a:p>
                      <a:r>
                        <a:rPr lang="en-GB" dirty="0"/>
                        <a:t>4</a:t>
                      </a:r>
                    </a:p>
                  </a:txBody>
                  <a:tcPr/>
                </a:tc>
                <a:tc>
                  <a:txBody>
                    <a:bodyPr/>
                    <a:lstStyle/>
                    <a:p>
                      <a:r>
                        <a:rPr lang="en-GB" dirty="0"/>
                        <a:t>1</a:t>
                      </a:r>
                    </a:p>
                  </a:txBody>
                  <a:tcPr/>
                </a:tc>
                <a:tc>
                  <a:txBody>
                    <a:bodyPr/>
                    <a:lstStyle/>
                    <a:p>
                      <a:r>
                        <a:rPr lang="en-GB" dirty="0"/>
                        <a:t>1</a:t>
                      </a:r>
                    </a:p>
                  </a:txBody>
                  <a:tcPr/>
                </a:tc>
                <a:tc>
                  <a:txBody>
                    <a:bodyPr/>
                    <a:lstStyle/>
                    <a:p>
                      <a:r>
                        <a:rPr lang="en-GB" dirty="0"/>
                        <a:t>8</a:t>
                      </a:r>
                    </a:p>
                  </a:txBody>
                  <a:tcPr/>
                </a:tc>
                <a:extLst>
                  <a:ext uri="{0D108BD9-81ED-4DB2-BD59-A6C34878D82A}">
                    <a16:rowId xmlns:a16="http://schemas.microsoft.com/office/drawing/2014/main" val="2763200070"/>
                  </a:ext>
                </a:extLst>
              </a:tr>
              <a:tr h="167156">
                <a:tc>
                  <a:txBody>
                    <a:bodyPr/>
                    <a:lstStyle/>
                    <a:p>
                      <a:r>
                        <a:rPr lang="en-GB" dirty="0"/>
                        <a:t>5</a:t>
                      </a:r>
                    </a:p>
                  </a:txBody>
                  <a:tcPr/>
                </a:tc>
                <a:tc>
                  <a:txBody>
                    <a:bodyPr/>
                    <a:lstStyle/>
                    <a:p>
                      <a:r>
                        <a:rPr lang="en-GB" dirty="0"/>
                        <a:t>3</a:t>
                      </a:r>
                    </a:p>
                  </a:txBody>
                  <a:tcPr/>
                </a:tc>
                <a:tc>
                  <a:txBody>
                    <a:bodyPr/>
                    <a:lstStyle/>
                    <a:p>
                      <a:r>
                        <a:rPr lang="en-GB" dirty="0"/>
                        <a:t>1</a:t>
                      </a:r>
                    </a:p>
                  </a:txBody>
                  <a:tcPr/>
                </a:tc>
                <a:tc>
                  <a:txBody>
                    <a:bodyPr/>
                    <a:lstStyle/>
                    <a:p>
                      <a:r>
                        <a:rPr lang="en-GB" dirty="0"/>
                        <a:t>4</a:t>
                      </a:r>
                    </a:p>
                  </a:txBody>
                  <a:tcPr/>
                </a:tc>
                <a:extLst>
                  <a:ext uri="{0D108BD9-81ED-4DB2-BD59-A6C34878D82A}">
                    <a16:rowId xmlns:a16="http://schemas.microsoft.com/office/drawing/2014/main" val="3941878134"/>
                  </a:ext>
                </a:extLst>
              </a:tr>
              <a:tr h="167156">
                <a:tc>
                  <a:txBody>
                    <a:bodyPr/>
                    <a:lstStyle/>
                    <a:p>
                      <a:r>
                        <a:rPr lang="en-GB" dirty="0"/>
                        <a:t>1</a:t>
                      </a:r>
                    </a:p>
                  </a:txBody>
                  <a:tcPr/>
                </a:tc>
                <a:tc>
                  <a:txBody>
                    <a:bodyPr/>
                    <a:lstStyle/>
                    <a:p>
                      <a:r>
                        <a:rPr lang="en-GB" dirty="0"/>
                        <a:t>2</a:t>
                      </a:r>
                    </a:p>
                  </a:txBody>
                  <a:tcPr/>
                </a:tc>
                <a:tc>
                  <a:txBody>
                    <a:bodyPr/>
                    <a:lstStyle/>
                    <a:p>
                      <a:r>
                        <a:rPr lang="en-GB" dirty="0"/>
                        <a:t>0</a:t>
                      </a:r>
                    </a:p>
                  </a:txBody>
                  <a:tcPr/>
                </a:tc>
                <a:tc>
                  <a:txBody>
                    <a:bodyPr/>
                    <a:lstStyle/>
                    <a:p>
                      <a:r>
                        <a:rPr lang="en-GB" dirty="0"/>
                        <a:t>5</a:t>
                      </a:r>
                    </a:p>
                  </a:txBody>
                  <a:tcPr/>
                </a:tc>
                <a:extLst>
                  <a:ext uri="{0D108BD9-81ED-4DB2-BD59-A6C34878D82A}">
                    <a16:rowId xmlns:a16="http://schemas.microsoft.com/office/drawing/2014/main" val="2187065779"/>
                  </a:ext>
                </a:extLst>
              </a:tr>
            </a:tbl>
          </a:graphicData>
        </a:graphic>
      </p:graphicFrame>
      <p:sp>
        <p:nvSpPr>
          <p:cNvPr id="3" name="TextBox 2">
            <a:extLst>
              <a:ext uri="{FF2B5EF4-FFF2-40B4-BE49-F238E27FC236}">
                <a16:creationId xmlns:a16="http://schemas.microsoft.com/office/drawing/2014/main" id="{CDD5EE28-88EE-8A05-66AB-6AF37FC1F7E4}"/>
              </a:ext>
            </a:extLst>
          </p:cNvPr>
          <p:cNvSpPr txBox="1"/>
          <p:nvPr/>
        </p:nvSpPr>
        <p:spPr>
          <a:xfrm>
            <a:off x="492369" y="3927148"/>
            <a:ext cx="5427785" cy="1754326"/>
          </a:xfrm>
          <a:prstGeom prst="rect">
            <a:avLst/>
          </a:prstGeom>
          <a:noFill/>
        </p:spPr>
        <p:txBody>
          <a:bodyPr wrap="square" rtlCol="0">
            <a:spAutoFit/>
          </a:bodyPr>
          <a:lstStyle/>
          <a:p>
            <a:r>
              <a:rPr lang="en-GB" dirty="0"/>
              <a:t>SUM  =</a:t>
            </a:r>
          </a:p>
          <a:p>
            <a:r>
              <a:rPr lang="en-GB" dirty="0"/>
              <a:t>(8 )(1) ( 4, 1, 1) + (4 )(1) ( 5, 3, 1) +  (5 )(0) ( 1, 2, 1) </a:t>
            </a:r>
          </a:p>
          <a:p>
            <a:r>
              <a:rPr lang="en-GB" dirty="0"/>
              <a:t>(32, 8 , 8) + (20, 12, 4) + (0, 0 ,0)</a:t>
            </a:r>
          </a:p>
          <a:p>
            <a:r>
              <a:rPr lang="en-GB" dirty="0"/>
              <a:t>(52,  20, 12)</a:t>
            </a:r>
          </a:p>
          <a:p>
            <a:endParaRPr lang="en-GB" dirty="0"/>
          </a:p>
          <a:p>
            <a:r>
              <a:rPr lang="en-GB" dirty="0"/>
              <a:t>52x1 + 20x2 + 12 = 0</a:t>
            </a:r>
          </a:p>
        </p:txBody>
      </p:sp>
      <p:sp>
        <p:nvSpPr>
          <p:cNvPr id="4" name="TextBox 3">
            <a:extLst>
              <a:ext uri="{FF2B5EF4-FFF2-40B4-BE49-F238E27FC236}">
                <a16:creationId xmlns:a16="http://schemas.microsoft.com/office/drawing/2014/main" id="{6EEDB0F3-9D40-26B9-9B2D-FDFEF9FFEAA1}"/>
              </a:ext>
            </a:extLst>
          </p:cNvPr>
          <p:cNvSpPr txBox="1"/>
          <p:nvPr/>
        </p:nvSpPr>
        <p:spPr>
          <a:xfrm>
            <a:off x="6447693" y="3927147"/>
            <a:ext cx="5427785" cy="2308324"/>
          </a:xfrm>
          <a:prstGeom prst="rect">
            <a:avLst/>
          </a:prstGeom>
          <a:noFill/>
        </p:spPr>
        <p:txBody>
          <a:bodyPr wrap="square" rtlCol="0">
            <a:spAutoFit/>
          </a:bodyPr>
          <a:lstStyle/>
          <a:p>
            <a:r>
              <a:rPr lang="en-GB" dirty="0"/>
              <a:t>X1 = 8 * 1 * 4 +  4*1* 5  + 5*0 *1</a:t>
            </a:r>
          </a:p>
          <a:p>
            <a:r>
              <a:rPr lang="en-GB" dirty="0"/>
              <a:t>	= 52</a:t>
            </a:r>
          </a:p>
          <a:p>
            <a:r>
              <a:rPr lang="en-GB" dirty="0"/>
              <a:t>X2 = 8 * 1* 1 + 4*1* 3 + 5*0*2</a:t>
            </a:r>
          </a:p>
          <a:p>
            <a:r>
              <a:rPr lang="en-GB" dirty="0"/>
              <a:t>	= 20</a:t>
            </a:r>
          </a:p>
          <a:p>
            <a:r>
              <a:rPr lang="en-GB"/>
              <a:t>= </a:t>
            </a:r>
            <a:r>
              <a:rPr lang="en-GB" dirty="0"/>
              <a:t>8*1*1 + 4*1*1 +  5*0*1</a:t>
            </a:r>
          </a:p>
          <a:p>
            <a:r>
              <a:rPr lang="en-GB" dirty="0"/>
              <a:t>= 12</a:t>
            </a:r>
          </a:p>
          <a:p>
            <a:endParaRPr lang="en-GB" dirty="0"/>
          </a:p>
          <a:p>
            <a:r>
              <a:rPr lang="en-GB" dirty="0"/>
              <a:t>52x1 + 20x2 + 12 = 0</a:t>
            </a:r>
          </a:p>
        </p:txBody>
      </p:sp>
    </p:spTree>
    <p:extLst>
      <p:ext uri="{BB962C8B-B14F-4D97-AF65-F5344CB8AC3E}">
        <p14:creationId xmlns:p14="http://schemas.microsoft.com/office/powerpoint/2010/main" val="377701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07A2-8498-5ACC-5803-33FB902F670C}"/>
              </a:ext>
            </a:extLst>
          </p:cNvPr>
          <p:cNvSpPr>
            <a:spLocks noGrp="1"/>
          </p:cNvSpPr>
          <p:nvPr>
            <p:ph type="title"/>
          </p:nvPr>
        </p:nvSpPr>
        <p:spPr>
          <a:xfrm>
            <a:off x="838200" y="365125"/>
            <a:ext cx="10515600" cy="803275"/>
          </a:xfrm>
        </p:spPr>
        <p:txBody>
          <a:bodyPr>
            <a:normAutofit/>
          </a:bodyPr>
          <a:lstStyle/>
          <a:p>
            <a:r>
              <a:rPr lang="en-GB" sz="3600" dirty="0"/>
              <a:t>Question 1: Perceptron example</a:t>
            </a:r>
          </a:p>
        </p:txBody>
      </p:sp>
      <p:sp>
        <p:nvSpPr>
          <p:cNvPr id="3" name="Content Placeholder 2">
            <a:extLst>
              <a:ext uri="{FF2B5EF4-FFF2-40B4-BE49-F238E27FC236}">
                <a16:creationId xmlns:a16="http://schemas.microsoft.com/office/drawing/2014/main" id="{E037A5CC-6B52-6EDE-9C74-BCE5683A2594}"/>
              </a:ext>
            </a:extLst>
          </p:cNvPr>
          <p:cNvSpPr>
            <a:spLocks noGrp="1"/>
          </p:cNvSpPr>
          <p:nvPr>
            <p:ph idx="1"/>
          </p:nvPr>
        </p:nvSpPr>
        <p:spPr>
          <a:xfrm>
            <a:off x="838200" y="1253331"/>
            <a:ext cx="10515600" cy="4351338"/>
          </a:xfrm>
        </p:spPr>
        <p:txBody>
          <a:bodyPr>
            <a:normAutofit fontScale="85000" lnSpcReduction="20000"/>
          </a:bodyPr>
          <a:lstStyle/>
          <a:p>
            <a:pPr marL="0" indent="0">
              <a:buNone/>
            </a:pPr>
            <a:r>
              <a:rPr lang="en-GB" dirty="0"/>
              <a:t>Suppose we have the following data points, and no bias term:</a:t>
            </a:r>
          </a:p>
          <a:p>
            <a:pPr marL="0" indent="0">
              <a:buNone/>
            </a:pPr>
            <a:r>
              <a:rPr lang="en-GB" dirty="0"/>
              <a:t> x = (1, −2),t = 1 </a:t>
            </a:r>
          </a:p>
          <a:p>
            <a:pPr marL="0" indent="0">
              <a:buNone/>
            </a:pPr>
            <a:r>
              <a:rPr lang="en-GB" dirty="0"/>
              <a:t>x = (0, −1),t = 0 </a:t>
            </a:r>
          </a:p>
          <a:p>
            <a:pPr marL="0" indent="0">
              <a:buNone/>
            </a:pPr>
            <a:r>
              <a:rPr lang="en-GB" dirty="0"/>
              <a:t>The initial weight vector is (0, −2). </a:t>
            </a:r>
          </a:p>
          <a:p>
            <a:pPr marL="0" indent="0">
              <a:buNone/>
            </a:pPr>
            <a:r>
              <a:rPr lang="en-GB" dirty="0"/>
              <a:t>Draw the feasible regions in weight space. </a:t>
            </a:r>
          </a:p>
          <a:p>
            <a:pPr marL="0" indent="0">
              <a:buNone/>
            </a:pPr>
            <a:r>
              <a:rPr lang="en-GB" dirty="0"/>
              <a:t>	Draw the axes in weight space w1,w2. </a:t>
            </a:r>
          </a:p>
          <a:p>
            <a:pPr marL="0" indent="0">
              <a:buNone/>
            </a:pPr>
            <a:r>
              <a:rPr lang="en-GB" dirty="0"/>
              <a:t>	Draw each data point as a line that separates “good” and “bad” regions. </a:t>
            </a:r>
          </a:p>
          <a:p>
            <a:pPr marL="0" indent="0">
              <a:buNone/>
            </a:pPr>
            <a:r>
              <a:rPr lang="en-GB" dirty="0"/>
              <a:t>	Shade the feasible region. </a:t>
            </a:r>
          </a:p>
          <a:p>
            <a:pPr marL="0" indent="0">
              <a:buNone/>
            </a:pPr>
            <a:r>
              <a:rPr lang="en-GB" dirty="0"/>
              <a:t>Carry out the perceptron algorithm until you get a feasible solution. It’s easiest to do it on the plot you made. </a:t>
            </a:r>
          </a:p>
          <a:p>
            <a:pPr marL="0" indent="0">
              <a:buNone/>
            </a:pPr>
            <a:r>
              <a:rPr lang="en-GB" dirty="0"/>
              <a:t>Here is the algorithm - Choose a data point x with target t Compute y =  1 if </a:t>
            </a:r>
            <a:r>
              <a:rPr lang="en-GB" dirty="0" err="1"/>
              <a:t>wT</a:t>
            </a:r>
            <a:r>
              <a:rPr lang="en-GB" dirty="0"/>
              <a:t> x ≥ 0 0 otherwise If y 6= t, then update w ← w + (t − y)x</a:t>
            </a:r>
          </a:p>
        </p:txBody>
      </p:sp>
    </p:spTree>
    <p:extLst>
      <p:ext uri="{BB962C8B-B14F-4D97-AF65-F5344CB8AC3E}">
        <p14:creationId xmlns:p14="http://schemas.microsoft.com/office/powerpoint/2010/main" val="32854373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1800</TotalTime>
  <Words>1570</Words>
  <Application>Microsoft Office PowerPoint</Application>
  <PresentationFormat>Widescreen</PresentationFormat>
  <Paragraphs>142</Paragraphs>
  <Slides>13</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Aptos Light</vt:lpstr>
      <vt:lpstr>Arial</vt:lpstr>
      <vt:lpstr>Cambria Math</vt:lpstr>
      <vt:lpstr>Office Theme</vt:lpstr>
      <vt:lpstr>Perceptrons: The Building Block of Neural Networks</vt:lpstr>
      <vt:lpstr>Introduction to Artificial Neural Networks</vt:lpstr>
      <vt:lpstr>The Perceptron: A Simple Artificial Neuron</vt:lpstr>
      <vt:lpstr>Learning in Perceptrons</vt:lpstr>
      <vt:lpstr>Learning Process</vt:lpstr>
      <vt:lpstr>Applications of Perceptrons</vt:lpstr>
      <vt:lpstr>Limitations of Perceptrons</vt:lpstr>
      <vt:lpstr>Structure of a Perceptron:</vt:lpstr>
      <vt:lpstr>Perceptron Model</vt:lpstr>
      <vt:lpstr>Weighted Sum equation.</vt:lpstr>
      <vt:lpstr>Question 1: Perceptron example</vt:lpstr>
      <vt:lpstr>Question 1: Example</vt:lpstr>
      <vt:lpstr>Question 1: Perceptron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Perceptrons: The Building Block of Neural Networks</dc:title>
  <dc:creator>Isaac Makosa</dc:creator>
  <cp:lastModifiedBy>Isaac Makosa</cp:lastModifiedBy>
  <cp:revision>4</cp:revision>
  <dcterms:created xsi:type="dcterms:W3CDTF">2024-05-25T15:07:36Z</dcterms:created>
  <dcterms:modified xsi:type="dcterms:W3CDTF">2024-05-26T21:07:45Z</dcterms:modified>
</cp:coreProperties>
</file>