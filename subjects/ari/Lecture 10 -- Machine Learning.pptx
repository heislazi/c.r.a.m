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1" r:id="rId6"/>
    <p:sldId id="260" r:id="rId7"/>
    <p:sldId id="262" r:id="rId8"/>
    <p:sldId id="292" r:id="rId9"/>
    <p:sldId id="263" r:id="rId10"/>
    <p:sldId id="264" r:id="rId11"/>
    <p:sldId id="265" r:id="rId12"/>
    <p:sldId id="266" r:id="rId13"/>
    <p:sldId id="267" r:id="rId14"/>
    <p:sldId id="268" r:id="rId15"/>
    <p:sldId id="269" r:id="rId16"/>
    <p:sldId id="270" r:id="rId17"/>
    <p:sldId id="272" r:id="rId18"/>
    <p:sldId id="274" r:id="rId19"/>
    <p:sldId id="271"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831" autoAdjust="0"/>
  </p:normalViewPr>
  <p:slideViewPr>
    <p:cSldViewPr snapToGrid="0">
      <p:cViewPr varScale="1">
        <p:scale>
          <a:sx n="76" d="100"/>
          <a:sy n="76" d="100"/>
        </p:scale>
        <p:origin x="191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3F3BF2-9701-4F02-8A29-70B345C8AD1D}" type="datetimeFigureOut">
              <a:rPr lang="en-GB" smtClean="0"/>
              <a:t>08/05/2024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850A3-516E-4CB9-B81C-61515DD15E35}" type="slidenum">
              <a:rPr lang="en-GB" smtClean="0"/>
              <a:t>‹#›</a:t>
            </a:fld>
            <a:endParaRPr lang="en-GB"/>
          </a:p>
        </p:txBody>
      </p:sp>
    </p:spTree>
    <p:extLst>
      <p:ext uri="{BB962C8B-B14F-4D97-AF65-F5344CB8AC3E}">
        <p14:creationId xmlns:p14="http://schemas.microsoft.com/office/powerpoint/2010/main" val="3377533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Even though we want to build AI systems, it's often difficult to clearly define the exact knowledge we need to give them.</a:t>
            </a:r>
          </a:p>
          <a:p>
            <a:endParaRPr lang="en-GB" dirty="0"/>
          </a:p>
          <a:p>
            <a:r>
              <a:rPr lang="en-GB" b="1" dirty="0"/>
              <a:t>Implicit Knowledge:</a:t>
            </a:r>
            <a:r>
              <a:rPr lang="en-GB" dirty="0"/>
              <a:t> A lot of human knowledge is implicit, meaning it's not explicitly stated. We can perform actions or understand situations without necessarily being able to explain every step in detail. For example, riding a bike requires balancing, turning, and </a:t>
            </a:r>
            <a:r>
              <a:rPr lang="en-GB" dirty="0" err="1"/>
              <a:t>pedaling</a:t>
            </a:r>
            <a:r>
              <a:rPr lang="en-GB" dirty="0"/>
              <a:t>, but we might not be able to explain exactly how we do it all at once. AI systems need this kind of knowledge translated into a way they can understand and use.</a:t>
            </a:r>
          </a:p>
          <a:p>
            <a:endParaRPr lang="en-GB" dirty="0"/>
          </a:p>
          <a:p>
            <a:r>
              <a:rPr lang="en-GB" b="1" dirty="0"/>
              <a:t>Unidentified Needs:</a:t>
            </a:r>
            <a:r>
              <a:rPr lang="en-GB" dirty="0"/>
              <a:t> As we build AI, we might discover entirely new types of knowledge the system needs that we hadn't considered before. This can be a challenge because how can you define something you don't even know exists? </a:t>
            </a:r>
            <a:r>
              <a:rPr lang="en-GB" b="1" dirty="0"/>
              <a:t>Formalizing Knowledge:</a:t>
            </a:r>
            <a:r>
              <a:rPr lang="en-GB" dirty="0"/>
              <a:t> Even for knowledge we can explain, expressing it in a way a computer can understand can be tricky. Our language has complexities and nuances that aren't easy to translate into computer code.</a:t>
            </a:r>
          </a:p>
          <a:p>
            <a:endParaRPr lang="en-GB" dirty="0"/>
          </a:p>
          <a:p>
            <a:r>
              <a:rPr lang="en-GB" dirty="0"/>
              <a:t>So far, we have talked a lot about building systems that have knowledge represented in them explicitly. One way to acquire that knowledge is to build it in by hand. But that can be </a:t>
            </a:r>
            <a:r>
              <a:rPr lang="en-GB" dirty="0" err="1"/>
              <a:t>timeconsuming</a:t>
            </a:r>
            <a:r>
              <a:rPr lang="en-GB" dirty="0"/>
              <a:t> and error prone. And many times, humans just don't have the relevant information available to them. </a:t>
            </a:r>
          </a:p>
          <a:p>
            <a:endParaRPr lang="en-GB" dirty="0"/>
          </a:p>
          <a:p>
            <a:r>
              <a:rPr lang="en-GB" dirty="0"/>
              <a:t>For instance, you are all experts in visual object recognition. But it's unlikely that you could sit down and write a program that would do the job even remotely as well as you can. </a:t>
            </a:r>
          </a:p>
          <a:p>
            <a:endParaRPr lang="en-GB" dirty="0"/>
          </a:p>
          <a:p>
            <a:r>
              <a:rPr lang="en-GB" dirty="0"/>
              <a:t>But, in lots of cases, when we don't have direct access to a formal description of a problem, we can learn something about it from examples. </a:t>
            </a:r>
          </a:p>
        </p:txBody>
      </p:sp>
      <p:sp>
        <p:nvSpPr>
          <p:cNvPr id="4" name="Slide Number Placeholder 3"/>
          <p:cNvSpPr>
            <a:spLocks noGrp="1"/>
          </p:cNvSpPr>
          <p:nvPr>
            <p:ph type="sldNum" sz="quarter" idx="5"/>
          </p:nvPr>
        </p:nvSpPr>
        <p:spPr/>
        <p:txBody>
          <a:bodyPr/>
          <a:lstStyle/>
          <a:p>
            <a:fld id="{D37850A3-516E-4CB9-B81C-61515DD15E35}" type="slidenum">
              <a:rPr lang="en-GB" smtClean="0"/>
              <a:t>2</a:t>
            </a:fld>
            <a:endParaRPr lang="en-GB"/>
          </a:p>
        </p:txBody>
      </p:sp>
    </p:spTree>
    <p:extLst>
      <p:ext uri="{BB962C8B-B14F-4D97-AF65-F5344CB8AC3E}">
        <p14:creationId xmlns:p14="http://schemas.microsoft.com/office/powerpoint/2010/main" val="1282484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word "learning" has many different meanings. It is used, at least, to describe </a:t>
            </a:r>
          </a:p>
          <a:p>
            <a:r>
              <a:rPr lang="en-GB" dirty="0"/>
              <a:t>● memorizing something </a:t>
            </a:r>
          </a:p>
          <a:p>
            <a:r>
              <a:rPr lang="en-GB" dirty="0"/>
              <a:t>● learning facts through observation and exploration </a:t>
            </a:r>
          </a:p>
          <a:p>
            <a:r>
              <a:rPr lang="en-GB" dirty="0"/>
              <a:t>● development of motor and/or cognitive skills through practice</a:t>
            </a:r>
          </a:p>
          <a:p>
            <a:r>
              <a:rPr lang="en-GB" dirty="0"/>
              <a:t>● organization of new knowledge into general, effective representations</a:t>
            </a:r>
          </a:p>
          <a:p>
            <a:endParaRPr lang="en-GB" dirty="0"/>
          </a:p>
          <a:p>
            <a:endParaRPr lang="en-GB" dirty="0"/>
          </a:p>
          <a:p>
            <a:r>
              <a:rPr lang="en-GB" dirty="0"/>
              <a:t>Herb Simon (an important historical figure in AI and in Economics) gave us this definition of learning:</a:t>
            </a:r>
          </a:p>
          <a:p>
            <a:endParaRPr lang="en-GB" dirty="0"/>
          </a:p>
          <a:p>
            <a:r>
              <a:rPr lang="en-GB" i="1" dirty="0"/>
              <a:t>Learning denotes changes in the system that are adaptive in the sense that they enable the system to do the task or tasks drawn from the same population more efficiently and more effectively the next time. </a:t>
            </a:r>
          </a:p>
          <a:p>
            <a:endParaRPr lang="en-GB" dirty="0"/>
          </a:p>
          <a:p>
            <a:r>
              <a:rPr lang="en-GB" dirty="0"/>
              <a:t>This is not entirely precise, but it gives us the idea that learning systems have to acquire some information from examples of a problem, and perform better because of it (so we wouldn't call a system that simply logs all the images it has ever seen a learning system, because, although, in some sense, it knows a lot, it can't take advantage of its knowledge)</a:t>
            </a:r>
          </a:p>
        </p:txBody>
      </p:sp>
      <p:sp>
        <p:nvSpPr>
          <p:cNvPr id="4" name="Slide Number Placeholder 3"/>
          <p:cNvSpPr>
            <a:spLocks noGrp="1"/>
          </p:cNvSpPr>
          <p:nvPr>
            <p:ph type="sldNum" sz="quarter" idx="5"/>
          </p:nvPr>
        </p:nvSpPr>
        <p:spPr/>
        <p:txBody>
          <a:bodyPr/>
          <a:lstStyle/>
          <a:p>
            <a:fld id="{D37850A3-516E-4CB9-B81C-61515DD15E35}" type="slidenum">
              <a:rPr lang="en-GB" smtClean="0"/>
              <a:t>3</a:t>
            </a:fld>
            <a:endParaRPr lang="en-GB"/>
          </a:p>
        </p:txBody>
      </p:sp>
    </p:spTree>
    <p:extLst>
      <p:ext uri="{BB962C8B-B14F-4D97-AF65-F5344CB8AC3E}">
        <p14:creationId xmlns:p14="http://schemas.microsoft.com/office/powerpoint/2010/main" val="376776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of the most common kinds of learning is the acquisition of information with the goal of making predictions about the future. But what exactly gives us license to imagine we can predict the future? Lots of philosophers have thought about this problem. David Hume first framed the problem of induction as follows:</a:t>
            </a:r>
          </a:p>
          <a:p>
            <a:r>
              <a:rPr lang="en-GB" dirty="0"/>
              <a:t>● Piece of bread number 1 was nourishing when I ate it. </a:t>
            </a:r>
          </a:p>
          <a:p>
            <a:r>
              <a:rPr lang="en-GB" dirty="0"/>
              <a:t>● Piece of bread number 2 was nourishing when I ate it. </a:t>
            </a:r>
          </a:p>
          <a:p>
            <a:r>
              <a:rPr lang="en-GB" dirty="0"/>
              <a:t>● Piece of bread number 3 was nourishing when I ate it. </a:t>
            </a:r>
          </a:p>
          <a:p>
            <a:r>
              <a:rPr lang="en-GB" dirty="0"/>
              <a:t>● Piece of bread number 100 was nourishing when I ate it. </a:t>
            </a:r>
          </a:p>
          <a:p>
            <a:r>
              <a:rPr lang="en-GB" dirty="0"/>
              <a:t>● Therefore, all pieces of bread will be nourishing if I eat them.</a:t>
            </a:r>
          </a:p>
        </p:txBody>
      </p:sp>
      <p:sp>
        <p:nvSpPr>
          <p:cNvPr id="4" name="Slide Number Placeholder 3"/>
          <p:cNvSpPr>
            <a:spLocks noGrp="1"/>
          </p:cNvSpPr>
          <p:nvPr>
            <p:ph type="sldNum" sz="quarter" idx="5"/>
          </p:nvPr>
        </p:nvSpPr>
        <p:spPr/>
        <p:txBody>
          <a:bodyPr/>
          <a:lstStyle/>
          <a:p>
            <a:fld id="{D37850A3-516E-4CB9-B81C-61515DD15E35}" type="slidenum">
              <a:rPr lang="en-GB" smtClean="0"/>
              <a:t>4</a:t>
            </a:fld>
            <a:endParaRPr lang="en-GB"/>
          </a:p>
        </p:txBody>
      </p:sp>
    </p:spTree>
    <p:extLst>
      <p:ext uri="{BB962C8B-B14F-4D97-AF65-F5344CB8AC3E}">
        <p14:creationId xmlns:p14="http://schemas.microsoft.com/office/powerpoint/2010/main" val="3768255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Imagine you see several swans in your life, and all of them are white. Through inductive reasoning, you might conclude that all swans are white. This conclusion is based on the specific observations you've made, but it might not be entirely true (there are black swans after all!).</a:t>
            </a:r>
          </a:p>
        </p:txBody>
      </p:sp>
      <p:sp>
        <p:nvSpPr>
          <p:cNvPr id="4" name="Slide Number Placeholder 3"/>
          <p:cNvSpPr>
            <a:spLocks noGrp="1"/>
          </p:cNvSpPr>
          <p:nvPr>
            <p:ph type="sldNum" sz="quarter" idx="5"/>
          </p:nvPr>
        </p:nvSpPr>
        <p:spPr/>
        <p:txBody>
          <a:bodyPr/>
          <a:lstStyle/>
          <a:p>
            <a:fld id="{D37850A3-516E-4CB9-B81C-61515DD15E35}" type="slidenum">
              <a:rPr lang="en-GB" smtClean="0"/>
              <a:t>5</a:t>
            </a:fld>
            <a:endParaRPr lang="en-GB"/>
          </a:p>
        </p:txBody>
      </p:sp>
    </p:spTree>
    <p:extLst>
      <p:ext uri="{BB962C8B-B14F-4D97-AF65-F5344CB8AC3E}">
        <p14:creationId xmlns:p14="http://schemas.microsoft.com/office/powerpoint/2010/main" val="2065080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and why is it okay to apply inductive reasoning?? My </a:t>
            </a:r>
            <a:r>
              <a:rPr lang="en-GB" dirty="0" err="1"/>
              <a:t>favorite</a:t>
            </a:r>
            <a:r>
              <a:rPr lang="en-GB" dirty="0"/>
              <a:t> quote on the subject is the following, </a:t>
            </a:r>
            <a:r>
              <a:rPr lang="en-GB" dirty="0" err="1"/>
              <a:t>exerpted</a:t>
            </a:r>
            <a:r>
              <a:rPr lang="en-GB" dirty="0"/>
              <a:t> from Bertrand Russell's "On Induction":</a:t>
            </a:r>
          </a:p>
          <a:p>
            <a:endParaRPr lang="en-GB" dirty="0"/>
          </a:p>
          <a:p>
            <a:r>
              <a:rPr lang="en-GB" dirty="0"/>
              <a:t>If asked why we believe the sun will rise tomorrow, we shall naturally answer, 'Because it has always risen every day.' We have a firm belief that it will rise in the future, because it has risen in the past. </a:t>
            </a:r>
          </a:p>
          <a:p>
            <a:endParaRPr lang="en-GB" dirty="0"/>
          </a:p>
          <a:p>
            <a:r>
              <a:rPr lang="en-GB" dirty="0"/>
              <a:t>The real question is: Do any number of cases of a law being fulfilled in the past afford evidence that it will be fulfilled in the future? </a:t>
            </a:r>
          </a:p>
        </p:txBody>
      </p:sp>
      <p:sp>
        <p:nvSpPr>
          <p:cNvPr id="4" name="Slide Number Placeholder 3"/>
          <p:cNvSpPr>
            <a:spLocks noGrp="1"/>
          </p:cNvSpPr>
          <p:nvPr>
            <p:ph type="sldNum" sz="quarter" idx="5"/>
          </p:nvPr>
        </p:nvSpPr>
        <p:spPr/>
        <p:txBody>
          <a:bodyPr/>
          <a:lstStyle/>
          <a:p>
            <a:fld id="{D37850A3-516E-4CB9-B81C-61515DD15E35}" type="slidenum">
              <a:rPr lang="en-GB" smtClean="0"/>
              <a:t>6</a:t>
            </a:fld>
            <a:endParaRPr lang="en-GB"/>
          </a:p>
        </p:txBody>
      </p:sp>
    </p:spTree>
    <p:extLst>
      <p:ext uri="{BB962C8B-B14F-4D97-AF65-F5344CB8AC3E}">
        <p14:creationId xmlns:p14="http://schemas.microsoft.com/office/powerpoint/2010/main" val="3137041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viewed technically, there are lots of different kinds of machine learning problems. We'll just sketch them out here, so you get an idea of their range.</a:t>
            </a:r>
          </a:p>
          <a:p>
            <a:endParaRPr lang="en-GB" dirty="0"/>
          </a:p>
          <a:p>
            <a:r>
              <a:rPr lang="en-GB" b="1" dirty="0"/>
              <a:t>Supervised learning </a:t>
            </a:r>
            <a:r>
              <a:rPr lang="en-GB" dirty="0"/>
              <a:t>is the most common learning problem. Let's say you are given the weights and lengths of a bunch of individual salmon fish, and the weights and lengths of a bunch of individual tuna fish. The job of a supervised learning system would be to find a predictive rule that, given the weight and length of a fish, would predict whether it was a salmon or a tuna.</a:t>
            </a:r>
          </a:p>
          <a:p>
            <a:endParaRPr lang="en-GB" dirty="0"/>
          </a:p>
          <a:p>
            <a:r>
              <a:rPr lang="en-GB" dirty="0"/>
              <a:t>Another, somewhat less well-specified, learning problem is </a:t>
            </a:r>
            <a:r>
              <a:rPr lang="en-GB" b="1" dirty="0"/>
              <a:t>clustering</a:t>
            </a:r>
            <a:r>
              <a:rPr lang="en-GB" dirty="0"/>
              <a:t>. Now you're given the descriptions of a bunch of different individual animals (or stars, or documents) in terms of a set of features (weight, number of legs, presence of hair, etc), and your job is to divide them into groups, or possibly into a hierarchy of groups that "makes sense". What makes this different from supervised learning is that you're not told in advance what groups the animals should be put into; just that you should find a natural grouping. </a:t>
            </a:r>
          </a:p>
          <a:p>
            <a:endParaRPr lang="en-GB" dirty="0"/>
          </a:p>
          <a:p>
            <a:r>
              <a:rPr lang="en-GB" dirty="0"/>
              <a:t>Another learning problem, familiar to most of us, is learning motor skills, like riding a bike. We call this </a:t>
            </a:r>
            <a:r>
              <a:rPr lang="en-GB" b="1" dirty="0"/>
              <a:t>reinforcement learning</a:t>
            </a:r>
            <a:r>
              <a:rPr lang="en-GB" dirty="0"/>
              <a:t>. It's different from supervised learning because no-one explicitly tells you the right thing to do; you just have to try things and see what makes you fall over and what keeps you upright. </a:t>
            </a:r>
          </a:p>
          <a:p>
            <a:endParaRPr lang="en-GB" dirty="0"/>
          </a:p>
          <a:p>
            <a:r>
              <a:rPr lang="en-GB" dirty="0"/>
              <a:t>Supervised learning is the most straightforward, prevalent, and well-studied version of the learning problem, so we are going to start with it, and spend most of our time on it. Most of the fundamental insights into machine learning can be seen in the supervised case.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7</a:t>
            </a:fld>
            <a:endParaRPr lang="en-GB"/>
          </a:p>
        </p:txBody>
      </p:sp>
    </p:spTree>
    <p:extLst>
      <p:ext uri="{BB962C8B-B14F-4D97-AF65-F5344CB8AC3E}">
        <p14:creationId xmlns:p14="http://schemas.microsoft.com/office/powerpoint/2010/main" val="247455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viewed technically, there are lots of different kinds of machine learning problems. We'll just sketch them out here, so you get an idea of their range.</a:t>
            </a:r>
          </a:p>
          <a:p>
            <a:endParaRPr lang="en-GB" dirty="0"/>
          </a:p>
          <a:p>
            <a:r>
              <a:rPr lang="en-GB" b="1" dirty="0"/>
              <a:t>Supervised learning </a:t>
            </a:r>
            <a:r>
              <a:rPr lang="en-GB" dirty="0"/>
              <a:t>is the most common learning problem. Let's say you are given the weights and lengths of a bunch of individual salmon fish, and the weights and lengths of a bunch of individual tuna fish. The job of a supervised learning system would be to find a predictive rule that, given the weight and length of a fish, would predict whether it was a salmon or a tuna.</a:t>
            </a:r>
          </a:p>
          <a:p>
            <a:endParaRPr lang="en-GB" dirty="0"/>
          </a:p>
          <a:p>
            <a:r>
              <a:rPr lang="en-GB" dirty="0"/>
              <a:t>Another, somewhat less well-specified, learning problem is </a:t>
            </a:r>
            <a:r>
              <a:rPr lang="en-GB" b="1" dirty="0"/>
              <a:t>clustering</a:t>
            </a:r>
            <a:r>
              <a:rPr lang="en-GB" dirty="0"/>
              <a:t>. Now you're given the descriptions of a bunch of different individual animals (or stars, or documents) in terms of a set of features (weight, number of legs, presence of hair, etc), and your job is to divide them into groups, or possibly into a hierarchy of groups that "makes sense". What makes this different from supervised learning is that you're not told in advance what groups the animals should be put into; just that you should find a natural grouping. </a:t>
            </a:r>
          </a:p>
          <a:p>
            <a:endParaRPr lang="en-GB" dirty="0"/>
          </a:p>
          <a:p>
            <a:r>
              <a:rPr lang="en-GB" dirty="0"/>
              <a:t>Another learning problem, familiar to most of us, is learning motor skills, like riding a bike. We call this </a:t>
            </a:r>
            <a:r>
              <a:rPr lang="en-GB" b="1" dirty="0"/>
              <a:t>reinforcement learning</a:t>
            </a:r>
            <a:r>
              <a:rPr lang="en-GB" dirty="0"/>
              <a:t>. It's different from supervised learning because no-one explicitly tells you the right thing to do; you just have to try things and see what makes you fall over and what keeps you upright. </a:t>
            </a:r>
          </a:p>
          <a:p>
            <a:endParaRPr lang="en-GB" dirty="0"/>
          </a:p>
          <a:p>
            <a:r>
              <a:rPr lang="en-GB" dirty="0"/>
              <a:t>Supervised learning is the most straightforward, prevalent, and well-studied version of the learning problem, so we are going to start with it, and spend most of our time on it. Most of the fundamental insights into machine learning can be seen in the supervised case.</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8</a:t>
            </a:fld>
            <a:endParaRPr lang="en-GB"/>
          </a:p>
        </p:txBody>
      </p:sp>
    </p:spTree>
    <p:extLst>
      <p:ext uri="{BB962C8B-B14F-4D97-AF65-F5344CB8AC3E}">
        <p14:creationId xmlns:p14="http://schemas.microsoft.com/office/powerpoint/2010/main" val="2133113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way to think about learning is that you're trying to find the definition of a function, given a bunch of examples of its input and output. This might seem like a pretty narrow definition, but it actually covers a lot of cases. </a:t>
            </a:r>
          </a:p>
          <a:p>
            <a:endParaRPr lang="en-GB" dirty="0"/>
          </a:p>
          <a:p>
            <a:endParaRPr lang="en-GB" dirty="0"/>
          </a:p>
          <a:p>
            <a:r>
              <a:rPr lang="en-GB" dirty="0"/>
              <a:t>● Learning how to pronounce words can be thought of as finding a function from letters to sounds. </a:t>
            </a:r>
          </a:p>
          <a:p>
            <a:r>
              <a:rPr lang="en-GB" dirty="0"/>
              <a:t>● Learning how to throw a ball can be thought of as finding a function from target locations to joint torques. </a:t>
            </a:r>
          </a:p>
          <a:p>
            <a:r>
              <a:rPr lang="en-GB" dirty="0"/>
              <a:t>● Learning to recognize handwritten characters can be thought of as finding a function from collections of image pixels to letters. </a:t>
            </a:r>
          </a:p>
          <a:p>
            <a:r>
              <a:rPr lang="en-GB" dirty="0"/>
              <a:t>● Learning to diagnose diseases can be thought of as finding a function from lab test results to disease categories. </a:t>
            </a:r>
          </a:p>
          <a:p>
            <a:endParaRPr lang="en-GB" dirty="0"/>
          </a:p>
          <a:p>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9</a:t>
            </a:fld>
            <a:endParaRPr lang="en-GB"/>
          </a:p>
        </p:txBody>
      </p:sp>
    </p:spTree>
    <p:extLst>
      <p:ext uri="{BB962C8B-B14F-4D97-AF65-F5344CB8AC3E}">
        <p14:creationId xmlns:p14="http://schemas.microsoft.com/office/powerpoint/2010/main" val="93477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Machine Learning:</a:t>
            </a:r>
            <a:r>
              <a:rPr lang="en-GB" dirty="0"/>
              <a:t> In machine learning, a function is often an algorithm used to make predictions or classifications. Function learning here involves training a model to perform a specific task, like image recognition.</a:t>
            </a:r>
          </a:p>
          <a:p>
            <a:endParaRPr lang="en-GB" dirty="0"/>
          </a:p>
          <a:p>
            <a:endParaRPr lang="en-GB" dirty="0"/>
          </a:p>
          <a:p>
            <a:r>
              <a:rPr lang="en-GB" dirty="0"/>
              <a:t>The problem of learning a function from examples, is complicated. You can think of at least three different problems being involved: memory, averaging, and generalization. We'll look at each of these problems, by example. </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10</a:t>
            </a:fld>
            <a:endParaRPr lang="en-GB"/>
          </a:p>
        </p:txBody>
      </p:sp>
    </p:spTree>
    <p:extLst>
      <p:ext uri="{BB962C8B-B14F-4D97-AF65-F5344CB8AC3E}">
        <p14:creationId xmlns:p14="http://schemas.microsoft.com/office/powerpoint/2010/main" val="604243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We'll do this in the context of a silly example problem. Imagine that I'm trying predict whether my </a:t>
            </a:r>
            <a:r>
              <a:rPr lang="en-GB" dirty="0" err="1"/>
              <a:t>neighbor</a:t>
            </a:r>
            <a:r>
              <a:rPr lang="en-GB" dirty="0"/>
              <a:t> is going to drive into work tomorrow, so I can ask for a ride. Whether she drives into work seems to depend on the following attributes of the day: the temperature, what kind of precipitation is expected, the day of the week, whether she needs to shop on the way home, and what she's wearing</a:t>
            </a:r>
          </a:p>
        </p:txBody>
      </p:sp>
      <p:sp>
        <p:nvSpPr>
          <p:cNvPr id="4" name="Slide Number Placeholder 3"/>
          <p:cNvSpPr>
            <a:spLocks noGrp="1"/>
          </p:cNvSpPr>
          <p:nvPr>
            <p:ph type="sldNum" sz="quarter" idx="5"/>
          </p:nvPr>
        </p:nvSpPr>
        <p:spPr/>
        <p:txBody>
          <a:bodyPr/>
          <a:lstStyle/>
          <a:p>
            <a:fld id="{D37850A3-516E-4CB9-B81C-61515DD15E35}" type="slidenum">
              <a:rPr lang="en-GB" smtClean="0"/>
              <a:t>11</a:t>
            </a:fld>
            <a:endParaRPr lang="en-GB"/>
          </a:p>
        </p:txBody>
      </p:sp>
    </p:spTree>
    <p:extLst>
      <p:ext uri="{BB962C8B-B14F-4D97-AF65-F5344CB8AC3E}">
        <p14:creationId xmlns:p14="http://schemas.microsoft.com/office/powerpoint/2010/main" val="3795681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Okay. Let's say we observe our </a:t>
            </a:r>
            <a:r>
              <a:rPr lang="en-GB" dirty="0" err="1"/>
              <a:t>neighbor</a:t>
            </a:r>
            <a:r>
              <a:rPr lang="en-GB" dirty="0"/>
              <a:t> on three days, which are described in the table, which specifies the properties of the days and whether or not the </a:t>
            </a:r>
            <a:r>
              <a:rPr lang="en-GB" dirty="0" err="1"/>
              <a:t>neighbor</a:t>
            </a:r>
            <a:r>
              <a:rPr lang="en-GB" dirty="0"/>
              <a:t> walked or drove. </a:t>
            </a:r>
          </a:p>
        </p:txBody>
      </p:sp>
      <p:sp>
        <p:nvSpPr>
          <p:cNvPr id="4" name="Slide Number Placeholder 3"/>
          <p:cNvSpPr>
            <a:spLocks noGrp="1"/>
          </p:cNvSpPr>
          <p:nvPr>
            <p:ph type="sldNum" sz="quarter" idx="5"/>
          </p:nvPr>
        </p:nvSpPr>
        <p:spPr/>
        <p:txBody>
          <a:bodyPr/>
          <a:lstStyle/>
          <a:p>
            <a:fld id="{D37850A3-516E-4CB9-B81C-61515DD15E35}" type="slidenum">
              <a:rPr lang="en-GB" smtClean="0"/>
              <a:t>12</a:t>
            </a:fld>
            <a:endParaRPr lang="en-GB"/>
          </a:p>
        </p:txBody>
      </p:sp>
    </p:spTree>
    <p:extLst>
      <p:ext uri="{BB962C8B-B14F-4D97-AF65-F5344CB8AC3E}">
        <p14:creationId xmlns:p14="http://schemas.microsoft.com/office/powerpoint/2010/main" val="2518170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standard answer in this case is "yes". This day is just like one of the ones we've seen before, and so it seems like a good bet to predict "yes." This is about the most rudimentary form of learning, which is just to memorize the things you've seen before. Still, it can help you do a better job in the future, if those same cases arise again.</a:t>
            </a:r>
          </a:p>
        </p:txBody>
      </p:sp>
      <p:sp>
        <p:nvSpPr>
          <p:cNvPr id="4" name="Slide Number Placeholder 3"/>
          <p:cNvSpPr>
            <a:spLocks noGrp="1"/>
          </p:cNvSpPr>
          <p:nvPr>
            <p:ph type="sldNum" sz="quarter" idx="5"/>
          </p:nvPr>
        </p:nvSpPr>
        <p:spPr/>
        <p:txBody>
          <a:bodyPr/>
          <a:lstStyle/>
          <a:p>
            <a:fld id="{D37850A3-516E-4CB9-B81C-61515DD15E35}" type="slidenum">
              <a:rPr lang="en-GB" smtClean="0"/>
              <a:t>13</a:t>
            </a:fld>
            <a:endParaRPr lang="en-GB"/>
          </a:p>
        </p:txBody>
      </p:sp>
    </p:spTree>
    <p:extLst>
      <p:ext uri="{BB962C8B-B14F-4D97-AF65-F5344CB8AC3E}">
        <p14:creationId xmlns:p14="http://schemas.microsoft.com/office/powerpoint/2010/main" val="3588859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find ourselves on a rainy 10-degree Monday, when the </a:t>
            </a:r>
            <a:r>
              <a:rPr lang="en-GB" dirty="0" err="1"/>
              <a:t>neighbor</a:t>
            </a:r>
            <a:r>
              <a:rPr lang="en-GB" dirty="0"/>
              <a:t> is wearing casual clothes and going shopping. Do you think she's going to drive?</a:t>
            </a:r>
          </a:p>
          <a:p>
            <a:endParaRPr lang="en-GB" dirty="0"/>
          </a:p>
          <a:p>
            <a:r>
              <a:rPr lang="en-GB" dirty="0"/>
              <a:t>The standard answer in this case is "yes". This day is just like one of the ones we've seen before, and so it seems like a good bet to predict "yes." This is about the most rudimentary form of learning, which is just to memorize the things you've seen before. Still, it can help you do a better job in the future, if those same cases arise again.</a:t>
            </a:r>
          </a:p>
        </p:txBody>
      </p:sp>
      <p:sp>
        <p:nvSpPr>
          <p:cNvPr id="4" name="Slide Number Placeholder 3"/>
          <p:cNvSpPr>
            <a:spLocks noGrp="1"/>
          </p:cNvSpPr>
          <p:nvPr>
            <p:ph type="sldNum" sz="quarter" idx="5"/>
          </p:nvPr>
        </p:nvSpPr>
        <p:spPr/>
        <p:txBody>
          <a:bodyPr/>
          <a:lstStyle/>
          <a:p>
            <a:fld id="{D37850A3-516E-4CB9-B81C-61515DD15E35}" type="slidenum">
              <a:rPr lang="en-GB" smtClean="0"/>
              <a:t>14</a:t>
            </a:fld>
            <a:endParaRPr lang="en-GB"/>
          </a:p>
        </p:txBody>
      </p:sp>
    </p:spTree>
    <p:extLst>
      <p:ext uri="{BB962C8B-B14F-4D97-AF65-F5344CB8AC3E}">
        <p14:creationId xmlns:p14="http://schemas.microsoft.com/office/powerpoint/2010/main" val="50647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we ask you to predict what's going to happen. You've certainly seen this case before. But the problem is that it has had different answers. Our </a:t>
            </a:r>
            <a:r>
              <a:rPr lang="en-GB" dirty="0" err="1"/>
              <a:t>neighbor</a:t>
            </a:r>
            <a:r>
              <a:rPr lang="en-GB" dirty="0"/>
              <a:t> is not entirely reliable. </a:t>
            </a:r>
          </a:p>
          <a:p>
            <a:endParaRPr lang="en-GB" dirty="0"/>
          </a:p>
          <a:p>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15</a:t>
            </a:fld>
            <a:endParaRPr lang="en-GB"/>
          </a:p>
        </p:txBody>
      </p:sp>
    </p:spTree>
    <p:extLst>
      <p:ext uri="{BB962C8B-B14F-4D97-AF65-F5344CB8AC3E}">
        <p14:creationId xmlns:p14="http://schemas.microsoft.com/office/powerpoint/2010/main" val="2701147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a couple of plausible strategies here. One would be to predict the majority outcome. The </a:t>
            </a:r>
            <a:r>
              <a:rPr lang="en-GB" dirty="0" err="1"/>
              <a:t>neighbor</a:t>
            </a:r>
            <a:r>
              <a:rPr lang="en-GB" dirty="0"/>
              <a:t> walked more times than she drove in this situation, so we might predict "walk". Another option would be to decline to commit to one prediction, but to generate a probability instead. You might answer that you think, with probability 5/7, she will walk. </a:t>
            </a:r>
          </a:p>
          <a:p>
            <a:endParaRPr lang="en-GB" dirty="0"/>
          </a:p>
          <a:p>
            <a:r>
              <a:rPr lang="en-GB" dirty="0"/>
              <a:t>In this course, we'll give a treatment of machine learning that doesn't really rely on probability. But in many cases, the algorithms and concepts we talk about have probabilistic foundations, and there are many more sophisticated techniques that rely on a deep understanding of probability. So, if you like machine learning, take probability, and then take the machine learning class!</a:t>
            </a:r>
          </a:p>
        </p:txBody>
      </p:sp>
      <p:sp>
        <p:nvSpPr>
          <p:cNvPr id="4" name="Slide Number Placeholder 3"/>
          <p:cNvSpPr>
            <a:spLocks noGrp="1"/>
          </p:cNvSpPr>
          <p:nvPr>
            <p:ph type="sldNum" sz="quarter" idx="5"/>
          </p:nvPr>
        </p:nvSpPr>
        <p:spPr/>
        <p:txBody>
          <a:bodyPr/>
          <a:lstStyle/>
          <a:p>
            <a:fld id="{D37850A3-516E-4CB9-B81C-61515DD15E35}" type="slidenum">
              <a:rPr lang="en-GB" smtClean="0"/>
              <a:t>16</a:t>
            </a:fld>
            <a:endParaRPr lang="en-GB"/>
          </a:p>
        </p:txBody>
      </p:sp>
    </p:spTree>
    <p:extLst>
      <p:ext uri="{BB962C8B-B14F-4D97-AF65-F5344CB8AC3E}">
        <p14:creationId xmlns:p14="http://schemas.microsoft.com/office/powerpoint/2010/main" val="464298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another situation in which noise is an issue. This time, the noise has corrupted our descriptions of the situation (our thermometer is somewhat unreliable, as is our ability to assess the formality of the </a:t>
            </a:r>
            <a:r>
              <a:rPr lang="en-GB" dirty="0" err="1"/>
              <a:t>neighbor's</a:t>
            </a:r>
            <a:r>
              <a:rPr lang="en-GB" dirty="0"/>
              <a:t> clothing, given her peculiar taste). </a:t>
            </a:r>
          </a:p>
        </p:txBody>
      </p:sp>
      <p:sp>
        <p:nvSpPr>
          <p:cNvPr id="4" name="Slide Number Placeholder 3"/>
          <p:cNvSpPr>
            <a:spLocks noGrp="1"/>
          </p:cNvSpPr>
          <p:nvPr>
            <p:ph type="sldNum" sz="quarter" idx="5"/>
          </p:nvPr>
        </p:nvSpPr>
        <p:spPr/>
        <p:txBody>
          <a:bodyPr/>
          <a:lstStyle/>
          <a:p>
            <a:fld id="{D37850A3-516E-4CB9-B81C-61515DD15E35}" type="slidenum">
              <a:rPr lang="en-GB" smtClean="0"/>
              <a:t>17</a:t>
            </a:fld>
            <a:endParaRPr lang="en-GB"/>
          </a:p>
        </p:txBody>
      </p:sp>
    </p:spTree>
    <p:extLst>
      <p:ext uri="{BB962C8B-B14F-4D97-AF65-F5344CB8AC3E}">
        <p14:creationId xmlns:p14="http://schemas.microsoft.com/office/powerpoint/2010/main" val="30607063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case, we'd like to recognize that the day that we're asked to do the prediction for is apparently similar to cases we've seen before. It is ultimately impossible to tell whether this day is really different from those other days, or whether our sensors are just acting up. We'll just have to accept that uncertainty. </a:t>
            </a:r>
          </a:p>
          <a:p>
            <a:endParaRPr lang="en-GB" dirty="0"/>
          </a:p>
          <a:p>
            <a:r>
              <a:rPr lang="en-GB" dirty="0"/>
              <a:t>So, we'll have to treat this as an instance of the more general problem of generalization. </a:t>
            </a:r>
          </a:p>
        </p:txBody>
      </p:sp>
      <p:sp>
        <p:nvSpPr>
          <p:cNvPr id="4" name="Slide Number Placeholder 3"/>
          <p:cNvSpPr>
            <a:spLocks noGrp="1"/>
          </p:cNvSpPr>
          <p:nvPr>
            <p:ph type="sldNum" sz="quarter" idx="5"/>
          </p:nvPr>
        </p:nvSpPr>
        <p:spPr/>
        <p:txBody>
          <a:bodyPr/>
          <a:lstStyle/>
          <a:p>
            <a:fld id="{D37850A3-516E-4CB9-B81C-61515DD15E35}" type="slidenum">
              <a:rPr lang="en-GB" smtClean="0"/>
              <a:t>18</a:t>
            </a:fld>
            <a:endParaRPr lang="en-GB"/>
          </a:p>
        </p:txBody>
      </p:sp>
    </p:spTree>
    <p:extLst>
      <p:ext uri="{BB962C8B-B14F-4D97-AF65-F5344CB8AC3E}">
        <p14:creationId xmlns:p14="http://schemas.microsoft.com/office/powerpoint/2010/main" val="4266316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Take a look at this  data set</a:t>
            </a:r>
          </a:p>
        </p:txBody>
      </p:sp>
      <p:sp>
        <p:nvSpPr>
          <p:cNvPr id="4" name="Slide Number Placeholder 3"/>
          <p:cNvSpPr>
            <a:spLocks noGrp="1"/>
          </p:cNvSpPr>
          <p:nvPr>
            <p:ph type="sldNum" sz="quarter" idx="5"/>
          </p:nvPr>
        </p:nvSpPr>
        <p:spPr/>
        <p:txBody>
          <a:bodyPr/>
          <a:lstStyle/>
          <a:p>
            <a:fld id="{D37850A3-516E-4CB9-B81C-61515DD15E35}" type="slidenum">
              <a:rPr lang="en-GB" smtClean="0"/>
              <a:t>19</a:t>
            </a:fld>
            <a:endParaRPr lang="en-GB"/>
          </a:p>
        </p:txBody>
      </p:sp>
    </p:spTree>
    <p:extLst>
      <p:ext uri="{BB962C8B-B14F-4D97-AF65-F5344CB8AC3E}">
        <p14:creationId xmlns:p14="http://schemas.microsoft.com/office/powerpoint/2010/main" val="582744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consider this day. It's 58 degrees and raining on a Monday. The </a:t>
            </a:r>
            <a:r>
              <a:rPr lang="en-GB" dirty="0" err="1"/>
              <a:t>neighbor</a:t>
            </a:r>
            <a:r>
              <a:rPr lang="en-GB" dirty="0"/>
              <a:t> is wearing casual clothing and doesn't need to shop. Will she walk or drive? </a:t>
            </a:r>
          </a:p>
          <a:p>
            <a:endParaRPr lang="en-GB" dirty="0"/>
          </a:p>
          <a:p>
            <a:r>
              <a:rPr lang="en-GB" dirty="0"/>
              <a:t>The first thing to observe is that there's no obviously right answer. We have never seen this case before. We could just throw up our hands and decline to make a prediction. But ultimately, we have to decide whether or not to call the </a:t>
            </a:r>
            <a:r>
              <a:rPr lang="en-GB" dirty="0" err="1"/>
              <a:t>neighbor</a:t>
            </a:r>
            <a:r>
              <a:rPr lang="en-GB" dirty="0"/>
              <a:t>. So, we might fall back on some assumptions about the domain. We might assume, for instance, that there's a kind of smoothness property: similar situations will tend to have similar categories. </a:t>
            </a:r>
          </a:p>
          <a:p>
            <a:endParaRPr lang="en-GB" dirty="0"/>
          </a:p>
          <a:p>
            <a:r>
              <a:rPr lang="en-GB" dirty="0"/>
              <a:t>You might plausibly make any of the following arguments: </a:t>
            </a:r>
          </a:p>
          <a:p>
            <a:r>
              <a:rPr lang="en-GB" dirty="0"/>
              <a:t>● She's going to walk because it's raining today and the only other time it rained, she walked. </a:t>
            </a:r>
          </a:p>
          <a:p>
            <a:r>
              <a:rPr lang="en-GB" dirty="0"/>
              <a:t>● She's going to drive because she has always driven on Mondays. </a:t>
            </a:r>
          </a:p>
          <a:p>
            <a:r>
              <a:rPr lang="en-GB" dirty="0"/>
              <a:t>● She's going to walk because she only drives if she is wearing formal clothes, or if the temperature is above 90 or below 20. </a:t>
            </a:r>
          </a:p>
          <a:p>
            <a:endParaRPr lang="en-GB" dirty="0"/>
          </a:p>
          <a:p>
            <a:r>
              <a:rPr lang="en-GB" dirty="0"/>
              <a:t>The question of which one to choose is hard. It's one of the deep underlying problems of machine learning. We'll look at some examples to try to get more intuition, then come back and revisit it a bit</a:t>
            </a:r>
          </a:p>
        </p:txBody>
      </p:sp>
      <p:sp>
        <p:nvSpPr>
          <p:cNvPr id="4" name="Slide Number Placeholder 3"/>
          <p:cNvSpPr>
            <a:spLocks noGrp="1"/>
          </p:cNvSpPr>
          <p:nvPr>
            <p:ph type="sldNum" sz="quarter" idx="5"/>
          </p:nvPr>
        </p:nvSpPr>
        <p:spPr/>
        <p:txBody>
          <a:bodyPr/>
          <a:lstStyle/>
          <a:p>
            <a:fld id="{D37850A3-516E-4CB9-B81C-61515DD15E35}" type="slidenum">
              <a:rPr lang="en-GB" smtClean="0"/>
              <a:t>20</a:t>
            </a:fld>
            <a:endParaRPr lang="en-GB"/>
          </a:p>
        </p:txBody>
      </p:sp>
    </p:spTree>
    <p:extLst>
      <p:ext uri="{BB962C8B-B14F-4D97-AF65-F5344CB8AC3E}">
        <p14:creationId xmlns:p14="http://schemas.microsoft.com/office/powerpoint/2010/main" val="4289349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Imagine that you were given all these points, and you needed to guess a function of their x, y coordinates that would have one output for the red ones and a different output for the black ones.</a:t>
            </a:r>
          </a:p>
        </p:txBody>
      </p:sp>
      <p:sp>
        <p:nvSpPr>
          <p:cNvPr id="4" name="Slide Number Placeholder 3"/>
          <p:cNvSpPr>
            <a:spLocks noGrp="1"/>
          </p:cNvSpPr>
          <p:nvPr>
            <p:ph type="sldNum" sz="quarter" idx="5"/>
          </p:nvPr>
        </p:nvSpPr>
        <p:spPr/>
        <p:txBody>
          <a:bodyPr/>
          <a:lstStyle/>
          <a:p>
            <a:fld id="{D37850A3-516E-4CB9-B81C-61515DD15E35}" type="slidenum">
              <a:rPr lang="en-GB" smtClean="0"/>
              <a:t>21</a:t>
            </a:fld>
            <a:endParaRPr lang="en-GB"/>
          </a:p>
        </p:txBody>
      </p:sp>
    </p:spTree>
    <p:extLst>
      <p:ext uri="{BB962C8B-B14F-4D97-AF65-F5344CB8AC3E}">
        <p14:creationId xmlns:p14="http://schemas.microsoft.com/office/powerpoint/2010/main" val="3569383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case, it seems like you could do pretty well by defining a line that separates the two classes.</a:t>
            </a:r>
          </a:p>
        </p:txBody>
      </p:sp>
      <p:sp>
        <p:nvSpPr>
          <p:cNvPr id="4" name="Slide Number Placeholder 3"/>
          <p:cNvSpPr>
            <a:spLocks noGrp="1"/>
          </p:cNvSpPr>
          <p:nvPr>
            <p:ph type="sldNum" sz="quarter" idx="5"/>
          </p:nvPr>
        </p:nvSpPr>
        <p:spPr/>
        <p:txBody>
          <a:bodyPr/>
          <a:lstStyle/>
          <a:p>
            <a:fld id="{D37850A3-516E-4CB9-B81C-61515DD15E35}" type="slidenum">
              <a:rPr lang="en-GB" smtClean="0"/>
              <a:t>22</a:t>
            </a:fld>
            <a:endParaRPr lang="en-GB"/>
          </a:p>
        </p:txBody>
      </p:sp>
    </p:spTree>
    <p:extLst>
      <p:ext uri="{BB962C8B-B14F-4D97-AF65-F5344CB8AC3E}">
        <p14:creationId xmlns:p14="http://schemas.microsoft.com/office/powerpoint/2010/main" val="310471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what if we have a slightly different configuration of points? We can't divide them conveniently with a line.</a:t>
            </a:r>
          </a:p>
        </p:txBody>
      </p:sp>
      <p:sp>
        <p:nvSpPr>
          <p:cNvPr id="4" name="Slide Number Placeholder 3"/>
          <p:cNvSpPr>
            <a:spLocks noGrp="1"/>
          </p:cNvSpPr>
          <p:nvPr>
            <p:ph type="sldNum" sz="quarter" idx="5"/>
          </p:nvPr>
        </p:nvSpPr>
        <p:spPr/>
        <p:txBody>
          <a:bodyPr/>
          <a:lstStyle/>
          <a:p>
            <a:fld id="{D37850A3-516E-4CB9-B81C-61515DD15E35}" type="slidenum">
              <a:rPr lang="en-GB" smtClean="0"/>
              <a:t>23</a:t>
            </a:fld>
            <a:endParaRPr lang="en-GB"/>
          </a:p>
        </p:txBody>
      </p:sp>
    </p:spTree>
    <p:extLst>
      <p:ext uri="{BB962C8B-B14F-4D97-AF65-F5344CB8AC3E}">
        <p14:creationId xmlns:p14="http://schemas.microsoft.com/office/powerpoint/2010/main" val="479692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this parabola-like curve seems like it might be a reasonable separator.</a:t>
            </a:r>
          </a:p>
        </p:txBody>
      </p:sp>
      <p:sp>
        <p:nvSpPr>
          <p:cNvPr id="4" name="Slide Number Placeholder 3"/>
          <p:cNvSpPr>
            <a:spLocks noGrp="1"/>
          </p:cNvSpPr>
          <p:nvPr>
            <p:ph type="sldNum" sz="quarter" idx="5"/>
          </p:nvPr>
        </p:nvSpPr>
        <p:spPr/>
        <p:txBody>
          <a:bodyPr/>
          <a:lstStyle/>
          <a:p>
            <a:fld id="{D37850A3-516E-4CB9-B81C-61515DD15E35}" type="slidenum">
              <a:rPr lang="en-GB" smtClean="0"/>
              <a:t>24</a:t>
            </a:fld>
            <a:endParaRPr lang="en-GB"/>
          </a:p>
        </p:txBody>
      </p:sp>
    </p:spTree>
    <p:extLst>
      <p:ext uri="{BB962C8B-B14F-4D97-AF65-F5344CB8AC3E}">
        <p14:creationId xmlns:p14="http://schemas.microsoft.com/office/powerpoint/2010/main" val="1763577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what? This seems much trickier. There are at least a couple of reasonable kinds of answers.</a:t>
            </a:r>
          </a:p>
        </p:txBody>
      </p:sp>
      <p:sp>
        <p:nvSpPr>
          <p:cNvPr id="4" name="Slide Number Placeholder 3"/>
          <p:cNvSpPr>
            <a:spLocks noGrp="1"/>
          </p:cNvSpPr>
          <p:nvPr>
            <p:ph type="sldNum" sz="quarter" idx="5"/>
          </p:nvPr>
        </p:nvSpPr>
        <p:spPr/>
        <p:txBody>
          <a:bodyPr/>
          <a:lstStyle/>
          <a:p>
            <a:fld id="{D37850A3-516E-4CB9-B81C-61515DD15E35}" type="slidenum">
              <a:rPr lang="en-GB" smtClean="0"/>
              <a:t>25</a:t>
            </a:fld>
            <a:endParaRPr lang="en-GB"/>
          </a:p>
        </p:txBody>
      </p:sp>
    </p:spTree>
    <p:extLst>
      <p:ext uri="{BB962C8B-B14F-4D97-AF65-F5344CB8AC3E}">
        <p14:creationId xmlns:p14="http://schemas.microsoft.com/office/powerpoint/2010/main" val="108131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an answer. It successfully separates the reds from the blacks. But there's something sort of unsatisfactory about it. Most people have an intuition that it's too complicated. </a:t>
            </a:r>
          </a:p>
        </p:txBody>
      </p:sp>
      <p:sp>
        <p:nvSpPr>
          <p:cNvPr id="4" name="Slide Number Placeholder 3"/>
          <p:cNvSpPr>
            <a:spLocks noGrp="1"/>
          </p:cNvSpPr>
          <p:nvPr>
            <p:ph type="sldNum" sz="quarter" idx="5"/>
          </p:nvPr>
        </p:nvSpPr>
        <p:spPr/>
        <p:txBody>
          <a:bodyPr/>
          <a:lstStyle/>
          <a:p>
            <a:fld id="{D37850A3-516E-4CB9-B81C-61515DD15E35}" type="slidenum">
              <a:rPr lang="en-GB" smtClean="0"/>
              <a:t>26</a:t>
            </a:fld>
            <a:endParaRPr lang="en-GB"/>
          </a:p>
        </p:txBody>
      </p:sp>
    </p:spTree>
    <p:extLst>
      <p:ext uri="{BB962C8B-B14F-4D97-AF65-F5344CB8AC3E}">
        <p14:creationId xmlns:p14="http://schemas.microsoft.com/office/powerpoint/2010/main" val="1851214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another answer. It's not a perfect separator; it gets some of the points wrong. But it's prettier.</a:t>
            </a:r>
          </a:p>
          <a:p>
            <a:endParaRPr lang="en-GB" dirty="0"/>
          </a:p>
          <a:p>
            <a:r>
              <a:rPr lang="en-GB" dirty="0"/>
              <a:t> In general, we will always be faced with making trade-offs between hypotheses that account for the data perfectly and hypotheses that are, in some sense, simple. There are some mathematical ways to understand these trade-offs; we'll avoid the math, but try to show you, intuitively, how they come up and what to do about them. </a:t>
            </a:r>
          </a:p>
        </p:txBody>
      </p:sp>
      <p:sp>
        <p:nvSpPr>
          <p:cNvPr id="4" name="Slide Number Placeholder 3"/>
          <p:cNvSpPr>
            <a:spLocks noGrp="1"/>
          </p:cNvSpPr>
          <p:nvPr>
            <p:ph type="sldNum" sz="quarter" idx="5"/>
          </p:nvPr>
        </p:nvSpPr>
        <p:spPr/>
        <p:txBody>
          <a:bodyPr/>
          <a:lstStyle/>
          <a:p>
            <a:fld id="{D37850A3-516E-4CB9-B81C-61515DD15E35}" type="slidenum">
              <a:rPr lang="en-GB" smtClean="0"/>
              <a:t>27</a:t>
            </a:fld>
            <a:endParaRPr lang="en-GB"/>
          </a:p>
        </p:txBody>
      </p:sp>
    </p:spTree>
    <p:extLst>
      <p:ext uri="{BB962C8B-B14F-4D97-AF65-F5344CB8AC3E}">
        <p14:creationId xmlns:p14="http://schemas.microsoft.com/office/powerpoint/2010/main" val="31628182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lots and lots of different kinds of learning algorithms. I want to show you cartoon versions of a couple of them first, and then we'll get down to the business of understanding them at a detailed algorithmic level. </a:t>
            </a:r>
          </a:p>
          <a:p>
            <a:endParaRPr lang="en-GB" dirty="0"/>
          </a:p>
          <a:p>
            <a:r>
              <a:rPr lang="en-GB" dirty="0"/>
              <a:t>The learning methods differ both in terms of the kinds of hypotheses they work with and the algorithms they use to find a good hypothesis given the data. </a:t>
            </a:r>
          </a:p>
        </p:txBody>
      </p:sp>
      <p:sp>
        <p:nvSpPr>
          <p:cNvPr id="4" name="Slide Number Placeholder 3"/>
          <p:cNvSpPr>
            <a:spLocks noGrp="1"/>
          </p:cNvSpPr>
          <p:nvPr>
            <p:ph type="sldNum" sz="quarter" idx="5"/>
          </p:nvPr>
        </p:nvSpPr>
        <p:spPr/>
        <p:txBody>
          <a:bodyPr/>
          <a:lstStyle/>
          <a:p>
            <a:fld id="{D37850A3-516E-4CB9-B81C-61515DD15E35}" type="slidenum">
              <a:rPr lang="en-GB" smtClean="0"/>
              <a:t>28</a:t>
            </a:fld>
            <a:endParaRPr lang="en-GB"/>
          </a:p>
        </p:txBody>
      </p:sp>
    </p:spTree>
    <p:extLst>
      <p:ext uri="{BB962C8B-B14F-4D97-AF65-F5344CB8AC3E}">
        <p14:creationId xmlns:p14="http://schemas.microsoft.com/office/powerpoint/2010/main" val="25477730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the most simple-minded of all learning algorithms (and my personal </a:t>
            </a:r>
            <a:r>
              <a:rPr lang="en-GB" dirty="0" err="1"/>
              <a:t>favorite</a:t>
            </a:r>
            <a:r>
              <a:rPr lang="en-GB" dirty="0"/>
              <a:t> (which might imply something about me!)). It's called nearest </a:t>
            </a:r>
            <a:r>
              <a:rPr lang="en-GB" dirty="0" err="1"/>
              <a:t>neighbor</a:t>
            </a:r>
            <a:r>
              <a:rPr lang="en-GB" dirty="0"/>
              <a:t> (or lazy learning). You simply remember all the examples you've ever seen. </a:t>
            </a:r>
          </a:p>
          <a:p>
            <a:endParaRPr lang="en-GB" dirty="0"/>
          </a:p>
          <a:p>
            <a:endParaRPr lang="en-GB" dirty="0"/>
          </a:p>
          <a:p>
            <a:r>
              <a:rPr lang="en-GB" dirty="0"/>
              <a:t>When someone asks you a question, you simply find the existing point that's nearest the one you were asked about, and return its class. </a:t>
            </a:r>
          </a:p>
          <a:p>
            <a:endParaRPr lang="en-GB" dirty="0"/>
          </a:p>
          <a:p>
            <a:r>
              <a:rPr lang="en-GB" dirty="0"/>
              <a:t>So, in this case, the nearest point to the query is red, so we'd return red.</a:t>
            </a:r>
          </a:p>
        </p:txBody>
      </p:sp>
      <p:sp>
        <p:nvSpPr>
          <p:cNvPr id="4" name="Slide Number Placeholder 3"/>
          <p:cNvSpPr>
            <a:spLocks noGrp="1"/>
          </p:cNvSpPr>
          <p:nvPr>
            <p:ph type="sldNum" sz="quarter" idx="5"/>
          </p:nvPr>
        </p:nvSpPr>
        <p:spPr/>
        <p:txBody>
          <a:bodyPr/>
          <a:lstStyle/>
          <a:p>
            <a:fld id="{D37850A3-516E-4CB9-B81C-61515DD15E35}" type="slidenum">
              <a:rPr lang="en-GB" smtClean="0"/>
              <a:t>29</a:t>
            </a:fld>
            <a:endParaRPr lang="en-GB"/>
          </a:p>
        </p:txBody>
      </p:sp>
    </p:spTree>
    <p:extLst>
      <p:ext uri="{BB962C8B-B14F-4D97-AF65-F5344CB8AC3E}">
        <p14:creationId xmlns:p14="http://schemas.microsoft.com/office/powerpoint/2010/main" val="11052944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well-loved learning algorithm makes hypotheses in the form of decision trees. In a decision tree, each node represents a question, and the arcs represent possible answers. We can use this decision tree to find out what prediction we should make in the drive/walk problem. </a:t>
            </a:r>
            <a:br>
              <a:rPr lang="en-GB" dirty="0"/>
            </a:br>
            <a:endParaRPr lang="en-GB" dirty="0"/>
          </a:p>
          <a:p>
            <a:br>
              <a:rPr lang="en-GB" dirty="0"/>
            </a:br>
            <a:endParaRPr lang="en-GB" dirty="0"/>
          </a:p>
        </p:txBody>
      </p:sp>
      <p:sp>
        <p:nvSpPr>
          <p:cNvPr id="4" name="Slide Number Placeholder 3"/>
          <p:cNvSpPr>
            <a:spLocks noGrp="1"/>
          </p:cNvSpPr>
          <p:nvPr>
            <p:ph type="sldNum" sz="quarter" idx="5"/>
          </p:nvPr>
        </p:nvSpPr>
        <p:spPr/>
        <p:txBody>
          <a:bodyPr/>
          <a:lstStyle/>
          <a:p>
            <a:fld id="{D37850A3-516E-4CB9-B81C-61515DD15E35}" type="slidenum">
              <a:rPr lang="en-GB" smtClean="0"/>
              <a:t>30</a:t>
            </a:fld>
            <a:endParaRPr lang="en-GB"/>
          </a:p>
        </p:txBody>
      </p:sp>
    </p:spTree>
    <p:extLst>
      <p:ext uri="{BB962C8B-B14F-4D97-AF65-F5344CB8AC3E}">
        <p14:creationId xmlns:p14="http://schemas.microsoft.com/office/powerpoint/2010/main" val="14324772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We'd start by asking what the current precipitation is. If it's snow, we just stop asking questions and</a:t>
            </a:r>
          </a:p>
        </p:txBody>
      </p:sp>
      <p:sp>
        <p:nvSpPr>
          <p:cNvPr id="4" name="Slide Number Placeholder 3"/>
          <p:cNvSpPr>
            <a:spLocks noGrp="1"/>
          </p:cNvSpPr>
          <p:nvPr>
            <p:ph type="sldNum" sz="quarter" idx="5"/>
          </p:nvPr>
        </p:nvSpPr>
        <p:spPr/>
        <p:txBody>
          <a:bodyPr/>
          <a:lstStyle/>
          <a:p>
            <a:fld id="{D37850A3-516E-4CB9-B81C-61515DD15E35}" type="slidenum">
              <a:rPr lang="en-GB" smtClean="0"/>
              <a:t>31</a:t>
            </a:fld>
            <a:endParaRPr lang="en-GB"/>
          </a:p>
        </p:txBody>
      </p:sp>
    </p:spTree>
    <p:extLst>
      <p:ext uri="{BB962C8B-B14F-4D97-AF65-F5344CB8AC3E}">
        <p14:creationId xmlns:p14="http://schemas.microsoft.com/office/powerpoint/2010/main" val="3421571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can always continue asking and answering questions until we get to a leaf node of the tree; the leaf will always contain a prediction. </a:t>
            </a:r>
          </a:p>
          <a:p>
            <a:endParaRPr lang="en-GB" dirty="0"/>
          </a:p>
          <a:p>
            <a:r>
              <a:rPr lang="en-GB" dirty="0"/>
              <a:t>Hypotheses like this are nice for a variety of reasons. One important one is that they're relatively easily interpretable by humans. So, in some cases, we run a learning algorithm on some data and then show the results to experts in the area (astronomers, physicians), and they find that the learning algorithm has found some regularities in their data that are of real interest to them. </a:t>
            </a:r>
          </a:p>
        </p:txBody>
      </p:sp>
      <p:sp>
        <p:nvSpPr>
          <p:cNvPr id="4" name="Slide Number Placeholder 3"/>
          <p:cNvSpPr>
            <a:spLocks noGrp="1"/>
          </p:cNvSpPr>
          <p:nvPr>
            <p:ph type="sldNum" sz="quarter" idx="5"/>
          </p:nvPr>
        </p:nvSpPr>
        <p:spPr/>
        <p:txBody>
          <a:bodyPr/>
          <a:lstStyle/>
          <a:p>
            <a:fld id="{D37850A3-516E-4CB9-B81C-61515DD15E35}" type="slidenum">
              <a:rPr lang="en-GB" smtClean="0"/>
              <a:t>32</a:t>
            </a:fld>
            <a:endParaRPr lang="en-GB"/>
          </a:p>
        </p:txBody>
      </p:sp>
    </p:spTree>
    <p:extLst>
      <p:ext uri="{BB962C8B-B14F-4D97-AF65-F5344CB8AC3E}">
        <p14:creationId xmlns:p14="http://schemas.microsoft.com/office/powerpoint/2010/main" val="4231309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people have heard of neural networks. They can represent complicated hypotheses in high dimensional continuous spaces. They are attractive as a computational model because they are composed of many small computing units. They were </a:t>
            </a:r>
            <a:r>
              <a:rPr lang="en-GB" dirty="0" err="1"/>
              <a:t>motiviated</a:t>
            </a:r>
            <a:r>
              <a:rPr lang="en-GB" dirty="0"/>
              <a:t> by the structure of neural systems in parts of the brain. Now it is understood that they are not an exact model of neural function, but they have proved to be useful from a purely practical perspective. </a:t>
            </a:r>
          </a:p>
          <a:p>
            <a:endParaRPr lang="en-GB" dirty="0"/>
          </a:p>
          <a:p>
            <a:endParaRPr lang="en-GB" dirty="0"/>
          </a:p>
          <a:p>
            <a:r>
              <a:rPr lang="en-GB" dirty="0"/>
              <a:t>In neural networks, the individual units do a simple, fixed computation that combines the values coming into them with "weights" on the arcs. The learning process consists of adjusting the weights on the arcs in reaction to errors made by the network. </a:t>
            </a:r>
          </a:p>
        </p:txBody>
      </p:sp>
      <p:sp>
        <p:nvSpPr>
          <p:cNvPr id="4" name="Slide Number Placeholder 3"/>
          <p:cNvSpPr>
            <a:spLocks noGrp="1"/>
          </p:cNvSpPr>
          <p:nvPr>
            <p:ph type="sldNum" sz="quarter" idx="5"/>
          </p:nvPr>
        </p:nvSpPr>
        <p:spPr/>
        <p:txBody>
          <a:bodyPr/>
          <a:lstStyle/>
          <a:p>
            <a:fld id="{D37850A3-516E-4CB9-B81C-61515DD15E35}" type="slidenum">
              <a:rPr lang="en-GB" smtClean="0"/>
              <a:t>33</a:t>
            </a:fld>
            <a:endParaRPr lang="en-GB"/>
          </a:p>
        </p:txBody>
      </p:sp>
    </p:spTree>
    <p:extLst>
      <p:ext uri="{BB962C8B-B14F-4D97-AF65-F5344CB8AC3E}">
        <p14:creationId xmlns:p14="http://schemas.microsoft.com/office/powerpoint/2010/main" val="24263675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Machine learning methods have been successfully fielded in a variety of applications, including </a:t>
            </a:r>
          </a:p>
          <a:p>
            <a:endParaRPr lang="en-GB" dirty="0"/>
          </a:p>
          <a:p>
            <a:endParaRPr lang="en-GB" dirty="0"/>
          </a:p>
          <a:p>
            <a:r>
              <a:rPr lang="en-GB" dirty="0"/>
              <a:t>Now, we'll roll up our sleeves, and see how all this is done.</a:t>
            </a:r>
          </a:p>
        </p:txBody>
      </p:sp>
      <p:sp>
        <p:nvSpPr>
          <p:cNvPr id="4" name="Slide Number Placeholder 3"/>
          <p:cNvSpPr>
            <a:spLocks noGrp="1"/>
          </p:cNvSpPr>
          <p:nvPr>
            <p:ph type="sldNum" sz="quarter" idx="5"/>
          </p:nvPr>
        </p:nvSpPr>
        <p:spPr/>
        <p:txBody>
          <a:bodyPr/>
          <a:lstStyle/>
          <a:p>
            <a:fld id="{D37850A3-516E-4CB9-B81C-61515DD15E35}" type="slidenum">
              <a:rPr lang="en-GB" smtClean="0"/>
              <a:t>34</a:t>
            </a:fld>
            <a:endParaRPr lang="en-GB"/>
          </a:p>
        </p:txBody>
      </p:sp>
    </p:spTree>
    <p:extLst>
      <p:ext uri="{BB962C8B-B14F-4D97-AF65-F5344CB8AC3E}">
        <p14:creationId xmlns:p14="http://schemas.microsoft.com/office/powerpoint/2010/main" val="1337454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supervised learning problem is made up of a number of ingredients. The first is the data (sometimes called the training set). The data, D, is a set of m input-output pairs. We will write the </a:t>
            </a:r>
            <a:r>
              <a:rPr lang="en-GB" dirty="0" err="1"/>
              <a:t>ith</a:t>
            </a:r>
            <a:r>
              <a:rPr lang="en-GB" dirty="0"/>
              <a:t> element of the data set as xi , </a:t>
            </a:r>
            <a:r>
              <a:rPr lang="en-GB" dirty="0" err="1"/>
              <a:t>yi</a:t>
            </a:r>
            <a:r>
              <a:rPr lang="en-GB" dirty="0"/>
              <a:t> . In the context of our old running example, an xi would be a vector of values, one for each of the input features, and a </a:t>
            </a:r>
            <a:r>
              <a:rPr lang="en-GB" dirty="0" err="1"/>
              <a:t>yi</a:t>
            </a:r>
            <a:r>
              <a:rPr lang="en-GB" dirty="0"/>
              <a:t> would be an output value (walk or drive).</a:t>
            </a:r>
            <a:br>
              <a:rPr lang="en-GB" dirty="0"/>
            </a:br>
            <a:br>
              <a:rPr lang="en-GB" dirty="0"/>
            </a:br>
            <a:br>
              <a:rPr lang="en-GB" dirty="0"/>
            </a:br>
            <a:r>
              <a:rPr lang="en-GB" dirty="0"/>
              <a:t>Each xi is a vector of n values. We'll write xi j for the </a:t>
            </a:r>
            <a:r>
              <a:rPr lang="en-GB" dirty="0" err="1"/>
              <a:t>jth</a:t>
            </a:r>
            <a:r>
              <a:rPr lang="en-GB" dirty="0"/>
              <a:t> feature of the </a:t>
            </a:r>
            <a:r>
              <a:rPr lang="en-GB" dirty="0" err="1"/>
              <a:t>ith</a:t>
            </a:r>
            <a:r>
              <a:rPr lang="en-GB" dirty="0"/>
              <a:t> input-output pair. We'll consider different kinds of features. Sometimes we'll restrict ourselves to the case where the features are only 0s and 1s. Other times, we'll let them be </a:t>
            </a:r>
            <a:r>
              <a:rPr lang="en-GB" dirty="0" err="1"/>
              <a:t>choosen</a:t>
            </a:r>
            <a:r>
              <a:rPr lang="en-GB" dirty="0"/>
              <a:t> from a set of discrete elements (like "snow", "rain", "none"). And, still other times, we'll let them be real values, like temperature, or weight.  </a:t>
            </a:r>
          </a:p>
          <a:p>
            <a:endParaRPr lang="en-GB" dirty="0"/>
          </a:p>
          <a:p>
            <a:endParaRPr lang="en-GB" dirty="0"/>
          </a:p>
          <a:p>
            <a:r>
              <a:rPr lang="en-GB" dirty="0"/>
              <a:t>Similarly, the output, </a:t>
            </a:r>
            <a:r>
              <a:rPr lang="en-GB" dirty="0" err="1"/>
              <a:t>yi</a:t>
            </a:r>
            <a:r>
              <a:rPr lang="en-GB" dirty="0"/>
              <a:t> , might be a </a:t>
            </a:r>
            <a:r>
              <a:rPr lang="en-GB" dirty="0" err="1"/>
              <a:t>boolean</a:t>
            </a:r>
            <a:r>
              <a:rPr lang="en-GB" dirty="0"/>
              <a:t>, a member of a discrete set, or a real value. For a particular problem, the </a:t>
            </a:r>
            <a:r>
              <a:rPr lang="en-GB" dirty="0" err="1"/>
              <a:t>yi</a:t>
            </a:r>
            <a:r>
              <a:rPr lang="en-GB" dirty="0"/>
              <a:t> will all be of a particular type. </a:t>
            </a:r>
          </a:p>
          <a:p>
            <a:r>
              <a:rPr lang="en-GB" dirty="0"/>
              <a:t>When </a:t>
            </a:r>
            <a:r>
              <a:rPr lang="en-GB" dirty="0" err="1"/>
              <a:t>yi</a:t>
            </a:r>
            <a:r>
              <a:rPr lang="en-GB" dirty="0"/>
              <a:t> is a </a:t>
            </a:r>
            <a:r>
              <a:rPr lang="en-GB" dirty="0" err="1"/>
              <a:t>boolean</a:t>
            </a:r>
            <a:r>
              <a:rPr lang="en-GB" dirty="0"/>
              <a:t>, or a member of a discrete set, we will call the problem a </a:t>
            </a:r>
            <a:r>
              <a:rPr lang="en-GB" b="1" dirty="0"/>
              <a:t>classification problem</a:t>
            </a:r>
            <a:r>
              <a:rPr lang="en-GB" dirty="0"/>
              <a:t>. When </a:t>
            </a:r>
            <a:r>
              <a:rPr lang="en-GB" dirty="0" err="1"/>
              <a:t>yi</a:t>
            </a:r>
            <a:r>
              <a:rPr lang="en-GB" dirty="0"/>
              <a:t> is real-valued, we call this a </a:t>
            </a:r>
            <a:r>
              <a:rPr lang="en-GB" b="1" dirty="0"/>
              <a:t>regression problem</a:t>
            </a:r>
            <a:r>
              <a:rPr lang="en-GB" dirty="0"/>
              <a:t>.</a:t>
            </a:r>
          </a:p>
          <a:p>
            <a:endParaRPr lang="en-GB" dirty="0"/>
          </a:p>
          <a:p>
            <a:endParaRPr lang="en-GB" dirty="0"/>
          </a:p>
          <a:p>
            <a:r>
              <a:rPr lang="en-GB" dirty="0"/>
              <a:t>Now, the goal of learning will be to find a hypothesis, h, that does a good job of describing the relationship between the inputs and the outputs. So, a part of the problem specification is capital H, the hypothesis class. H is the set of possible hypotheses that we want our learning algorithm to choose from. It might be something like decision trees with 6 nodes, or lines in two-dimensional space, or neural networks with 3 components. </a:t>
            </a:r>
          </a:p>
        </p:txBody>
      </p:sp>
      <p:sp>
        <p:nvSpPr>
          <p:cNvPr id="4" name="Slide Number Placeholder 3"/>
          <p:cNvSpPr>
            <a:spLocks noGrp="1"/>
          </p:cNvSpPr>
          <p:nvPr>
            <p:ph type="sldNum" sz="quarter" idx="5"/>
          </p:nvPr>
        </p:nvSpPr>
        <p:spPr/>
        <p:txBody>
          <a:bodyPr/>
          <a:lstStyle/>
          <a:p>
            <a:fld id="{D37850A3-516E-4CB9-B81C-61515DD15E35}" type="slidenum">
              <a:rPr lang="en-GB" smtClean="0"/>
              <a:t>36</a:t>
            </a:fld>
            <a:endParaRPr lang="en-GB"/>
          </a:p>
        </p:txBody>
      </p:sp>
    </p:spTree>
    <p:extLst>
      <p:ext uri="{BB962C8B-B14F-4D97-AF65-F5344CB8AC3E}">
        <p14:creationId xmlns:p14="http://schemas.microsoft.com/office/powerpoint/2010/main" val="1342109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38C68-5C93-B1C2-7AB8-B5AF430124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933DA7-4FCD-D8FD-D3C2-606599F3D8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31BE8F3-9EBD-C513-1DFF-753408EC6BC3}"/>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1352C2B7-9CD7-D5D8-120B-73D74AF3DE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DE872C-1813-141E-3002-D7C10ABE7890}"/>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4008596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9953-C91F-44A6-1F9A-6693591E013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410B366-DF69-4B21-D67A-4DE91E4D35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3977A4-0B68-FE8B-D3C4-444B8B5D6EFA}"/>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328063F5-3021-42D9-16E2-7C11BC36F4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ABFB26-FD27-C774-70E4-3B7E3D75E795}"/>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2572522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AE31-8381-E5D2-086E-830ED37462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BBCB470-AC13-5BB1-CBA8-74B8E5831B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2F8F65-BEBB-5600-7B59-39E6B4376F01}"/>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4997C2A9-D5AE-2A33-E6B0-3DC07D773B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6144E8-7F3B-25E8-45F5-FBE681067353}"/>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260479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7F5A-FD54-E1D9-0E1E-4D997859AD6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2FAEA2D-42AF-6A1F-2FDB-042A89B883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871469F-4F3A-6F11-F677-8ADC65FE69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96A45B-A040-A562-8AC2-5FBBE8DA2341}"/>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6" name="Footer Placeholder 5">
            <a:extLst>
              <a:ext uri="{FF2B5EF4-FFF2-40B4-BE49-F238E27FC236}">
                <a16:creationId xmlns:a16="http://schemas.microsoft.com/office/drawing/2014/main" id="{02684B21-8CFD-AD51-9A33-813144CD4E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8511B61-FDBB-0426-8617-F67859D4E861}"/>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3059583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5F2E-CD86-99BE-C93B-C59F829B947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BC69C46-451E-E5CE-F0DC-7237D6D7CC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29104E-15C9-506D-F203-D8E2A95624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283B069-624F-79C2-7527-E0D557074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17816A-5786-5FD3-077A-505D3FD415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120DD2F-47E5-6E20-FD9D-16F9E4B869B9}"/>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8" name="Footer Placeholder 7">
            <a:extLst>
              <a:ext uri="{FF2B5EF4-FFF2-40B4-BE49-F238E27FC236}">
                <a16:creationId xmlns:a16="http://schemas.microsoft.com/office/drawing/2014/main" id="{E56B13A6-3B10-281F-40BD-26EB0C026DE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8A2612-7A4B-6CC0-4A20-2223E516C01A}"/>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83837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BC4F-5BB3-3CF7-8F0E-E9A35DC9655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D3E376-C820-70FD-61C1-82D9FC73282F}"/>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4" name="Footer Placeholder 3">
            <a:extLst>
              <a:ext uri="{FF2B5EF4-FFF2-40B4-BE49-F238E27FC236}">
                <a16:creationId xmlns:a16="http://schemas.microsoft.com/office/drawing/2014/main" id="{1AD239CE-B34C-351F-7580-F53E9B67A4F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20C28BD-FCD8-3A9F-4853-FA0C0195691E}"/>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70701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004F98-A72D-47B0-22B7-EFE2461B0A17}"/>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3" name="Footer Placeholder 2">
            <a:extLst>
              <a:ext uri="{FF2B5EF4-FFF2-40B4-BE49-F238E27FC236}">
                <a16:creationId xmlns:a16="http://schemas.microsoft.com/office/drawing/2014/main" id="{E2885D23-75B9-1B0C-6A53-4BDCB29421D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C2FFA8-4324-6656-8211-337ECBD4328A}"/>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539389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4BF8-88CF-53D5-44D5-EE0BBCE9D4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F72E15B-B314-A303-F054-9702C367E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FD7D22C-56D5-0E29-70ED-F10E5FAE0E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7558D2-E1BB-CAC5-3638-8E5506C43ECF}"/>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6" name="Footer Placeholder 5">
            <a:extLst>
              <a:ext uri="{FF2B5EF4-FFF2-40B4-BE49-F238E27FC236}">
                <a16:creationId xmlns:a16="http://schemas.microsoft.com/office/drawing/2014/main" id="{E45FC9CA-96BD-E25A-43E4-C600475C65E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F5E769-3159-6E07-1589-49E7F4E7C997}"/>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307291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5F93-AE64-B518-F3B4-6FCDC44177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F9BAD8B-2512-D6C7-4A90-3458E968E9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B993E81-34EC-B4B7-6653-B62E490839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23A9B-8E05-ACA7-D738-83268D90E91E}"/>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6" name="Footer Placeholder 5">
            <a:extLst>
              <a:ext uri="{FF2B5EF4-FFF2-40B4-BE49-F238E27FC236}">
                <a16:creationId xmlns:a16="http://schemas.microsoft.com/office/drawing/2014/main" id="{283929B7-0DF9-A775-02C0-9FEC65F574C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4B9814-060F-58D0-F13D-FED5D2A1F25A}"/>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3111447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DC55-FE36-9466-FF3F-FC4B43C3CD8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686E98-6DDE-7574-F8F2-60D70660A1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537B2A-C694-FE76-FEE0-358B03502D2F}"/>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107CB2B4-1A85-DB55-3225-7B801A1595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CD8256-6E48-DE8A-34B9-2E0DE187CDA7}"/>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428759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B16E98-39AD-FCC9-3C74-D608A25965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6B2AC65-E358-BB75-14D0-C38D5654AF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879772-A270-9C6C-79D8-907A08C28237}"/>
              </a:ext>
            </a:extLst>
          </p:cNvPr>
          <p:cNvSpPr>
            <a:spLocks noGrp="1"/>
          </p:cNvSpPr>
          <p:nvPr>
            <p:ph type="dt" sz="half" idx="10"/>
          </p:nvPr>
        </p:nvSpPr>
        <p:spPr/>
        <p:txBody>
          <a:body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B2FEB6D7-07B0-B434-FA92-2096A7135F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B8AF37-7807-3869-8B03-7DD8E5711C54}"/>
              </a:ext>
            </a:extLst>
          </p:cNvPr>
          <p:cNvSpPr>
            <a:spLocks noGrp="1"/>
          </p:cNvSpPr>
          <p:nvPr>
            <p:ph type="sldNum" sz="quarter" idx="12"/>
          </p:nvPr>
        </p:nvSpPr>
        <p:spPr/>
        <p:txBody>
          <a:bodyPr/>
          <a:lstStyle/>
          <a:p>
            <a:fld id="{1BF54AE7-E0CE-4455-B21F-B0F97F84A5BA}" type="slidenum">
              <a:rPr lang="en-GB" smtClean="0"/>
              <a:t>‹#›</a:t>
            </a:fld>
            <a:endParaRPr lang="en-GB"/>
          </a:p>
        </p:txBody>
      </p:sp>
    </p:spTree>
    <p:extLst>
      <p:ext uri="{BB962C8B-B14F-4D97-AF65-F5344CB8AC3E}">
        <p14:creationId xmlns:p14="http://schemas.microsoft.com/office/powerpoint/2010/main" val="1419744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B9C31C-EEC6-8EE8-9865-A587DFD38D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724B22-BA1D-1E3D-E2B8-EB9521014A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7AE380-9F5D-D2AF-D22A-F2794DB0F5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8B2BCC-BB8B-4419-8D70-1D52C6271017}" type="datetimeFigureOut">
              <a:rPr lang="en-GB" smtClean="0"/>
              <a:t>08/05/2024</a:t>
            </a:fld>
            <a:endParaRPr lang="en-GB"/>
          </a:p>
        </p:txBody>
      </p:sp>
      <p:sp>
        <p:nvSpPr>
          <p:cNvPr id="5" name="Footer Placeholder 4">
            <a:extLst>
              <a:ext uri="{FF2B5EF4-FFF2-40B4-BE49-F238E27FC236}">
                <a16:creationId xmlns:a16="http://schemas.microsoft.com/office/drawing/2014/main" id="{E092598D-F6F4-F355-365D-5C3E449C6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C4A748B-1335-A22E-46C9-C2FB5A40F6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F54AE7-E0CE-4455-B21F-B0F97F84A5BA}" type="slidenum">
              <a:rPr lang="en-GB" smtClean="0"/>
              <a:t>‹#›</a:t>
            </a:fld>
            <a:endParaRPr lang="en-GB"/>
          </a:p>
        </p:txBody>
      </p:sp>
    </p:spTree>
    <p:extLst>
      <p:ext uri="{BB962C8B-B14F-4D97-AF65-F5344CB8AC3E}">
        <p14:creationId xmlns:p14="http://schemas.microsoft.com/office/powerpoint/2010/main" val="2857533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6EEE-3AB8-D94E-1E84-3D57E153F7D9}"/>
              </a:ext>
            </a:extLst>
          </p:cNvPr>
          <p:cNvSpPr>
            <a:spLocks noGrp="1"/>
          </p:cNvSpPr>
          <p:nvPr>
            <p:ph type="ctrTitle"/>
          </p:nvPr>
        </p:nvSpPr>
        <p:spPr/>
        <p:txBody>
          <a:bodyPr/>
          <a:lstStyle/>
          <a:p>
            <a:r>
              <a:rPr lang="en-GB" b="1" dirty="0"/>
              <a:t>Machine Learning</a:t>
            </a:r>
          </a:p>
        </p:txBody>
      </p:sp>
      <p:sp>
        <p:nvSpPr>
          <p:cNvPr id="3" name="Subtitle 2">
            <a:extLst>
              <a:ext uri="{FF2B5EF4-FFF2-40B4-BE49-F238E27FC236}">
                <a16:creationId xmlns:a16="http://schemas.microsoft.com/office/drawing/2014/main" id="{9085A1EE-12AA-10EC-ECA2-82C347E822D3}"/>
              </a:ext>
            </a:extLst>
          </p:cNvPr>
          <p:cNvSpPr>
            <a:spLocks noGrp="1"/>
          </p:cNvSpPr>
          <p:nvPr>
            <p:ph type="subTitle" idx="1"/>
          </p:nvPr>
        </p:nvSpPr>
        <p:spPr/>
        <p:txBody>
          <a:bodyPr/>
          <a:lstStyle/>
          <a:p>
            <a:r>
              <a:rPr lang="en-US" sz="2400" dirty="0"/>
              <a:t>(Reasoning under Uncertainty)</a:t>
            </a:r>
          </a:p>
          <a:p>
            <a:endParaRPr lang="en-US" sz="2400" dirty="0"/>
          </a:p>
          <a:p>
            <a:endParaRPr lang="en-GB" dirty="0"/>
          </a:p>
        </p:txBody>
      </p:sp>
    </p:spTree>
    <p:extLst>
      <p:ext uri="{BB962C8B-B14F-4D97-AF65-F5344CB8AC3E}">
        <p14:creationId xmlns:p14="http://schemas.microsoft.com/office/powerpoint/2010/main" val="3041837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Learning</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r>
              <a:rPr lang="en-GB" dirty="0"/>
              <a:t>It is often hard to articulate the knowledge we need to build AI systems.</a:t>
            </a:r>
          </a:p>
          <a:p>
            <a:r>
              <a:rPr lang="en-GB" dirty="0"/>
              <a:t>Often, we don’t even know it!</a:t>
            </a:r>
          </a:p>
          <a:p>
            <a:r>
              <a:rPr lang="en-GB" dirty="0"/>
              <a:t>Frequently, we can arrange to build systems that learn it themselves</a:t>
            </a:r>
          </a:p>
        </p:txBody>
      </p:sp>
    </p:spTree>
    <p:extLst>
      <p:ext uri="{BB962C8B-B14F-4D97-AF65-F5344CB8AC3E}">
        <p14:creationId xmlns:p14="http://schemas.microsoft.com/office/powerpoint/2010/main" val="1891665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What is Learning?</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r>
              <a:rPr lang="en-GB" dirty="0"/>
              <a:t>Memorizing something</a:t>
            </a:r>
          </a:p>
          <a:p>
            <a:r>
              <a:rPr lang="en-GB" dirty="0"/>
              <a:t>Learning facts through observation and exploration</a:t>
            </a:r>
          </a:p>
          <a:p>
            <a:r>
              <a:rPr lang="en-GB" dirty="0"/>
              <a:t>Improving motor and/or cognitive skills through practice</a:t>
            </a:r>
          </a:p>
          <a:p>
            <a:r>
              <a:rPr lang="en-GB" dirty="0"/>
              <a:t>Organizing new knowledge into general, effective representations</a:t>
            </a:r>
          </a:p>
          <a:p>
            <a:endParaRPr lang="en-GB" dirty="0"/>
          </a:p>
          <a:p>
            <a:pPr marL="0" indent="0">
              <a:buNone/>
            </a:pPr>
            <a:r>
              <a:rPr lang="en-GB" sz="2400" i="1" dirty="0"/>
              <a:t>“Learning denotes changes in the system that are adaptive in the sense that they enable the system to do the task or tasks drawn from the same population more efficiently and more effectively the next time.”     </a:t>
            </a:r>
            <a:r>
              <a:rPr lang="en-GB" sz="2400" b="1" i="1" dirty="0"/>
              <a:t>-- Herb Simon</a:t>
            </a:r>
          </a:p>
        </p:txBody>
      </p:sp>
    </p:spTree>
    <p:extLst>
      <p:ext uri="{BB962C8B-B14F-4D97-AF65-F5344CB8AC3E}">
        <p14:creationId xmlns:p14="http://schemas.microsoft.com/office/powerpoint/2010/main" val="276063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Induction</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pPr marL="0" indent="0">
              <a:buNone/>
            </a:pPr>
            <a:r>
              <a:rPr lang="en-GB" sz="2400" dirty="0"/>
              <a:t>Piece of bread number 1 was nourishing when I ate it. </a:t>
            </a:r>
          </a:p>
          <a:p>
            <a:pPr marL="0" indent="0">
              <a:buNone/>
            </a:pPr>
            <a:r>
              <a:rPr lang="en-GB" sz="2400" dirty="0"/>
              <a:t>Piece of bread number 2 was nourishing when I ate it. </a:t>
            </a:r>
          </a:p>
          <a:p>
            <a:pPr marL="0" indent="0">
              <a:buNone/>
            </a:pPr>
            <a:r>
              <a:rPr lang="en-GB" sz="2400" dirty="0"/>
              <a:t>…</a:t>
            </a:r>
          </a:p>
          <a:p>
            <a:pPr marL="0" indent="0">
              <a:buNone/>
            </a:pPr>
            <a:r>
              <a:rPr lang="en-GB" sz="2400" dirty="0"/>
              <a:t>Piece of bread number 100 was nourishing when I ate it.</a:t>
            </a:r>
          </a:p>
          <a:p>
            <a:pPr marL="0" indent="0">
              <a:buNone/>
            </a:pPr>
            <a:endParaRPr lang="en-GB" sz="2400" dirty="0"/>
          </a:p>
          <a:p>
            <a:pPr marL="0" indent="0">
              <a:buNone/>
            </a:pPr>
            <a:r>
              <a:rPr lang="en-GB" sz="2400" dirty="0"/>
              <a:t>Therefore, </a:t>
            </a:r>
            <a:r>
              <a:rPr lang="en-GB" sz="2400" b="1" dirty="0"/>
              <a:t>all pieces of bread will be nourishing if I eat them.</a:t>
            </a:r>
          </a:p>
          <a:p>
            <a:pPr marL="0" indent="0">
              <a:buNone/>
            </a:pPr>
            <a:r>
              <a:rPr lang="en-GB" sz="2400" b="1" i="1" dirty="0"/>
              <a:t>				</a:t>
            </a:r>
          </a:p>
          <a:p>
            <a:pPr marL="0" indent="0">
              <a:buNone/>
            </a:pPr>
            <a:r>
              <a:rPr lang="en-GB" sz="2400" b="1" i="1" dirty="0"/>
              <a:t>								</a:t>
            </a:r>
            <a:r>
              <a:rPr lang="en-GB" sz="2400" b="1" dirty="0"/>
              <a:t>David Hume</a:t>
            </a:r>
            <a:endParaRPr lang="en-GB" sz="2400" b="1" i="1" dirty="0"/>
          </a:p>
        </p:txBody>
      </p:sp>
    </p:spTree>
    <p:extLst>
      <p:ext uri="{BB962C8B-B14F-4D97-AF65-F5344CB8AC3E}">
        <p14:creationId xmlns:p14="http://schemas.microsoft.com/office/powerpoint/2010/main" val="22968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Induction</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pPr marL="0" indent="0">
              <a:buNone/>
            </a:pPr>
            <a:r>
              <a:rPr lang="en-GB" sz="2400" dirty="0"/>
              <a:t>Induction reasoning is a way of thinking where you draw conclusions based on specific observations. </a:t>
            </a:r>
          </a:p>
          <a:p>
            <a:pPr marL="0" indent="0">
              <a:buNone/>
            </a:pPr>
            <a:r>
              <a:rPr lang="en-GB" sz="2400" b="1" i="1" dirty="0"/>
              <a:t>				</a:t>
            </a:r>
          </a:p>
          <a:p>
            <a:r>
              <a:rPr lang="en-GB" sz="2400" dirty="0"/>
              <a:t>Induction reasoning starts with specific observations or examples.</a:t>
            </a:r>
          </a:p>
          <a:p>
            <a:r>
              <a:rPr lang="en-GB" sz="2400" dirty="0"/>
              <a:t>You then identify patterns or commonalities across those examples.</a:t>
            </a:r>
          </a:p>
          <a:p>
            <a:r>
              <a:rPr lang="en-GB" sz="2400" dirty="0"/>
              <a:t>Based on these patterns, you form a general conclusion that applies to a broader category.</a:t>
            </a:r>
            <a:r>
              <a:rPr lang="en-GB" sz="2400" b="1" i="1" dirty="0"/>
              <a:t>				</a:t>
            </a:r>
          </a:p>
        </p:txBody>
      </p:sp>
    </p:spTree>
    <p:extLst>
      <p:ext uri="{BB962C8B-B14F-4D97-AF65-F5344CB8AC3E}">
        <p14:creationId xmlns:p14="http://schemas.microsoft.com/office/powerpoint/2010/main" val="5326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Why is Induction Okay?</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pPr marL="0" indent="0">
              <a:buNone/>
            </a:pPr>
            <a:r>
              <a:rPr lang="en-GB" sz="2400" i="1" dirty="0"/>
              <a:t>It has been argued that we have reason to know the future will resemble the past, because what was the future has constantly become the past, and has always been found to resemble the past, so that we really have experience of the future, namely of times which were formerly future, which we may call past futures. But such an argument really begs the very question at issue. We have experience of past futures, but not of future futures, and the question is: Will future futures resemble past futures? </a:t>
            </a:r>
            <a:r>
              <a:rPr lang="en-GB" sz="2400" b="1" i="1" dirty="0"/>
              <a:t>				</a:t>
            </a:r>
          </a:p>
          <a:p>
            <a:pPr marL="0" indent="0">
              <a:buNone/>
            </a:pPr>
            <a:r>
              <a:rPr lang="en-GB" sz="2400" b="1" i="1" dirty="0"/>
              <a:t>								</a:t>
            </a:r>
          </a:p>
          <a:p>
            <a:pPr marL="0" indent="0">
              <a:buNone/>
            </a:pPr>
            <a:r>
              <a:rPr lang="en-GB" sz="2400" b="1" i="1" dirty="0"/>
              <a:t>								</a:t>
            </a:r>
            <a:r>
              <a:rPr lang="en-GB" sz="2400" b="1" dirty="0"/>
              <a:t> Bertrand Russell'</a:t>
            </a:r>
            <a:endParaRPr lang="en-GB" sz="2400" b="1" i="1" dirty="0"/>
          </a:p>
        </p:txBody>
      </p:sp>
    </p:spTree>
    <p:extLst>
      <p:ext uri="{BB962C8B-B14F-4D97-AF65-F5344CB8AC3E}">
        <p14:creationId xmlns:p14="http://schemas.microsoft.com/office/powerpoint/2010/main" val="1412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Kinds of Learning</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pPr marL="0" indent="0">
              <a:buNone/>
            </a:pPr>
            <a:r>
              <a:rPr lang="en-GB" sz="2400" b="1" dirty="0"/>
              <a:t>Supervised Learning: </a:t>
            </a:r>
            <a:r>
              <a:rPr lang="en-GB" sz="2400" dirty="0"/>
              <a:t>given a set of example input/output pairs, find a rule that does a good job of predicting the output associated with a new input.</a:t>
            </a:r>
          </a:p>
          <a:p>
            <a:pPr marL="0" indent="0">
              <a:buNone/>
            </a:pPr>
            <a:endParaRPr lang="en-GB" sz="2400" dirty="0"/>
          </a:p>
          <a:p>
            <a:pPr marL="0" indent="0">
              <a:buNone/>
            </a:pPr>
            <a:r>
              <a:rPr lang="en-GB" sz="2400" b="1" dirty="0"/>
              <a:t>Unsupervised Learning (Clustering):</a:t>
            </a:r>
            <a:r>
              <a:rPr lang="en-GB" sz="2400" dirty="0"/>
              <a:t> given a set of examples, but no labelling of them, group the examples into “natural” clusters.</a:t>
            </a:r>
          </a:p>
          <a:p>
            <a:pPr marL="0" indent="0">
              <a:buNone/>
            </a:pPr>
            <a:endParaRPr lang="en-GB" sz="2400" dirty="0"/>
          </a:p>
          <a:p>
            <a:pPr marL="0" indent="0">
              <a:buNone/>
            </a:pPr>
            <a:r>
              <a:rPr lang="en-GB" sz="2400" dirty="0"/>
              <a:t> </a:t>
            </a:r>
            <a:r>
              <a:rPr lang="en-GB" sz="2400" b="1" dirty="0"/>
              <a:t>Reinforcement Learning: </a:t>
            </a:r>
            <a:r>
              <a:rPr lang="en-GB" sz="2400" dirty="0"/>
              <a:t>an agent interacting with the world makes observations, takes actions, and is rewarded or punished; it should learn to choose actions in such a way as to obtain a lot of reward.</a:t>
            </a:r>
            <a:endParaRPr lang="en-GB" sz="2400" b="1" dirty="0"/>
          </a:p>
        </p:txBody>
      </p:sp>
    </p:spTree>
    <p:extLst>
      <p:ext uri="{BB962C8B-B14F-4D97-AF65-F5344CB8AC3E}">
        <p14:creationId xmlns:p14="http://schemas.microsoft.com/office/powerpoint/2010/main" val="220454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Differences between Kinds of Learning</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a:xfrm>
            <a:off x="838200" y="1558925"/>
            <a:ext cx="10515600" cy="4933950"/>
          </a:xfrm>
        </p:spPr>
        <p:txBody>
          <a:bodyPr>
            <a:noAutofit/>
          </a:bodyPr>
          <a:lstStyle/>
          <a:p>
            <a:pPr marL="0" indent="0">
              <a:buNone/>
            </a:pPr>
            <a:r>
              <a:rPr lang="en-GB" sz="2400" b="1" dirty="0"/>
              <a:t>Supervision: </a:t>
            </a:r>
            <a:endParaRPr lang="en-GB" sz="2000" dirty="0"/>
          </a:p>
          <a:p>
            <a:r>
              <a:rPr lang="en-GB" sz="2400" i="1" dirty="0"/>
              <a:t>Supervised learning relies on labelled data for guidance, while unsupervised learning and reinforcement learning do not.</a:t>
            </a:r>
            <a:endParaRPr lang="en-GB" sz="2000" dirty="0"/>
          </a:p>
          <a:p>
            <a:pPr marL="0" indent="0">
              <a:buNone/>
            </a:pPr>
            <a:br>
              <a:rPr lang="en-GB" sz="2000" dirty="0"/>
            </a:br>
            <a:r>
              <a:rPr lang="en-GB" sz="2400" b="1" dirty="0"/>
              <a:t>Learning Goal:</a:t>
            </a:r>
            <a:endParaRPr lang="en-GB" sz="2000" dirty="0"/>
          </a:p>
          <a:p>
            <a:r>
              <a:rPr lang="en-GB" sz="2400" i="1" dirty="0"/>
              <a:t>Supervised learning aims for prediction, unsupervised learning seeks to understand patterns, and reinforcement learning focuses on optimal decision-making.</a:t>
            </a:r>
            <a:endParaRPr lang="en-GB" sz="2000" dirty="0"/>
          </a:p>
          <a:p>
            <a:pPr marL="0" indent="0">
              <a:buNone/>
            </a:pPr>
            <a:br>
              <a:rPr lang="en-GB" sz="2000" dirty="0"/>
            </a:br>
            <a:r>
              <a:rPr lang="en-GB" sz="2400" b="1" i="1" dirty="0"/>
              <a:t>Data Interaction:</a:t>
            </a:r>
            <a:endParaRPr lang="en-GB" sz="2000" dirty="0"/>
          </a:p>
          <a:p>
            <a:r>
              <a:rPr lang="en-GB" sz="2400" i="1" dirty="0"/>
              <a:t>Supervised learning uses static data for training, unsupervised learning analyses the data itself, and reinforcement learning involves an ongoing interaction with an environment.</a:t>
            </a:r>
            <a:endParaRPr lang="en-GB" sz="2000" dirty="0"/>
          </a:p>
        </p:txBody>
      </p:sp>
    </p:spTree>
    <p:extLst>
      <p:ext uri="{BB962C8B-B14F-4D97-AF65-F5344CB8AC3E}">
        <p14:creationId xmlns:p14="http://schemas.microsoft.com/office/powerpoint/2010/main" val="28831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Learning a Function</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pPr marL="0" indent="0">
              <a:buNone/>
            </a:pPr>
            <a:r>
              <a:rPr lang="en-GB" sz="2400" dirty="0"/>
              <a:t>Given a set of examples of input/output pairs, find a function that does a good job of expressing the relationship</a:t>
            </a:r>
          </a:p>
          <a:p>
            <a:r>
              <a:rPr lang="en-GB" sz="2400" b="1" dirty="0"/>
              <a:t>Pronunciation:</a:t>
            </a:r>
            <a:r>
              <a:rPr lang="en-GB" sz="2400" dirty="0"/>
              <a:t> function from letters to sounds.</a:t>
            </a:r>
          </a:p>
          <a:p>
            <a:r>
              <a:rPr lang="en-GB" sz="2400" b="1" dirty="0"/>
              <a:t>Throw a ball: </a:t>
            </a:r>
            <a:r>
              <a:rPr lang="en-GB" sz="2400" dirty="0"/>
              <a:t>function from target locations to joint torques</a:t>
            </a:r>
          </a:p>
          <a:p>
            <a:r>
              <a:rPr lang="en-GB" sz="2400" b="1" dirty="0"/>
              <a:t>Read handwritten characters:</a:t>
            </a:r>
            <a:r>
              <a:rPr lang="en-GB" sz="2400" dirty="0"/>
              <a:t> function from collections of image pixels to letters</a:t>
            </a:r>
          </a:p>
          <a:p>
            <a:r>
              <a:rPr lang="en-GB" sz="2400" b="1" dirty="0"/>
              <a:t>Diagnose diseases:</a:t>
            </a:r>
            <a:r>
              <a:rPr lang="en-GB" sz="2400" dirty="0"/>
              <a:t> function from lab test results to disease categories</a:t>
            </a:r>
          </a:p>
        </p:txBody>
      </p:sp>
    </p:spTree>
    <p:extLst>
      <p:ext uri="{BB962C8B-B14F-4D97-AF65-F5344CB8AC3E}">
        <p14:creationId xmlns:p14="http://schemas.microsoft.com/office/powerpoint/2010/main" val="271700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092B-63A7-DA6F-7848-DE73D21A29B4}"/>
              </a:ext>
            </a:extLst>
          </p:cNvPr>
          <p:cNvSpPr>
            <a:spLocks noGrp="1"/>
          </p:cNvSpPr>
          <p:nvPr>
            <p:ph type="title"/>
          </p:nvPr>
        </p:nvSpPr>
        <p:spPr/>
        <p:txBody>
          <a:bodyPr/>
          <a:lstStyle/>
          <a:p>
            <a:r>
              <a:rPr lang="en-GB" b="1" dirty="0"/>
              <a:t>Aspects of Function Learning</a:t>
            </a:r>
          </a:p>
        </p:txBody>
      </p:sp>
      <p:sp>
        <p:nvSpPr>
          <p:cNvPr id="3" name="Content Placeholder 2">
            <a:extLst>
              <a:ext uri="{FF2B5EF4-FFF2-40B4-BE49-F238E27FC236}">
                <a16:creationId xmlns:a16="http://schemas.microsoft.com/office/drawing/2014/main" id="{2014D7DF-BFD0-BAB9-5A74-2D47A158A563}"/>
              </a:ext>
            </a:extLst>
          </p:cNvPr>
          <p:cNvSpPr>
            <a:spLocks noGrp="1"/>
          </p:cNvSpPr>
          <p:nvPr>
            <p:ph idx="1"/>
          </p:nvPr>
        </p:nvSpPr>
        <p:spPr/>
        <p:txBody>
          <a:bodyPr/>
          <a:lstStyle/>
          <a:p>
            <a:r>
              <a:rPr lang="en-GB" sz="2400" dirty="0"/>
              <a:t>Memory</a:t>
            </a:r>
          </a:p>
          <a:p>
            <a:endParaRPr lang="en-GB" sz="2400" dirty="0"/>
          </a:p>
          <a:p>
            <a:r>
              <a:rPr lang="en-GB" sz="2400" dirty="0"/>
              <a:t>Averaging</a:t>
            </a:r>
          </a:p>
          <a:p>
            <a:endParaRPr lang="en-GB" sz="2400" dirty="0"/>
          </a:p>
          <a:p>
            <a:r>
              <a:rPr lang="en-GB" sz="2400" dirty="0"/>
              <a:t>Generalisation</a:t>
            </a:r>
          </a:p>
          <a:p>
            <a:pPr marL="0" indent="0">
              <a:buNone/>
            </a:pPr>
            <a:endParaRPr lang="en-GB" sz="2400" dirty="0"/>
          </a:p>
        </p:txBody>
      </p:sp>
    </p:spTree>
    <p:extLst>
      <p:ext uri="{BB962C8B-B14F-4D97-AF65-F5344CB8AC3E}">
        <p14:creationId xmlns:p14="http://schemas.microsoft.com/office/powerpoint/2010/main" val="45478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Example Problem</a:t>
            </a:r>
          </a:p>
        </p:txBody>
      </p:sp>
      <p:sp>
        <p:nvSpPr>
          <p:cNvPr id="3" name="Content Placeholder 2">
            <a:extLst>
              <a:ext uri="{FF2B5EF4-FFF2-40B4-BE49-F238E27FC236}">
                <a16:creationId xmlns:a16="http://schemas.microsoft.com/office/drawing/2014/main" id="{EE849415-BF87-4C1B-AC98-9984E641CA03}"/>
              </a:ext>
            </a:extLst>
          </p:cNvPr>
          <p:cNvSpPr>
            <a:spLocks noGrp="1"/>
          </p:cNvSpPr>
          <p:nvPr>
            <p:ph idx="1"/>
          </p:nvPr>
        </p:nvSpPr>
        <p:spPr/>
        <p:txBody>
          <a:bodyPr/>
          <a:lstStyle/>
          <a:p>
            <a:pPr marL="0" indent="0">
              <a:buNone/>
            </a:pPr>
            <a:r>
              <a:rPr lang="en-GB" dirty="0"/>
              <a:t>When to drive the car? Depends on:</a:t>
            </a:r>
          </a:p>
          <a:p>
            <a:pPr lvl="1"/>
            <a:r>
              <a:rPr lang="en-GB" dirty="0"/>
              <a:t>Temperature</a:t>
            </a:r>
          </a:p>
          <a:p>
            <a:pPr lvl="1"/>
            <a:r>
              <a:rPr lang="en-GB" dirty="0"/>
              <a:t>Expected precipitation</a:t>
            </a:r>
          </a:p>
          <a:p>
            <a:pPr lvl="1"/>
            <a:r>
              <a:rPr lang="en-GB" dirty="0"/>
              <a:t>Day of the week</a:t>
            </a:r>
          </a:p>
          <a:p>
            <a:pPr lvl="1"/>
            <a:r>
              <a:rPr lang="en-GB" dirty="0"/>
              <a:t>Whether she needs to shop on the way home</a:t>
            </a:r>
          </a:p>
          <a:p>
            <a:pPr lvl="1"/>
            <a:r>
              <a:rPr lang="en-GB" dirty="0"/>
              <a:t>What she’s wearing</a:t>
            </a:r>
          </a:p>
        </p:txBody>
      </p:sp>
    </p:spTree>
    <p:extLst>
      <p:ext uri="{BB962C8B-B14F-4D97-AF65-F5344CB8AC3E}">
        <p14:creationId xmlns:p14="http://schemas.microsoft.com/office/powerpoint/2010/main" val="1977127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Memory</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4126338155"/>
              </p:ext>
            </p:extLst>
          </p:nvPr>
        </p:nvGraphicFramePr>
        <p:xfrm>
          <a:off x="1283368" y="2018130"/>
          <a:ext cx="8907378" cy="1854200"/>
        </p:xfrm>
        <a:graphic>
          <a:graphicData uri="http://schemas.openxmlformats.org/drawingml/2006/table">
            <a:tbl>
              <a:tblPr firstRow="1" bandRow="1">
                <a:tableStyleId>{616DA210-FB5B-4158-B5E0-FEB733F419BA}</a:tableStyleId>
              </a:tblPr>
              <a:tblGrid>
                <a:gridCol w="1484563">
                  <a:extLst>
                    <a:ext uri="{9D8B030D-6E8A-4147-A177-3AD203B41FA5}">
                      <a16:colId xmlns:a16="http://schemas.microsoft.com/office/drawing/2014/main" val="800030578"/>
                    </a:ext>
                  </a:extLst>
                </a:gridCol>
                <a:gridCol w="1484563">
                  <a:extLst>
                    <a:ext uri="{9D8B030D-6E8A-4147-A177-3AD203B41FA5}">
                      <a16:colId xmlns:a16="http://schemas.microsoft.com/office/drawing/2014/main" val="94377235"/>
                    </a:ext>
                  </a:extLst>
                </a:gridCol>
                <a:gridCol w="1484563">
                  <a:extLst>
                    <a:ext uri="{9D8B030D-6E8A-4147-A177-3AD203B41FA5}">
                      <a16:colId xmlns:a16="http://schemas.microsoft.com/office/drawing/2014/main" val="123010012"/>
                    </a:ext>
                  </a:extLst>
                </a:gridCol>
                <a:gridCol w="1484563">
                  <a:extLst>
                    <a:ext uri="{9D8B030D-6E8A-4147-A177-3AD203B41FA5}">
                      <a16:colId xmlns:a16="http://schemas.microsoft.com/office/drawing/2014/main" val="1970340666"/>
                    </a:ext>
                  </a:extLst>
                </a:gridCol>
                <a:gridCol w="1484563">
                  <a:extLst>
                    <a:ext uri="{9D8B030D-6E8A-4147-A177-3AD203B41FA5}">
                      <a16:colId xmlns:a16="http://schemas.microsoft.com/office/drawing/2014/main" val="3727851444"/>
                    </a:ext>
                  </a:extLst>
                </a:gridCol>
                <a:gridCol w="1484563">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10</a:t>
                      </a:r>
                    </a:p>
                  </a:txBody>
                  <a:tcPr/>
                </a:tc>
                <a:tc>
                  <a:txBody>
                    <a:bodyPr/>
                    <a:lstStyle/>
                    <a:p>
                      <a:r>
                        <a:rPr lang="en-GB" dirty="0"/>
                        <a:t>Rain</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3813402172"/>
                  </a:ext>
                </a:extLst>
              </a:tr>
              <a:tr h="370840">
                <a:tc>
                  <a:txBody>
                    <a:bodyPr/>
                    <a:lstStyle/>
                    <a:p>
                      <a:r>
                        <a:rPr lang="en-GB" dirty="0"/>
                        <a:t>21</a:t>
                      </a:r>
                    </a:p>
                  </a:txBody>
                  <a:tcPr/>
                </a:tc>
                <a:tc>
                  <a:txBody>
                    <a:bodyPr/>
                    <a:lstStyle/>
                    <a:p>
                      <a:r>
                        <a:rPr lang="en-GB" dirty="0"/>
                        <a:t>None</a:t>
                      </a:r>
                    </a:p>
                  </a:txBody>
                  <a:tcPr/>
                </a:tc>
                <a:tc>
                  <a:txBody>
                    <a:bodyPr/>
                    <a:lstStyle/>
                    <a:p>
                      <a:r>
                        <a:rPr lang="en-GB" dirty="0"/>
                        <a:t>Tuesday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2649211957"/>
                  </a:ext>
                </a:extLst>
              </a:tr>
              <a:tr h="370840">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588764032"/>
                  </a:ext>
                </a:extLst>
              </a:tr>
            </a:tbl>
          </a:graphicData>
        </a:graphic>
      </p:graphicFrame>
    </p:spTree>
    <p:extLst>
      <p:ext uri="{BB962C8B-B14F-4D97-AF65-F5344CB8AC3E}">
        <p14:creationId xmlns:p14="http://schemas.microsoft.com/office/powerpoint/2010/main" val="2987685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Memory</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135644142"/>
              </p:ext>
            </p:extLst>
          </p:nvPr>
        </p:nvGraphicFramePr>
        <p:xfrm>
          <a:off x="1187116" y="2174541"/>
          <a:ext cx="8702844" cy="1854200"/>
        </p:xfrm>
        <a:graphic>
          <a:graphicData uri="http://schemas.openxmlformats.org/drawingml/2006/table">
            <a:tbl>
              <a:tblPr firstRow="1" bandRow="1">
                <a:tableStyleId>{D7AC3CCA-C797-4891-BE02-D94E43425B78}</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10</a:t>
                      </a:r>
                    </a:p>
                  </a:txBody>
                  <a:tcPr/>
                </a:tc>
                <a:tc>
                  <a:txBody>
                    <a:bodyPr/>
                    <a:lstStyle/>
                    <a:p>
                      <a:r>
                        <a:rPr lang="en-GB" dirty="0"/>
                        <a:t>Rain</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3813402172"/>
                  </a:ext>
                </a:extLst>
              </a:tr>
              <a:tr h="370840">
                <a:tc>
                  <a:txBody>
                    <a:bodyPr/>
                    <a:lstStyle/>
                    <a:p>
                      <a:r>
                        <a:rPr lang="en-GB" dirty="0"/>
                        <a:t>21</a:t>
                      </a:r>
                    </a:p>
                  </a:txBody>
                  <a:tcPr/>
                </a:tc>
                <a:tc>
                  <a:txBody>
                    <a:bodyPr/>
                    <a:lstStyle/>
                    <a:p>
                      <a:r>
                        <a:rPr lang="en-GB" dirty="0"/>
                        <a:t>None</a:t>
                      </a:r>
                    </a:p>
                  </a:txBody>
                  <a:tcPr/>
                </a:tc>
                <a:tc>
                  <a:txBody>
                    <a:bodyPr/>
                    <a:lstStyle/>
                    <a:p>
                      <a:r>
                        <a:rPr lang="en-GB" dirty="0"/>
                        <a:t>Tuesday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2649211957"/>
                  </a:ext>
                </a:extLst>
              </a:tr>
              <a:tr h="370840">
                <a:tc>
                  <a:txBody>
                    <a:bodyPr/>
                    <a:lstStyle/>
                    <a:p>
                      <a:r>
                        <a:rPr lang="en-GB" dirty="0"/>
                        <a:t>10</a:t>
                      </a:r>
                    </a:p>
                  </a:txBody>
                  <a:tcPr/>
                </a:tc>
                <a:tc>
                  <a:txBody>
                    <a:bodyPr/>
                    <a:lstStyle/>
                    <a:p>
                      <a:r>
                        <a:rPr lang="en-GB" dirty="0"/>
                        <a:t>Rain</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endParaRPr lang="en-GB" b="1" dirty="0">
                        <a:solidFill>
                          <a:srgbClr val="FF0000"/>
                        </a:solidFill>
                      </a:endParaRPr>
                    </a:p>
                  </a:txBody>
                  <a:tcPr/>
                </a:tc>
                <a:extLst>
                  <a:ext uri="{0D108BD9-81ED-4DB2-BD59-A6C34878D82A}">
                    <a16:rowId xmlns:a16="http://schemas.microsoft.com/office/drawing/2014/main" val="588764032"/>
                  </a:ext>
                </a:extLst>
              </a:tr>
            </a:tbl>
          </a:graphicData>
        </a:graphic>
      </p:graphicFrame>
    </p:spTree>
    <p:extLst>
      <p:ext uri="{BB962C8B-B14F-4D97-AF65-F5344CB8AC3E}">
        <p14:creationId xmlns:p14="http://schemas.microsoft.com/office/powerpoint/2010/main" val="350894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Memory</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827920348"/>
              </p:ext>
            </p:extLst>
          </p:nvPr>
        </p:nvGraphicFramePr>
        <p:xfrm>
          <a:off x="1187116" y="2174541"/>
          <a:ext cx="8702844" cy="1854200"/>
        </p:xfrm>
        <a:graphic>
          <a:graphicData uri="http://schemas.openxmlformats.org/drawingml/2006/table">
            <a:tbl>
              <a:tblPr firstRow="1" bandRow="1">
                <a:tableStyleId>{D7AC3CCA-C797-4891-BE02-D94E43425B78}</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10</a:t>
                      </a:r>
                    </a:p>
                  </a:txBody>
                  <a:tcPr/>
                </a:tc>
                <a:tc>
                  <a:txBody>
                    <a:bodyPr/>
                    <a:lstStyle/>
                    <a:p>
                      <a:r>
                        <a:rPr lang="en-GB" dirty="0"/>
                        <a:t>Rain</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3813402172"/>
                  </a:ext>
                </a:extLst>
              </a:tr>
              <a:tr h="370840">
                <a:tc>
                  <a:txBody>
                    <a:bodyPr/>
                    <a:lstStyle/>
                    <a:p>
                      <a:r>
                        <a:rPr lang="en-GB" dirty="0"/>
                        <a:t>21</a:t>
                      </a:r>
                    </a:p>
                  </a:txBody>
                  <a:tcPr/>
                </a:tc>
                <a:tc>
                  <a:txBody>
                    <a:bodyPr/>
                    <a:lstStyle/>
                    <a:p>
                      <a:r>
                        <a:rPr lang="en-GB" dirty="0"/>
                        <a:t>None</a:t>
                      </a:r>
                    </a:p>
                  </a:txBody>
                  <a:tcPr/>
                </a:tc>
                <a:tc>
                  <a:txBody>
                    <a:bodyPr/>
                    <a:lstStyle/>
                    <a:p>
                      <a:r>
                        <a:rPr lang="en-GB" dirty="0"/>
                        <a:t>Tuesday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2649211957"/>
                  </a:ext>
                </a:extLst>
              </a:tr>
              <a:tr h="370840">
                <a:tc>
                  <a:txBody>
                    <a:bodyPr/>
                    <a:lstStyle/>
                    <a:p>
                      <a:r>
                        <a:rPr lang="en-GB" dirty="0"/>
                        <a:t>10</a:t>
                      </a:r>
                    </a:p>
                  </a:txBody>
                  <a:tcPr/>
                </a:tc>
                <a:tc>
                  <a:txBody>
                    <a:bodyPr/>
                    <a:lstStyle/>
                    <a:p>
                      <a:r>
                        <a:rPr lang="en-GB" dirty="0"/>
                        <a:t>Rain</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b="1" dirty="0">
                          <a:solidFill>
                            <a:srgbClr val="FF0000"/>
                          </a:solidFill>
                        </a:rPr>
                        <a:t>Drive</a:t>
                      </a:r>
                    </a:p>
                  </a:txBody>
                  <a:tcPr/>
                </a:tc>
                <a:extLst>
                  <a:ext uri="{0D108BD9-81ED-4DB2-BD59-A6C34878D82A}">
                    <a16:rowId xmlns:a16="http://schemas.microsoft.com/office/drawing/2014/main" val="588764032"/>
                  </a:ext>
                </a:extLst>
              </a:tr>
            </a:tbl>
          </a:graphicData>
        </a:graphic>
      </p:graphicFrame>
    </p:spTree>
    <p:extLst>
      <p:ext uri="{BB962C8B-B14F-4D97-AF65-F5344CB8AC3E}">
        <p14:creationId xmlns:p14="http://schemas.microsoft.com/office/powerpoint/2010/main" val="39323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Averaging</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1081680750"/>
              </p:ext>
            </p:extLst>
          </p:nvPr>
        </p:nvGraphicFramePr>
        <p:xfrm>
          <a:off x="970547" y="2306888"/>
          <a:ext cx="8702844" cy="3337560"/>
        </p:xfrm>
        <a:graphic>
          <a:graphicData uri="http://schemas.openxmlformats.org/drawingml/2006/table">
            <a:tbl>
              <a:tblPr firstRow="1" bandRow="1">
                <a:tableStyleId>{D7AC3CCA-C797-4891-BE02-D94E43425B78}</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621540945"/>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33539261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407212716"/>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2206210580"/>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endParaRPr lang="en-GB" dirty="0"/>
                    </a:p>
                  </a:txBody>
                  <a:tcPr/>
                </a:tc>
                <a:extLst>
                  <a:ext uri="{0D108BD9-81ED-4DB2-BD59-A6C34878D82A}">
                    <a16:rowId xmlns:a16="http://schemas.microsoft.com/office/drawing/2014/main" val="987960750"/>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3105081" cy="461665"/>
          </a:xfrm>
          <a:prstGeom prst="rect">
            <a:avLst/>
          </a:prstGeom>
          <a:noFill/>
        </p:spPr>
        <p:txBody>
          <a:bodyPr wrap="none" rtlCol="0">
            <a:spAutoFit/>
          </a:bodyPr>
          <a:lstStyle/>
          <a:p>
            <a:r>
              <a:rPr lang="en-GB" sz="2400" dirty="0"/>
              <a:t>Dealing with noise data</a:t>
            </a:r>
          </a:p>
        </p:txBody>
      </p:sp>
    </p:spTree>
    <p:extLst>
      <p:ext uri="{BB962C8B-B14F-4D97-AF65-F5344CB8AC3E}">
        <p14:creationId xmlns:p14="http://schemas.microsoft.com/office/powerpoint/2010/main" val="378897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Averaging</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1574059318"/>
              </p:ext>
            </p:extLst>
          </p:nvPr>
        </p:nvGraphicFramePr>
        <p:xfrm>
          <a:off x="970547" y="2306888"/>
          <a:ext cx="8702844" cy="3337560"/>
        </p:xfrm>
        <a:graphic>
          <a:graphicData uri="http://schemas.openxmlformats.org/drawingml/2006/table">
            <a:tbl>
              <a:tblPr firstRow="1" bandRow="1">
                <a:tableStyleId>{D7AC3CCA-C797-4891-BE02-D94E43425B78}</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621540945"/>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335392612"/>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407212716"/>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2206210580"/>
                  </a:ext>
                </a:extLst>
              </a:tr>
              <a:tr h="370840">
                <a:tc>
                  <a:txBody>
                    <a:bodyPr/>
                    <a:lstStyle/>
                    <a:p>
                      <a:r>
                        <a:rPr lang="en-GB" dirty="0"/>
                        <a:t>39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b="1" dirty="0">
                          <a:solidFill>
                            <a:srgbClr val="FF0000"/>
                          </a:solidFill>
                        </a:rPr>
                        <a:t>Walk</a:t>
                      </a:r>
                    </a:p>
                  </a:txBody>
                  <a:tcPr/>
                </a:tc>
                <a:extLst>
                  <a:ext uri="{0D108BD9-81ED-4DB2-BD59-A6C34878D82A}">
                    <a16:rowId xmlns:a16="http://schemas.microsoft.com/office/drawing/2014/main" val="987960750"/>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3105081" cy="461665"/>
          </a:xfrm>
          <a:prstGeom prst="rect">
            <a:avLst/>
          </a:prstGeom>
          <a:noFill/>
        </p:spPr>
        <p:txBody>
          <a:bodyPr wrap="none" rtlCol="0">
            <a:spAutoFit/>
          </a:bodyPr>
          <a:lstStyle/>
          <a:p>
            <a:r>
              <a:rPr lang="en-GB" sz="2400" dirty="0"/>
              <a:t>Dealing with noise data</a:t>
            </a:r>
          </a:p>
        </p:txBody>
      </p:sp>
    </p:spTree>
    <p:extLst>
      <p:ext uri="{BB962C8B-B14F-4D97-AF65-F5344CB8AC3E}">
        <p14:creationId xmlns:p14="http://schemas.microsoft.com/office/powerpoint/2010/main" val="62713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Sensor Noise</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3449725022"/>
              </p:ext>
            </p:extLst>
          </p:nvPr>
        </p:nvGraphicFramePr>
        <p:xfrm>
          <a:off x="970547" y="2306888"/>
          <a:ext cx="8702844" cy="2966720"/>
        </p:xfrm>
        <a:graphic>
          <a:graphicData uri="http://schemas.openxmlformats.org/drawingml/2006/table">
            <a:tbl>
              <a:tblPr firstRow="1" bandRow="1">
                <a:tableStyleId>{073A0DAA-6AF3-43AB-8588-CEC1D06C72B9}</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38</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40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36</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621540945"/>
                  </a:ext>
                </a:extLst>
              </a:tr>
              <a:tr h="370840">
                <a:tc>
                  <a:txBody>
                    <a:bodyPr/>
                    <a:lstStyle/>
                    <a:p>
                      <a:r>
                        <a:rPr lang="en-GB" dirty="0"/>
                        <a:t>12</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3335392612"/>
                  </a:ext>
                </a:extLst>
              </a:tr>
              <a:tr h="370840">
                <a:tc>
                  <a:txBody>
                    <a:bodyPr/>
                    <a:lstStyle/>
                    <a:p>
                      <a:r>
                        <a:rPr lang="en-GB" dirty="0"/>
                        <a:t>10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407212716"/>
                  </a:ext>
                </a:extLst>
              </a:tr>
              <a:tr h="370840">
                <a:tc>
                  <a:txBody>
                    <a:bodyPr/>
                    <a:lstStyle/>
                    <a:p>
                      <a:r>
                        <a:rPr lang="en-GB" dirty="0"/>
                        <a:t>11</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2206210580"/>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3105081" cy="461665"/>
          </a:xfrm>
          <a:prstGeom prst="rect">
            <a:avLst/>
          </a:prstGeom>
          <a:noFill/>
        </p:spPr>
        <p:txBody>
          <a:bodyPr wrap="none" rtlCol="0">
            <a:spAutoFit/>
          </a:bodyPr>
          <a:lstStyle/>
          <a:p>
            <a:r>
              <a:rPr lang="en-GB" sz="2400" dirty="0"/>
              <a:t>Dealing with noise data</a:t>
            </a:r>
          </a:p>
        </p:txBody>
      </p:sp>
    </p:spTree>
    <p:extLst>
      <p:ext uri="{BB962C8B-B14F-4D97-AF65-F5344CB8AC3E}">
        <p14:creationId xmlns:p14="http://schemas.microsoft.com/office/powerpoint/2010/main" val="219804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Sensor Noise</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nvPr>
        </p:nvGraphicFramePr>
        <p:xfrm>
          <a:off x="970547" y="2306888"/>
          <a:ext cx="8702844" cy="3337560"/>
        </p:xfrm>
        <a:graphic>
          <a:graphicData uri="http://schemas.openxmlformats.org/drawingml/2006/table">
            <a:tbl>
              <a:tblPr firstRow="1" bandRow="1">
                <a:tableStyleId>{073A0DAA-6AF3-43AB-8588-CEC1D06C72B9}</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38</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611812800"/>
                  </a:ext>
                </a:extLst>
              </a:tr>
              <a:tr h="370840">
                <a:tc>
                  <a:txBody>
                    <a:bodyPr/>
                    <a:lstStyle/>
                    <a:p>
                      <a:r>
                        <a:rPr lang="en-GB" dirty="0"/>
                        <a:t>40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36</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621540945"/>
                  </a:ext>
                </a:extLst>
              </a:tr>
              <a:tr h="370840">
                <a:tc>
                  <a:txBody>
                    <a:bodyPr/>
                    <a:lstStyle/>
                    <a:p>
                      <a:r>
                        <a:rPr lang="en-GB" dirty="0"/>
                        <a:t>12</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9</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3335392612"/>
                  </a:ext>
                </a:extLst>
              </a:tr>
              <a:tr h="370840">
                <a:tc>
                  <a:txBody>
                    <a:bodyPr/>
                    <a:lstStyle/>
                    <a:p>
                      <a:r>
                        <a:rPr lang="en-GB" dirty="0"/>
                        <a:t>10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407212716"/>
                  </a:ext>
                </a:extLst>
              </a:tr>
              <a:tr h="370840">
                <a:tc>
                  <a:txBody>
                    <a:bodyPr/>
                    <a:lstStyle/>
                    <a:p>
                      <a:r>
                        <a:rPr lang="en-GB" dirty="0"/>
                        <a:t>11</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2206210580"/>
                  </a:ext>
                </a:extLst>
              </a:tr>
              <a:tr h="370840">
                <a:tc>
                  <a:txBody>
                    <a:bodyPr/>
                    <a:lstStyle/>
                    <a:p>
                      <a:r>
                        <a:rPr lang="en-GB" dirty="0"/>
                        <a:t>10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b="1" dirty="0">
                          <a:solidFill>
                            <a:srgbClr val="FF0000"/>
                          </a:solidFill>
                        </a:rPr>
                        <a:t>Drive</a:t>
                      </a:r>
                    </a:p>
                  </a:txBody>
                  <a:tcPr/>
                </a:tc>
                <a:extLst>
                  <a:ext uri="{0D108BD9-81ED-4DB2-BD59-A6C34878D82A}">
                    <a16:rowId xmlns:a16="http://schemas.microsoft.com/office/drawing/2014/main" val="987960750"/>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3105081" cy="461665"/>
          </a:xfrm>
          <a:prstGeom prst="rect">
            <a:avLst/>
          </a:prstGeom>
          <a:noFill/>
        </p:spPr>
        <p:txBody>
          <a:bodyPr wrap="none" rtlCol="0">
            <a:spAutoFit/>
          </a:bodyPr>
          <a:lstStyle/>
          <a:p>
            <a:r>
              <a:rPr lang="en-GB" sz="2400" dirty="0"/>
              <a:t>Dealing with noise data</a:t>
            </a:r>
          </a:p>
        </p:txBody>
      </p:sp>
    </p:spTree>
    <p:extLst>
      <p:ext uri="{BB962C8B-B14F-4D97-AF65-F5344CB8AC3E}">
        <p14:creationId xmlns:p14="http://schemas.microsoft.com/office/powerpoint/2010/main" val="210976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Generalization</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946839634"/>
              </p:ext>
            </p:extLst>
          </p:nvPr>
        </p:nvGraphicFramePr>
        <p:xfrm>
          <a:off x="970547" y="2306888"/>
          <a:ext cx="8702844" cy="3337560"/>
        </p:xfrm>
        <a:graphic>
          <a:graphicData uri="http://schemas.openxmlformats.org/drawingml/2006/table">
            <a:tbl>
              <a:tblPr firstRow="1" bandRow="1">
                <a:tableStyleId>{073A0DAA-6AF3-43AB-8588-CEC1D06C72B9}</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36</a:t>
                      </a:r>
                    </a:p>
                  </a:txBody>
                  <a:tcPr/>
                </a:tc>
                <a:tc>
                  <a:txBody>
                    <a:bodyPr/>
                    <a:lstStyle/>
                    <a:p>
                      <a:r>
                        <a:rPr lang="en-GB" dirty="0"/>
                        <a:t>None</a:t>
                      </a:r>
                    </a:p>
                  </a:txBody>
                  <a:tcPr/>
                </a:tc>
                <a:tc>
                  <a:txBody>
                    <a:bodyPr/>
                    <a:lstStyle/>
                    <a:p>
                      <a:r>
                        <a:rPr lang="en-GB" dirty="0"/>
                        <a:t>Friday</a:t>
                      </a:r>
                    </a:p>
                  </a:txBody>
                  <a:tcPr/>
                </a:tc>
                <a:tc>
                  <a:txBody>
                    <a:bodyPr/>
                    <a:lstStyle/>
                    <a:p>
                      <a:r>
                        <a:rPr lang="en-GB" dirty="0"/>
                        <a:t>Yes</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3611812800"/>
                  </a:ext>
                </a:extLst>
              </a:tr>
              <a:tr h="370840">
                <a:tc>
                  <a:txBody>
                    <a:bodyPr/>
                    <a:lstStyle/>
                    <a:p>
                      <a:r>
                        <a:rPr lang="en-GB" dirty="0"/>
                        <a:t>18</a:t>
                      </a:r>
                    </a:p>
                  </a:txBody>
                  <a:tcPr/>
                </a:tc>
                <a:tc>
                  <a:txBody>
                    <a:bodyPr/>
                    <a:lstStyle/>
                    <a:p>
                      <a:r>
                        <a:rPr lang="en-GB" dirty="0"/>
                        <a:t>None</a:t>
                      </a:r>
                    </a:p>
                  </a:txBody>
                  <a:tcPr/>
                </a:tc>
                <a:tc>
                  <a:txBody>
                    <a:bodyPr/>
                    <a:lstStyle/>
                    <a:p>
                      <a:r>
                        <a:rPr lang="en-GB" dirty="0"/>
                        <a:t>Sunday</a:t>
                      </a:r>
                    </a:p>
                  </a:txBody>
                  <a:tcPr/>
                </a:tc>
                <a:tc>
                  <a:txBody>
                    <a:bodyPr/>
                    <a:lstStyle/>
                    <a:p>
                      <a:r>
                        <a:rPr lang="en-GB" dirty="0"/>
                        <a:t>Yes</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32</a:t>
                      </a:r>
                    </a:p>
                  </a:txBody>
                  <a:tcPr/>
                </a:tc>
                <a:tc>
                  <a:txBody>
                    <a:bodyPr/>
                    <a:lstStyle/>
                    <a:p>
                      <a:r>
                        <a:rPr lang="en-GB" dirty="0"/>
                        <a:t>Rain</a:t>
                      </a:r>
                    </a:p>
                  </a:txBody>
                  <a:tcPr/>
                </a:tc>
                <a:tc>
                  <a:txBody>
                    <a:bodyPr/>
                    <a:lstStyle/>
                    <a:p>
                      <a:r>
                        <a:rPr lang="en-GB" dirty="0"/>
                        <a:t>Wednesday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621540945"/>
                  </a:ext>
                </a:extLst>
              </a:tr>
              <a:tr h="370840">
                <a:tc>
                  <a:txBody>
                    <a:bodyPr/>
                    <a:lstStyle/>
                    <a:p>
                      <a:r>
                        <a:rPr lang="en-GB" dirty="0"/>
                        <a:t>47</a:t>
                      </a:r>
                    </a:p>
                  </a:txBody>
                  <a:tcPr/>
                </a:tc>
                <a:tc>
                  <a:txBody>
                    <a:bodyPr/>
                    <a:lstStyle/>
                    <a:p>
                      <a:r>
                        <a:rPr lang="en-GB" dirty="0"/>
                        <a:t>None</a:t>
                      </a:r>
                    </a:p>
                  </a:txBody>
                  <a:tcPr/>
                </a:tc>
                <a:tc>
                  <a:txBody>
                    <a:bodyPr/>
                    <a:lstStyle/>
                    <a:p>
                      <a:r>
                        <a:rPr lang="en-GB" dirty="0"/>
                        <a:t>Monday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27</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3335392612"/>
                  </a:ext>
                </a:extLst>
              </a:tr>
              <a:tr h="370840">
                <a:tc>
                  <a:txBody>
                    <a:bodyPr/>
                    <a:lstStyle/>
                    <a:p>
                      <a:r>
                        <a:rPr lang="en-GB" dirty="0"/>
                        <a:t>40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407212716"/>
                  </a:ext>
                </a:extLst>
              </a:tr>
              <a:tr h="370840">
                <a:tc>
                  <a:txBody>
                    <a:bodyPr/>
                    <a:lstStyle/>
                    <a:p>
                      <a:r>
                        <a:rPr lang="en-GB" dirty="0"/>
                        <a:t>9</a:t>
                      </a:r>
                    </a:p>
                  </a:txBody>
                  <a:tcPr/>
                </a:tc>
                <a:tc>
                  <a:txBody>
                    <a:bodyPr/>
                    <a:lstStyle/>
                    <a:p>
                      <a:r>
                        <a:rPr lang="en-GB" dirty="0"/>
                        <a:t>Snow</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2206210580"/>
                  </a:ext>
                </a:extLst>
              </a:tr>
              <a:tr h="370840">
                <a:tc>
                  <a:txBody>
                    <a:bodyPr/>
                    <a:lstStyle/>
                    <a:p>
                      <a:r>
                        <a:rPr lang="en-GB" dirty="0"/>
                        <a:t>32</a:t>
                      </a:r>
                    </a:p>
                  </a:txBody>
                  <a:tcPr/>
                </a:tc>
                <a:tc>
                  <a:txBody>
                    <a:bodyPr/>
                    <a:lstStyle/>
                    <a:p>
                      <a:r>
                        <a:rPr lang="en-GB" dirty="0"/>
                        <a:t>None</a:t>
                      </a:r>
                    </a:p>
                  </a:txBody>
                  <a:tcPr/>
                </a:tc>
                <a:tc>
                  <a:txBody>
                    <a:bodyPr/>
                    <a:lstStyle/>
                    <a:p>
                      <a:r>
                        <a:rPr lang="en-GB" dirty="0"/>
                        <a:t>Tuesday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025378691"/>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4817281" cy="461665"/>
          </a:xfrm>
          <a:prstGeom prst="rect">
            <a:avLst/>
          </a:prstGeom>
          <a:noFill/>
        </p:spPr>
        <p:txBody>
          <a:bodyPr wrap="none" rtlCol="0">
            <a:spAutoFit/>
          </a:bodyPr>
          <a:lstStyle/>
          <a:p>
            <a:r>
              <a:rPr lang="en-GB" sz="2400" dirty="0"/>
              <a:t>Dealing with previously unseen cases</a:t>
            </a:r>
          </a:p>
        </p:txBody>
      </p:sp>
    </p:spTree>
    <p:extLst>
      <p:ext uri="{BB962C8B-B14F-4D97-AF65-F5344CB8AC3E}">
        <p14:creationId xmlns:p14="http://schemas.microsoft.com/office/powerpoint/2010/main" val="217407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Generalization</a:t>
            </a:r>
          </a:p>
        </p:txBody>
      </p:sp>
      <p:graphicFrame>
        <p:nvGraphicFramePr>
          <p:cNvPr id="4" name="Content Placeholder 3">
            <a:extLst>
              <a:ext uri="{FF2B5EF4-FFF2-40B4-BE49-F238E27FC236}">
                <a16:creationId xmlns:a16="http://schemas.microsoft.com/office/drawing/2014/main" id="{81BC5CCC-0843-DE43-E3AC-094AD91722C3}"/>
              </a:ext>
            </a:extLst>
          </p:cNvPr>
          <p:cNvGraphicFramePr>
            <a:graphicFrameLocks noGrp="1"/>
          </p:cNvGraphicFramePr>
          <p:nvPr>
            <p:ph idx="1"/>
            <p:extLst>
              <p:ext uri="{D42A27DB-BD31-4B8C-83A1-F6EECF244321}">
                <p14:modId xmlns:p14="http://schemas.microsoft.com/office/powerpoint/2010/main" val="1256832827"/>
              </p:ext>
            </p:extLst>
          </p:nvPr>
        </p:nvGraphicFramePr>
        <p:xfrm>
          <a:off x="958516" y="2162509"/>
          <a:ext cx="8702844" cy="3708400"/>
        </p:xfrm>
        <a:graphic>
          <a:graphicData uri="http://schemas.openxmlformats.org/drawingml/2006/table">
            <a:tbl>
              <a:tblPr firstRow="1" bandRow="1">
                <a:tableStyleId>{073A0DAA-6AF3-43AB-8588-CEC1D06C72B9}</a:tableStyleId>
              </a:tblPr>
              <a:tblGrid>
                <a:gridCol w="1450474">
                  <a:extLst>
                    <a:ext uri="{9D8B030D-6E8A-4147-A177-3AD203B41FA5}">
                      <a16:colId xmlns:a16="http://schemas.microsoft.com/office/drawing/2014/main" val="800030578"/>
                    </a:ext>
                  </a:extLst>
                </a:gridCol>
                <a:gridCol w="1450474">
                  <a:extLst>
                    <a:ext uri="{9D8B030D-6E8A-4147-A177-3AD203B41FA5}">
                      <a16:colId xmlns:a16="http://schemas.microsoft.com/office/drawing/2014/main" val="94377235"/>
                    </a:ext>
                  </a:extLst>
                </a:gridCol>
                <a:gridCol w="1450474">
                  <a:extLst>
                    <a:ext uri="{9D8B030D-6E8A-4147-A177-3AD203B41FA5}">
                      <a16:colId xmlns:a16="http://schemas.microsoft.com/office/drawing/2014/main" val="123010012"/>
                    </a:ext>
                  </a:extLst>
                </a:gridCol>
                <a:gridCol w="1450474">
                  <a:extLst>
                    <a:ext uri="{9D8B030D-6E8A-4147-A177-3AD203B41FA5}">
                      <a16:colId xmlns:a16="http://schemas.microsoft.com/office/drawing/2014/main" val="1970340666"/>
                    </a:ext>
                  </a:extLst>
                </a:gridCol>
                <a:gridCol w="1450474">
                  <a:extLst>
                    <a:ext uri="{9D8B030D-6E8A-4147-A177-3AD203B41FA5}">
                      <a16:colId xmlns:a16="http://schemas.microsoft.com/office/drawing/2014/main" val="3727851444"/>
                    </a:ext>
                  </a:extLst>
                </a:gridCol>
                <a:gridCol w="1450474">
                  <a:extLst>
                    <a:ext uri="{9D8B030D-6E8A-4147-A177-3AD203B41FA5}">
                      <a16:colId xmlns:a16="http://schemas.microsoft.com/office/drawing/2014/main" val="2796759384"/>
                    </a:ext>
                  </a:extLst>
                </a:gridCol>
              </a:tblGrid>
              <a:tr h="370840">
                <a:tc>
                  <a:txBody>
                    <a:bodyPr/>
                    <a:lstStyle/>
                    <a:p>
                      <a:r>
                        <a:rPr lang="en-GB" dirty="0"/>
                        <a:t>Temp</a:t>
                      </a:r>
                    </a:p>
                  </a:txBody>
                  <a:tcPr/>
                </a:tc>
                <a:tc>
                  <a:txBody>
                    <a:bodyPr/>
                    <a:lstStyle/>
                    <a:p>
                      <a:r>
                        <a:rPr lang="en-GB" dirty="0" err="1"/>
                        <a:t>Precip</a:t>
                      </a:r>
                      <a:endParaRPr lang="en-GB" dirty="0"/>
                    </a:p>
                  </a:txBody>
                  <a:tcPr/>
                </a:tc>
                <a:tc>
                  <a:txBody>
                    <a:bodyPr/>
                    <a:lstStyle/>
                    <a:p>
                      <a:r>
                        <a:rPr lang="en-GB" dirty="0"/>
                        <a:t>Day</a:t>
                      </a:r>
                    </a:p>
                  </a:txBody>
                  <a:tcPr/>
                </a:tc>
                <a:tc>
                  <a:txBody>
                    <a:bodyPr/>
                    <a:lstStyle/>
                    <a:p>
                      <a:r>
                        <a:rPr lang="en-GB" dirty="0"/>
                        <a:t>Shop</a:t>
                      </a:r>
                    </a:p>
                  </a:txBody>
                  <a:tcPr/>
                </a:tc>
                <a:tc>
                  <a:txBody>
                    <a:bodyPr/>
                    <a:lstStyle/>
                    <a:p>
                      <a:r>
                        <a:rPr lang="en-GB" dirty="0"/>
                        <a:t>Clothes</a:t>
                      </a:r>
                    </a:p>
                  </a:txBody>
                  <a:tcPr/>
                </a:tc>
                <a:tc>
                  <a:txBody>
                    <a:bodyPr/>
                    <a:lstStyle/>
                    <a:p>
                      <a:endParaRPr lang="en-GB" dirty="0"/>
                    </a:p>
                  </a:txBody>
                  <a:tcPr/>
                </a:tc>
                <a:extLst>
                  <a:ext uri="{0D108BD9-81ED-4DB2-BD59-A6C34878D82A}">
                    <a16:rowId xmlns:a16="http://schemas.microsoft.com/office/drawing/2014/main" val="2940644492"/>
                  </a:ext>
                </a:extLst>
              </a:tr>
              <a:tr h="370840">
                <a:tc>
                  <a:txBody>
                    <a:bodyPr/>
                    <a:lstStyle/>
                    <a:p>
                      <a:r>
                        <a:rPr lang="en-GB" dirty="0"/>
                        <a:t>36</a:t>
                      </a:r>
                    </a:p>
                  </a:txBody>
                  <a:tcPr/>
                </a:tc>
                <a:tc>
                  <a:txBody>
                    <a:bodyPr/>
                    <a:lstStyle/>
                    <a:p>
                      <a:r>
                        <a:rPr lang="en-GB" dirty="0"/>
                        <a:t>None</a:t>
                      </a:r>
                    </a:p>
                  </a:txBody>
                  <a:tcPr/>
                </a:tc>
                <a:tc>
                  <a:txBody>
                    <a:bodyPr/>
                    <a:lstStyle/>
                    <a:p>
                      <a:r>
                        <a:rPr lang="en-GB" dirty="0"/>
                        <a:t>Friday</a:t>
                      </a:r>
                    </a:p>
                  </a:txBody>
                  <a:tcPr/>
                </a:tc>
                <a:tc>
                  <a:txBody>
                    <a:bodyPr/>
                    <a:lstStyle/>
                    <a:p>
                      <a:r>
                        <a:rPr lang="en-GB" dirty="0"/>
                        <a:t>Yes</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3611812800"/>
                  </a:ext>
                </a:extLst>
              </a:tr>
              <a:tr h="370840">
                <a:tc>
                  <a:txBody>
                    <a:bodyPr/>
                    <a:lstStyle/>
                    <a:p>
                      <a:r>
                        <a:rPr lang="en-GB" dirty="0"/>
                        <a:t>18</a:t>
                      </a:r>
                    </a:p>
                  </a:txBody>
                  <a:tcPr/>
                </a:tc>
                <a:tc>
                  <a:txBody>
                    <a:bodyPr/>
                    <a:lstStyle/>
                    <a:p>
                      <a:r>
                        <a:rPr lang="en-GB" dirty="0"/>
                        <a:t>None</a:t>
                      </a:r>
                    </a:p>
                  </a:txBody>
                  <a:tcPr/>
                </a:tc>
                <a:tc>
                  <a:txBody>
                    <a:bodyPr/>
                    <a:lstStyle/>
                    <a:p>
                      <a:r>
                        <a:rPr lang="en-GB" dirty="0"/>
                        <a:t>Sunday</a:t>
                      </a:r>
                    </a:p>
                  </a:txBody>
                  <a:tcPr/>
                </a:tc>
                <a:tc>
                  <a:txBody>
                    <a:bodyPr/>
                    <a:lstStyle/>
                    <a:p>
                      <a:r>
                        <a:rPr lang="en-GB" dirty="0"/>
                        <a:t>Yes</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439698286"/>
                  </a:ext>
                </a:extLst>
              </a:tr>
              <a:tr h="370840">
                <a:tc>
                  <a:txBody>
                    <a:bodyPr/>
                    <a:lstStyle/>
                    <a:p>
                      <a:r>
                        <a:rPr lang="en-GB" dirty="0"/>
                        <a:t>32</a:t>
                      </a:r>
                    </a:p>
                  </a:txBody>
                  <a:tcPr/>
                </a:tc>
                <a:tc>
                  <a:txBody>
                    <a:bodyPr/>
                    <a:lstStyle/>
                    <a:p>
                      <a:r>
                        <a:rPr lang="en-GB" dirty="0"/>
                        <a:t>Rain</a:t>
                      </a:r>
                    </a:p>
                  </a:txBody>
                  <a:tcPr/>
                </a:tc>
                <a:tc>
                  <a:txBody>
                    <a:bodyPr/>
                    <a:lstStyle/>
                    <a:p>
                      <a:r>
                        <a:rPr lang="en-GB" dirty="0"/>
                        <a:t>Wednesday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1621540945"/>
                  </a:ext>
                </a:extLst>
              </a:tr>
              <a:tr h="370840">
                <a:tc>
                  <a:txBody>
                    <a:bodyPr/>
                    <a:lstStyle/>
                    <a:p>
                      <a:r>
                        <a:rPr lang="en-GB" dirty="0"/>
                        <a:t>47</a:t>
                      </a:r>
                    </a:p>
                  </a:txBody>
                  <a:tcPr/>
                </a:tc>
                <a:tc>
                  <a:txBody>
                    <a:bodyPr/>
                    <a:lstStyle/>
                    <a:p>
                      <a:r>
                        <a:rPr lang="en-GB" dirty="0"/>
                        <a:t>None</a:t>
                      </a:r>
                    </a:p>
                  </a:txBody>
                  <a:tcPr/>
                </a:tc>
                <a:tc>
                  <a:txBody>
                    <a:bodyPr/>
                    <a:lstStyle/>
                    <a:p>
                      <a:r>
                        <a:rPr lang="en-GB" dirty="0"/>
                        <a:t>Monday</a:t>
                      </a:r>
                    </a:p>
                  </a:txBody>
                  <a:tcPr/>
                </a:tc>
                <a:tc>
                  <a:txBody>
                    <a:bodyPr/>
                    <a:lstStyle/>
                    <a:p>
                      <a:r>
                        <a:rPr lang="en-GB" dirty="0"/>
                        <a:t>No</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132462067"/>
                  </a:ext>
                </a:extLst>
              </a:tr>
              <a:tr h="370840">
                <a:tc>
                  <a:txBody>
                    <a:bodyPr/>
                    <a:lstStyle/>
                    <a:p>
                      <a:r>
                        <a:rPr lang="en-GB" dirty="0"/>
                        <a:t>27</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Formal</a:t>
                      </a:r>
                    </a:p>
                  </a:txBody>
                  <a:tcPr/>
                </a:tc>
                <a:tc>
                  <a:txBody>
                    <a:bodyPr/>
                    <a:lstStyle/>
                    <a:p>
                      <a:r>
                        <a:rPr lang="en-GB" dirty="0"/>
                        <a:t>Drive</a:t>
                      </a:r>
                    </a:p>
                  </a:txBody>
                  <a:tcPr/>
                </a:tc>
                <a:extLst>
                  <a:ext uri="{0D108BD9-81ED-4DB2-BD59-A6C34878D82A}">
                    <a16:rowId xmlns:a16="http://schemas.microsoft.com/office/drawing/2014/main" val="3335392612"/>
                  </a:ext>
                </a:extLst>
              </a:tr>
              <a:tr h="370840">
                <a:tc>
                  <a:txBody>
                    <a:bodyPr/>
                    <a:lstStyle/>
                    <a:p>
                      <a:r>
                        <a:rPr lang="en-GB" dirty="0"/>
                        <a:t>40</a:t>
                      </a:r>
                    </a:p>
                  </a:txBody>
                  <a:tcPr/>
                </a:tc>
                <a:tc>
                  <a:txBody>
                    <a:bodyPr/>
                    <a:lstStyle/>
                    <a:p>
                      <a:r>
                        <a:rPr lang="en-GB" dirty="0"/>
                        <a:t>None</a:t>
                      </a:r>
                    </a:p>
                  </a:txBody>
                  <a:tcPr/>
                </a:tc>
                <a:tc>
                  <a:txBody>
                    <a:bodyPr/>
                    <a:lstStyle/>
                    <a:p>
                      <a:r>
                        <a:rPr lang="en-GB" dirty="0"/>
                        <a:t>Saturday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407212716"/>
                  </a:ext>
                </a:extLst>
              </a:tr>
              <a:tr h="370840">
                <a:tc>
                  <a:txBody>
                    <a:bodyPr/>
                    <a:lstStyle/>
                    <a:p>
                      <a:r>
                        <a:rPr lang="en-GB" dirty="0"/>
                        <a:t>9</a:t>
                      </a:r>
                    </a:p>
                  </a:txBody>
                  <a:tcPr/>
                </a:tc>
                <a:tc>
                  <a:txBody>
                    <a:bodyPr/>
                    <a:lstStyle/>
                    <a:p>
                      <a:r>
                        <a:rPr lang="en-GB" dirty="0"/>
                        <a:t>Snow</a:t>
                      </a:r>
                    </a:p>
                  </a:txBody>
                  <a:tcPr/>
                </a:tc>
                <a:tc>
                  <a:txBody>
                    <a:bodyPr/>
                    <a:lstStyle/>
                    <a:p>
                      <a:r>
                        <a:rPr lang="en-GB" dirty="0"/>
                        <a:t>Monday</a:t>
                      </a:r>
                    </a:p>
                  </a:txBody>
                  <a:tcPr/>
                </a:tc>
                <a:tc>
                  <a:txBody>
                    <a:bodyPr/>
                    <a:lstStyle/>
                    <a:p>
                      <a:r>
                        <a:rPr lang="en-GB" dirty="0"/>
                        <a:t>Yes</a:t>
                      </a:r>
                    </a:p>
                  </a:txBody>
                  <a:tcPr/>
                </a:tc>
                <a:tc>
                  <a:txBody>
                    <a:bodyPr/>
                    <a:lstStyle/>
                    <a:p>
                      <a:r>
                        <a:rPr lang="en-GB" dirty="0"/>
                        <a:t>Casual</a:t>
                      </a:r>
                    </a:p>
                  </a:txBody>
                  <a:tcPr/>
                </a:tc>
                <a:tc>
                  <a:txBody>
                    <a:bodyPr/>
                    <a:lstStyle/>
                    <a:p>
                      <a:r>
                        <a:rPr lang="en-GB" dirty="0"/>
                        <a:t>Drive</a:t>
                      </a:r>
                    </a:p>
                  </a:txBody>
                  <a:tcPr/>
                </a:tc>
                <a:extLst>
                  <a:ext uri="{0D108BD9-81ED-4DB2-BD59-A6C34878D82A}">
                    <a16:rowId xmlns:a16="http://schemas.microsoft.com/office/drawing/2014/main" val="2206210580"/>
                  </a:ext>
                </a:extLst>
              </a:tr>
              <a:tr h="370840">
                <a:tc>
                  <a:txBody>
                    <a:bodyPr/>
                    <a:lstStyle/>
                    <a:p>
                      <a:r>
                        <a:rPr lang="en-GB" dirty="0"/>
                        <a:t>32</a:t>
                      </a:r>
                    </a:p>
                  </a:txBody>
                  <a:tcPr/>
                </a:tc>
                <a:tc>
                  <a:txBody>
                    <a:bodyPr/>
                    <a:lstStyle/>
                    <a:p>
                      <a:r>
                        <a:rPr lang="en-GB" dirty="0"/>
                        <a:t>None</a:t>
                      </a:r>
                    </a:p>
                  </a:txBody>
                  <a:tcPr/>
                </a:tc>
                <a:tc>
                  <a:txBody>
                    <a:bodyPr/>
                    <a:lstStyle/>
                    <a:p>
                      <a:r>
                        <a:rPr lang="en-GB" dirty="0"/>
                        <a:t>Tuesday</a:t>
                      </a:r>
                    </a:p>
                  </a:txBody>
                  <a:tcPr/>
                </a:tc>
                <a:tc>
                  <a:txBody>
                    <a:bodyPr/>
                    <a:lstStyle/>
                    <a:p>
                      <a:r>
                        <a:rPr lang="en-GB" dirty="0"/>
                        <a:t>No</a:t>
                      </a:r>
                    </a:p>
                  </a:txBody>
                  <a:tcPr/>
                </a:tc>
                <a:tc>
                  <a:txBody>
                    <a:bodyPr/>
                    <a:lstStyle/>
                    <a:p>
                      <a:r>
                        <a:rPr lang="en-GB" dirty="0"/>
                        <a:t>Casual</a:t>
                      </a:r>
                    </a:p>
                  </a:txBody>
                  <a:tcPr/>
                </a:tc>
                <a:tc>
                  <a:txBody>
                    <a:bodyPr/>
                    <a:lstStyle/>
                    <a:p>
                      <a:r>
                        <a:rPr lang="en-GB" dirty="0"/>
                        <a:t>Walk</a:t>
                      </a:r>
                    </a:p>
                  </a:txBody>
                  <a:tcPr/>
                </a:tc>
                <a:extLst>
                  <a:ext uri="{0D108BD9-81ED-4DB2-BD59-A6C34878D82A}">
                    <a16:rowId xmlns:a16="http://schemas.microsoft.com/office/drawing/2014/main" val="3025378691"/>
                  </a:ext>
                </a:extLst>
              </a:tr>
              <a:tr h="370840">
                <a:tc>
                  <a:txBody>
                    <a:bodyPr/>
                    <a:lstStyle/>
                    <a:p>
                      <a:r>
                        <a:rPr lang="en-GB" dirty="0"/>
                        <a:t>29</a:t>
                      </a:r>
                    </a:p>
                  </a:txBody>
                  <a:tcPr/>
                </a:tc>
                <a:tc>
                  <a:txBody>
                    <a:bodyPr/>
                    <a:lstStyle/>
                    <a:p>
                      <a:r>
                        <a:rPr lang="en-GB" dirty="0"/>
                        <a:t>rain</a:t>
                      </a:r>
                    </a:p>
                  </a:txBody>
                  <a:tcPr/>
                </a:tc>
                <a:tc>
                  <a:txBody>
                    <a:bodyPr/>
                    <a:lstStyle/>
                    <a:p>
                      <a:r>
                        <a:rPr lang="en-GB" dirty="0"/>
                        <a:t>Monday</a:t>
                      </a:r>
                    </a:p>
                  </a:txBody>
                  <a:tcPr/>
                </a:tc>
                <a:tc>
                  <a:txBody>
                    <a:bodyPr/>
                    <a:lstStyle/>
                    <a:p>
                      <a:r>
                        <a:rPr lang="en-GB" dirty="0"/>
                        <a:t>No</a:t>
                      </a:r>
                    </a:p>
                  </a:txBody>
                  <a:tcPr/>
                </a:tc>
                <a:tc>
                  <a:txBody>
                    <a:bodyPr/>
                    <a:lstStyle/>
                    <a:p>
                      <a:r>
                        <a:rPr lang="en-GB" dirty="0"/>
                        <a:t>Casual</a:t>
                      </a:r>
                    </a:p>
                  </a:txBody>
                  <a:tcPr/>
                </a:tc>
                <a:tc>
                  <a:txBody>
                    <a:bodyPr/>
                    <a:lstStyle/>
                    <a:p>
                      <a:r>
                        <a:rPr lang="en-GB" dirty="0"/>
                        <a:t>____</a:t>
                      </a:r>
                    </a:p>
                  </a:txBody>
                  <a:tcPr/>
                </a:tc>
                <a:extLst>
                  <a:ext uri="{0D108BD9-81ED-4DB2-BD59-A6C34878D82A}">
                    <a16:rowId xmlns:a16="http://schemas.microsoft.com/office/drawing/2014/main" val="1823214087"/>
                  </a:ext>
                </a:extLst>
              </a:tr>
            </a:tbl>
          </a:graphicData>
        </a:graphic>
      </p:graphicFrame>
      <p:sp>
        <p:nvSpPr>
          <p:cNvPr id="3" name="TextBox 2">
            <a:extLst>
              <a:ext uri="{FF2B5EF4-FFF2-40B4-BE49-F238E27FC236}">
                <a16:creationId xmlns:a16="http://schemas.microsoft.com/office/drawing/2014/main" id="{107C762B-99D3-7360-2A50-73AC20614CD2}"/>
              </a:ext>
            </a:extLst>
          </p:cNvPr>
          <p:cNvSpPr txBox="1"/>
          <p:nvPr/>
        </p:nvSpPr>
        <p:spPr>
          <a:xfrm>
            <a:off x="838200" y="1459855"/>
            <a:ext cx="4817281" cy="461665"/>
          </a:xfrm>
          <a:prstGeom prst="rect">
            <a:avLst/>
          </a:prstGeom>
          <a:noFill/>
        </p:spPr>
        <p:txBody>
          <a:bodyPr wrap="none" rtlCol="0">
            <a:spAutoFit/>
          </a:bodyPr>
          <a:lstStyle/>
          <a:p>
            <a:r>
              <a:rPr lang="en-GB" sz="2400" dirty="0"/>
              <a:t>Dealing with previously unseen cases</a:t>
            </a:r>
          </a:p>
        </p:txBody>
      </p:sp>
    </p:spTree>
    <p:extLst>
      <p:ext uri="{BB962C8B-B14F-4D97-AF65-F5344CB8AC3E}">
        <p14:creationId xmlns:p14="http://schemas.microsoft.com/office/powerpoint/2010/main" val="248138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The Red and The Black</a:t>
            </a:r>
          </a:p>
        </p:txBody>
      </p:sp>
      <p:pic>
        <p:nvPicPr>
          <p:cNvPr id="8" name="Content Placeholder 7">
            <a:extLst>
              <a:ext uri="{FF2B5EF4-FFF2-40B4-BE49-F238E27FC236}">
                <a16:creationId xmlns:a16="http://schemas.microsoft.com/office/drawing/2014/main" id="{70825A83-2A68-F852-221C-7289FE82DD34}"/>
              </a:ext>
            </a:extLst>
          </p:cNvPr>
          <p:cNvPicPr>
            <a:picLocks noGrp="1" noChangeAspect="1"/>
          </p:cNvPicPr>
          <p:nvPr>
            <p:ph idx="1"/>
          </p:nvPr>
        </p:nvPicPr>
        <p:blipFill>
          <a:blip r:embed="rId3"/>
          <a:stretch>
            <a:fillRect/>
          </a:stretch>
        </p:blipFill>
        <p:spPr>
          <a:xfrm>
            <a:off x="2366210" y="1582403"/>
            <a:ext cx="7459580" cy="4329220"/>
          </a:xfrm>
        </p:spPr>
      </p:pic>
    </p:spTree>
    <p:extLst>
      <p:ext uri="{BB962C8B-B14F-4D97-AF65-F5344CB8AC3E}">
        <p14:creationId xmlns:p14="http://schemas.microsoft.com/office/powerpoint/2010/main" val="2883861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What’s the right hypothesis?</a:t>
            </a:r>
          </a:p>
        </p:txBody>
      </p:sp>
      <p:pic>
        <p:nvPicPr>
          <p:cNvPr id="6" name="Content Placeholder 5">
            <a:extLst>
              <a:ext uri="{FF2B5EF4-FFF2-40B4-BE49-F238E27FC236}">
                <a16:creationId xmlns:a16="http://schemas.microsoft.com/office/drawing/2014/main" id="{378AA07B-7207-0A6C-B047-6936F3C14A99}"/>
              </a:ext>
            </a:extLst>
          </p:cNvPr>
          <p:cNvPicPr>
            <a:picLocks noGrp="1" noChangeAspect="1"/>
          </p:cNvPicPr>
          <p:nvPr>
            <p:ph idx="1"/>
          </p:nvPr>
        </p:nvPicPr>
        <p:blipFill>
          <a:blip r:embed="rId3"/>
          <a:stretch>
            <a:fillRect/>
          </a:stretch>
        </p:blipFill>
        <p:spPr>
          <a:xfrm>
            <a:off x="2349606" y="1605631"/>
            <a:ext cx="7492788" cy="4434234"/>
          </a:xfrm>
        </p:spPr>
      </p:pic>
    </p:spTree>
    <p:extLst>
      <p:ext uri="{BB962C8B-B14F-4D97-AF65-F5344CB8AC3E}">
        <p14:creationId xmlns:p14="http://schemas.microsoft.com/office/powerpoint/2010/main" val="2272124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Now, what’s the right hypothesis?</a:t>
            </a:r>
          </a:p>
        </p:txBody>
      </p:sp>
      <p:pic>
        <p:nvPicPr>
          <p:cNvPr id="7" name="Content Placeholder 6">
            <a:extLst>
              <a:ext uri="{FF2B5EF4-FFF2-40B4-BE49-F238E27FC236}">
                <a16:creationId xmlns:a16="http://schemas.microsoft.com/office/drawing/2014/main" id="{AAD41828-6A1E-4B08-120C-4D20B6CA4AC5}"/>
              </a:ext>
            </a:extLst>
          </p:cNvPr>
          <p:cNvPicPr>
            <a:picLocks noGrp="1" noChangeAspect="1"/>
          </p:cNvPicPr>
          <p:nvPr>
            <p:ph idx="1"/>
          </p:nvPr>
        </p:nvPicPr>
        <p:blipFill>
          <a:blip r:embed="rId3"/>
          <a:stretch>
            <a:fillRect/>
          </a:stretch>
        </p:blipFill>
        <p:spPr>
          <a:xfrm>
            <a:off x="2479324" y="1790418"/>
            <a:ext cx="7233351" cy="4153935"/>
          </a:xfrm>
        </p:spPr>
      </p:pic>
    </p:spTree>
    <p:extLst>
      <p:ext uri="{BB962C8B-B14F-4D97-AF65-F5344CB8AC3E}">
        <p14:creationId xmlns:p14="http://schemas.microsoft.com/office/powerpoint/2010/main" val="2704043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Now, what’s the right hypothesis?</a:t>
            </a:r>
          </a:p>
        </p:txBody>
      </p:sp>
      <p:pic>
        <p:nvPicPr>
          <p:cNvPr id="9" name="Content Placeholder 8">
            <a:extLst>
              <a:ext uri="{FF2B5EF4-FFF2-40B4-BE49-F238E27FC236}">
                <a16:creationId xmlns:a16="http://schemas.microsoft.com/office/drawing/2014/main" id="{53A064F0-7FE0-E1E5-7CAD-6B620C326E73}"/>
              </a:ext>
            </a:extLst>
          </p:cNvPr>
          <p:cNvPicPr>
            <a:picLocks noGrp="1" noChangeAspect="1"/>
          </p:cNvPicPr>
          <p:nvPr>
            <p:ph idx="1"/>
          </p:nvPr>
        </p:nvPicPr>
        <p:blipFill>
          <a:blip r:embed="rId3"/>
          <a:stretch>
            <a:fillRect/>
          </a:stretch>
        </p:blipFill>
        <p:spPr>
          <a:xfrm>
            <a:off x="2226909" y="1690688"/>
            <a:ext cx="7738182" cy="4461159"/>
          </a:xfrm>
        </p:spPr>
      </p:pic>
    </p:spTree>
    <p:extLst>
      <p:ext uri="{BB962C8B-B14F-4D97-AF65-F5344CB8AC3E}">
        <p14:creationId xmlns:p14="http://schemas.microsoft.com/office/powerpoint/2010/main" val="3034885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How about now?</a:t>
            </a:r>
          </a:p>
        </p:txBody>
      </p:sp>
      <p:pic>
        <p:nvPicPr>
          <p:cNvPr id="6" name="Content Placeholder 5">
            <a:extLst>
              <a:ext uri="{FF2B5EF4-FFF2-40B4-BE49-F238E27FC236}">
                <a16:creationId xmlns:a16="http://schemas.microsoft.com/office/drawing/2014/main" id="{A6FBDBA8-FAB8-0338-2153-7F6265015CB2}"/>
              </a:ext>
            </a:extLst>
          </p:cNvPr>
          <p:cNvPicPr>
            <a:picLocks noGrp="1" noChangeAspect="1"/>
          </p:cNvPicPr>
          <p:nvPr>
            <p:ph idx="1"/>
          </p:nvPr>
        </p:nvPicPr>
        <p:blipFill>
          <a:blip r:embed="rId3"/>
          <a:stretch>
            <a:fillRect/>
          </a:stretch>
        </p:blipFill>
        <p:spPr>
          <a:xfrm>
            <a:off x="2306119" y="1564878"/>
            <a:ext cx="7579761" cy="4309792"/>
          </a:xfrm>
        </p:spPr>
      </p:pic>
    </p:spTree>
    <p:extLst>
      <p:ext uri="{BB962C8B-B14F-4D97-AF65-F5344CB8AC3E}">
        <p14:creationId xmlns:p14="http://schemas.microsoft.com/office/powerpoint/2010/main" val="1217369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How about now? Answer 1</a:t>
            </a:r>
          </a:p>
        </p:txBody>
      </p:sp>
      <p:pic>
        <p:nvPicPr>
          <p:cNvPr id="7" name="Content Placeholder 6">
            <a:extLst>
              <a:ext uri="{FF2B5EF4-FFF2-40B4-BE49-F238E27FC236}">
                <a16:creationId xmlns:a16="http://schemas.microsoft.com/office/drawing/2014/main" id="{79156318-DCC1-45F2-2F4C-10EDE9631FF0}"/>
              </a:ext>
            </a:extLst>
          </p:cNvPr>
          <p:cNvPicPr>
            <a:picLocks noGrp="1" noChangeAspect="1"/>
          </p:cNvPicPr>
          <p:nvPr>
            <p:ph idx="1"/>
          </p:nvPr>
        </p:nvPicPr>
        <p:blipFill>
          <a:blip r:embed="rId3"/>
          <a:stretch>
            <a:fillRect/>
          </a:stretch>
        </p:blipFill>
        <p:spPr>
          <a:xfrm>
            <a:off x="2195577" y="1498154"/>
            <a:ext cx="7800846" cy="4443696"/>
          </a:xfrm>
        </p:spPr>
      </p:pic>
    </p:spTree>
    <p:extLst>
      <p:ext uri="{BB962C8B-B14F-4D97-AF65-F5344CB8AC3E}">
        <p14:creationId xmlns:p14="http://schemas.microsoft.com/office/powerpoint/2010/main" val="266410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pPr algn="ctr"/>
            <a:r>
              <a:rPr lang="en-GB" b="1" dirty="0"/>
              <a:t>How about now? Answer 2</a:t>
            </a:r>
          </a:p>
        </p:txBody>
      </p:sp>
      <p:pic>
        <p:nvPicPr>
          <p:cNvPr id="13" name="Content Placeholder 12">
            <a:extLst>
              <a:ext uri="{FF2B5EF4-FFF2-40B4-BE49-F238E27FC236}">
                <a16:creationId xmlns:a16="http://schemas.microsoft.com/office/drawing/2014/main" id="{88649E7D-1889-D056-2E0E-A95FBB450EC1}"/>
              </a:ext>
            </a:extLst>
          </p:cNvPr>
          <p:cNvPicPr>
            <a:picLocks noGrp="1" noChangeAspect="1"/>
          </p:cNvPicPr>
          <p:nvPr>
            <p:ph idx="1"/>
          </p:nvPr>
        </p:nvPicPr>
        <p:blipFill>
          <a:blip r:embed="rId3"/>
          <a:stretch>
            <a:fillRect/>
          </a:stretch>
        </p:blipFill>
        <p:spPr>
          <a:xfrm>
            <a:off x="2154848" y="1556394"/>
            <a:ext cx="7882304" cy="4549134"/>
          </a:xfrm>
        </p:spPr>
      </p:pic>
    </p:spTree>
    <p:extLst>
      <p:ext uri="{BB962C8B-B14F-4D97-AF65-F5344CB8AC3E}">
        <p14:creationId xmlns:p14="http://schemas.microsoft.com/office/powerpoint/2010/main" val="3593957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Variety of Learning Methods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r>
              <a:rPr lang="en-GB" dirty="0"/>
              <a:t>Learning methods differ in terms of:</a:t>
            </a:r>
          </a:p>
          <a:p>
            <a:pPr lvl="1"/>
            <a:r>
              <a:rPr lang="en-GB" dirty="0"/>
              <a:t>The form of the hypothesis</a:t>
            </a:r>
          </a:p>
          <a:p>
            <a:pPr lvl="1"/>
            <a:r>
              <a:rPr lang="en-GB" dirty="0"/>
              <a:t>The way the computer finds a hypothesis given the data</a:t>
            </a:r>
          </a:p>
        </p:txBody>
      </p:sp>
    </p:spTree>
    <p:extLst>
      <p:ext uri="{BB962C8B-B14F-4D97-AF65-F5344CB8AC3E}">
        <p14:creationId xmlns:p14="http://schemas.microsoft.com/office/powerpoint/2010/main" val="1833187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Nearest Neighbour</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r>
              <a:rPr lang="en-GB" dirty="0"/>
              <a:t>Remember all your data</a:t>
            </a:r>
          </a:p>
          <a:p>
            <a:r>
              <a:rPr lang="en-GB" dirty="0"/>
              <a:t>When someone asks a question</a:t>
            </a:r>
          </a:p>
          <a:p>
            <a:pPr lvl="1"/>
            <a:r>
              <a:rPr lang="en-GB" dirty="0"/>
              <a:t>Find the nearest old data point</a:t>
            </a:r>
          </a:p>
          <a:p>
            <a:pPr lvl="1"/>
            <a:r>
              <a:rPr lang="en-GB" dirty="0"/>
              <a:t>Return the answer associated with it</a:t>
            </a:r>
          </a:p>
        </p:txBody>
      </p:sp>
      <p:pic>
        <p:nvPicPr>
          <p:cNvPr id="5" name="Picture 4">
            <a:extLst>
              <a:ext uri="{FF2B5EF4-FFF2-40B4-BE49-F238E27FC236}">
                <a16:creationId xmlns:a16="http://schemas.microsoft.com/office/drawing/2014/main" id="{48CEABF1-3776-83C7-76FA-E8EB12506CAF}"/>
              </a:ext>
            </a:extLst>
          </p:cNvPr>
          <p:cNvPicPr>
            <a:picLocks noChangeAspect="1"/>
          </p:cNvPicPr>
          <p:nvPr/>
        </p:nvPicPr>
        <p:blipFill>
          <a:blip r:embed="rId3"/>
          <a:stretch>
            <a:fillRect/>
          </a:stretch>
        </p:blipFill>
        <p:spPr>
          <a:xfrm>
            <a:off x="1426870" y="3850235"/>
            <a:ext cx="7235868" cy="2326728"/>
          </a:xfrm>
          <a:prstGeom prst="rect">
            <a:avLst/>
          </a:prstGeom>
        </p:spPr>
      </p:pic>
    </p:spTree>
    <p:extLst>
      <p:ext uri="{BB962C8B-B14F-4D97-AF65-F5344CB8AC3E}">
        <p14:creationId xmlns:p14="http://schemas.microsoft.com/office/powerpoint/2010/main" val="332736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Decision Trees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pPr marL="0" indent="0">
              <a:buNone/>
            </a:pPr>
            <a:r>
              <a:rPr lang="en-GB" dirty="0"/>
              <a:t>Use all the data to build a tree of questions with answers at the leaves</a:t>
            </a:r>
          </a:p>
        </p:txBody>
      </p:sp>
      <p:pic>
        <p:nvPicPr>
          <p:cNvPr id="6" name="Picture 5">
            <a:extLst>
              <a:ext uri="{FF2B5EF4-FFF2-40B4-BE49-F238E27FC236}">
                <a16:creationId xmlns:a16="http://schemas.microsoft.com/office/drawing/2014/main" id="{877D6075-0A2F-6CF4-6A86-6684430201BD}"/>
              </a:ext>
            </a:extLst>
          </p:cNvPr>
          <p:cNvPicPr>
            <a:picLocks noChangeAspect="1"/>
          </p:cNvPicPr>
          <p:nvPr/>
        </p:nvPicPr>
        <p:blipFill>
          <a:blip r:embed="rId3"/>
          <a:stretch>
            <a:fillRect/>
          </a:stretch>
        </p:blipFill>
        <p:spPr>
          <a:xfrm>
            <a:off x="2213812" y="2692204"/>
            <a:ext cx="6569241" cy="3484759"/>
          </a:xfrm>
          <a:prstGeom prst="rect">
            <a:avLst/>
          </a:prstGeom>
        </p:spPr>
      </p:pic>
    </p:spTree>
    <p:extLst>
      <p:ext uri="{BB962C8B-B14F-4D97-AF65-F5344CB8AC3E}">
        <p14:creationId xmlns:p14="http://schemas.microsoft.com/office/powerpoint/2010/main" val="388252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Decision Trees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pPr marL="0" indent="0">
              <a:buNone/>
            </a:pPr>
            <a:r>
              <a:rPr lang="en-GB" dirty="0"/>
              <a:t>Use all the data to build a tree of questions with answers at the leaves</a:t>
            </a:r>
          </a:p>
        </p:txBody>
      </p:sp>
      <p:pic>
        <p:nvPicPr>
          <p:cNvPr id="5" name="Picture 4">
            <a:extLst>
              <a:ext uri="{FF2B5EF4-FFF2-40B4-BE49-F238E27FC236}">
                <a16:creationId xmlns:a16="http://schemas.microsoft.com/office/drawing/2014/main" id="{557EA354-752B-8521-C912-B36630DF16C3}"/>
              </a:ext>
            </a:extLst>
          </p:cNvPr>
          <p:cNvPicPr>
            <a:picLocks noChangeAspect="1"/>
          </p:cNvPicPr>
          <p:nvPr/>
        </p:nvPicPr>
        <p:blipFill>
          <a:blip r:embed="rId3"/>
          <a:stretch>
            <a:fillRect/>
          </a:stretch>
        </p:blipFill>
        <p:spPr>
          <a:xfrm>
            <a:off x="2478507" y="2640728"/>
            <a:ext cx="6406044" cy="3399125"/>
          </a:xfrm>
          <a:prstGeom prst="rect">
            <a:avLst/>
          </a:prstGeom>
        </p:spPr>
      </p:pic>
    </p:spTree>
    <p:extLst>
      <p:ext uri="{BB962C8B-B14F-4D97-AF65-F5344CB8AC3E}">
        <p14:creationId xmlns:p14="http://schemas.microsoft.com/office/powerpoint/2010/main" val="433457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Decision Trees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pPr marL="0" indent="0">
              <a:buNone/>
            </a:pPr>
            <a:r>
              <a:rPr lang="en-GB" dirty="0"/>
              <a:t>Use all the data to build a tree of questions with answers at the leaves</a:t>
            </a:r>
          </a:p>
        </p:txBody>
      </p:sp>
      <p:pic>
        <p:nvPicPr>
          <p:cNvPr id="8" name="Picture 7">
            <a:extLst>
              <a:ext uri="{FF2B5EF4-FFF2-40B4-BE49-F238E27FC236}">
                <a16:creationId xmlns:a16="http://schemas.microsoft.com/office/drawing/2014/main" id="{DAC86917-F226-1D0B-F836-730C68140842}"/>
              </a:ext>
            </a:extLst>
          </p:cNvPr>
          <p:cNvPicPr>
            <a:picLocks noChangeAspect="1"/>
          </p:cNvPicPr>
          <p:nvPr/>
        </p:nvPicPr>
        <p:blipFill>
          <a:blip r:embed="rId3"/>
          <a:stretch>
            <a:fillRect/>
          </a:stretch>
        </p:blipFill>
        <p:spPr>
          <a:xfrm>
            <a:off x="2474754" y="2465888"/>
            <a:ext cx="7242491" cy="3846012"/>
          </a:xfrm>
          <a:prstGeom prst="rect">
            <a:avLst/>
          </a:prstGeom>
        </p:spPr>
      </p:pic>
    </p:spTree>
    <p:extLst>
      <p:ext uri="{BB962C8B-B14F-4D97-AF65-F5344CB8AC3E}">
        <p14:creationId xmlns:p14="http://schemas.microsoft.com/office/powerpoint/2010/main" val="3154575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Neural Networks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p:txBody>
          <a:bodyPr/>
          <a:lstStyle/>
          <a:p>
            <a:r>
              <a:rPr lang="en-GB" dirty="0"/>
              <a:t>Represent hypothesis as combinations of simple computations</a:t>
            </a:r>
          </a:p>
          <a:p>
            <a:r>
              <a:rPr lang="en-GB" dirty="0" err="1"/>
              <a:t>Neurophysiologically</a:t>
            </a:r>
            <a:r>
              <a:rPr lang="en-GB" dirty="0"/>
              <a:t> plausible (sort of)</a:t>
            </a:r>
          </a:p>
          <a:p>
            <a:endParaRPr lang="en-GB" dirty="0"/>
          </a:p>
          <a:p>
            <a:endParaRPr lang="en-GB" dirty="0"/>
          </a:p>
          <a:p>
            <a:endParaRPr lang="en-GB" dirty="0"/>
          </a:p>
          <a:p>
            <a:endParaRPr lang="en-GB" dirty="0"/>
          </a:p>
          <a:p>
            <a:endParaRPr lang="en-GB" dirty="0"/>
          </a:p>
          <a:p>
            <a:r>
              <a:rPr lang="en-GB" dirty="0"/>
              <a:t>Learning through weight adjustment</a:t>
            </a:r>
          </a:p>
        </p:txBody>
      </p:sp>
      <p:pic>
        <p:nvPicPr>
          <p:cNvPr id="5" name="Picture 4">
            <a:extLst>
              <a:ext uri="{FF2B5EF4-FFF2-40B4-BE49-F238E27FC236}">
                <a16:creationId xmlns:a16="http://schemas.microsoft.com/office/drawing/2014/main" id="{7CE06CB9-2784-CEC2-1C9E-A335E906CB35}"/>
              </a:ext>
            </a:extLst>
          </p:cNvPr>
          <p:cNvPicPr>
            <a:picLocks noChangeAspect="1"/>
          </p:cNvPicPr>
          <p:nvPr/>
        </p:nvPicPr>
        <p:blipFill>
          <a:blip r:embed="rId3"/>
          <a:stretch>
            <a:fillRect/>
          </a:stretch>
        </p:blipFill>
        <p:spPr>
          <a:xfrm>
            <a:off x="2532076" y="2972414"/>
            <a:ext cx="5902061" cy="2529454"/>
          </a:xfrm>
          <a:prstGeom prst="rect">
            <a:avLst/>
          </a:prstGeom>
        </p:spPr>
      </p:pic>
    </p:spTree>
    <p:extLst>
      <p:ext uri="{BB962C8B-B14F-4D97-AF65-F5344CB8AC3E}">
        <p14:creationId xmlns:p14="http://schemas.microsoft.com/office/powerpoint/2010/main" val="3159059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EFC6-9BF8-99F4-65EF-1D01DC22DDF4}"/>
              </a:ext>
            </a:extLst>
          </p:cNvPr>
          <p:cNvSpPr>
            <a:spLocks noGrp="1"/>
          </p:cNvSpPr>
          <p:nvPr>
            <p:ph type="title"/>
          </p:nvPr>
        </p:nvSpPr>
        <p:spPr/>
        <p:txBody>
          <a:bodyPr/>
          <a:lstStyle/>
          <a:p>
            <a:r>
              <a:rPr lang="en-GB" b="1" dirty="0"/>
              <a:t>Machine Learning Successes</a:t>
            </a:r>
          </a:p>
        </p:txBody>
      </p:sp>
      <p:sp>
        <p:nvSpPr>
          <p:cNvPr id="4" name="Content Placeholder 3">
            <a:extLst>
              <a:ext uri="{FF2B5EF4-FFF2-40B4-BE49-F238E27FC236}">
                <a16:creationId xmlns:a16="http://schemas.microsoft.com/office/drawing/2014/main" id="{16454D93-4E21-EC36-DA1E-636E3499CEB7}"/>
              </a:ext>
            </a:extLst>
          </p:cNvPr>
          <p:cNvSpPr>
            <a:spLocks noGrp="1"/>
          </p:cNvSpPr>
          <p:nvPr>
            <p:ph idx="1"/>
          </p:nvPr>
        </p:nvSpPr>
        <p:spPr>
          <a:xfrm>
            <a:off x="838200" y="1690688"/>
            <a:ext cx="10515600" cy="4351338"/>
          </a:xfrm>
        </p:spPr>
        <p:txBody>
          <a:bodyPr>
            <a:normAutofit lnSpcReduction="10000"/>
          </a:bodyPr>
          <a:lstStyle/>
          <a:p>
            <a:r>
              <a:rPr lang="en-GB" dirty="0"/>
              <a:t>Image Recognition</a:t>
            </a:r>
          </a:p>
          <a:p>
            <a:r>
              <a:rPr lang="en-GB" dirty="0"/>
              <a:t>Natural Language Processing (NLP)</a:t>
            </a:r>
          </a:p>
          <a:p>
            <a:r>
              <a:rPr lang="en-GB" dirty="0"/>
              <a:t>Recommendation Systems</a:t>
            </a:r>
          </a:p>
          <a:p>
            <a:r>
              <a:rPr lang="en-GB" dirty="0"/>
              <a:t>Fraud Detection</a:t>
            </a:r>
          </a:p>
          <a:p>
            <a:r>
              <a:rPr lang="en-GB" dirty="0"/>
              <a:t>Scientific Discovery</a:t>
            </a:r>
          </a:p>
          <a:p>
            <a:r>
              <a:rPr lang="en-GB" dirty="0"/>
              <a:t>Drug Discovery</a:t>
            </a:r>
          </a:p>
          <a:p>
            <a:r>
              <a:rPr lang="en-GB" dirty="0"/>
              <a:t>Climate Change Prediction</a:t>
            </a:r>
          </a:p>
          <a:p>
            <a:r>
              <a:rPr lang="en-GB" dirty="0"/>
              <a:t>Steering an autonomous cars</a:t>
            </a:r>
          </a:p>
          <a:p>
            <a:r>
              <a:rPr lang="en-GB" dirty="0"/>
              <a:t>Help analyse players performance.</a:t>
            </a:r>
          </a:p>
          <a:p>
            <a:endParaRPr lang="en-GB" dirty="0"/>
          </a:p>
          <a:p>
            <a:endParaRPr lang="en-GB" dirty="0"/>
          </a:p>
        </p:txBody>
      </p:sp>
    </p:spTree>
    <p:extLst>
      <p:ext uri="{BB962C8B-B14F-4D97-AF65-F5344CB8AC3E}">
        <p14:creationId xmlns:p14="http://schemas.microsoft.com/office/powerpoint/2010/main" val="1780240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8C74-8B7D-8748-85B2-4A19073F5F62}"/>
              </a:ext>
            </a:extLst>
          </p:cNvPr>
          <p:cNvSpPr>
            <a:spLocks noGrp="1"/>
          </p:cNvSpPr>
          <p:nvPr>
            <p:ph type="title"/>
          </p:nvPr>
        </p:nvSpPr>
        <p:spPr>
          <a:xfrm>
            <a:off x="958516" y="2518778"/>
            <a:ext cx="10515600" cy="1325563"/>
          </a:xfrm>
        </p:spPr>
        <p:txBody>
          <a:bodyPr/>
          <a:lstStyle/>
          <a:p>
            <a:pPr algn="ctr"/>
            <a:r>
              <a:rPr lang="en-GB" b="1" dirty="0"/>
              <a:t>Supervised Learning</a:t>
            </a:r>
          </a:p>
        </p:txBody>
      </p:sp>
    </p:spTree>
    <p:extLst>
      <p:ext uri="{BB962C8B-B14F-4D97-AF65-F5344CB8AC3E}">
        <p14:creationId xmlns:p14="http://schemas.microsoft.com/office/powerpoint/2010/main" val="2998116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2E223-5398-6EFE-BBEC-9EBE1E7F5935}"/>
              </a:ext>
            </a:extLst>
          </p:cNvPr>
          <p:cNvSpPr>
            <a:spLocks noGrp="1"/>
          </p:cNvSpPr>
          <p:nvPr>
            <p:ph type="title"/>
          </p:nvPr>
        </p:nvSpPr>
        <p:spPr/>
        <p:txBody>
          <a:bodyPr/>
          <a:lstStyle/>
          <a:p>
            <a:r>
              <a:rPr lang="en-GB" b="1" dirty="0"/>
              <a:t>Supervised Learning</a:t>
            </a:r>
          </a:p>
        </p:txBody>
      </p:sp>
      <p:sp>
        <p:nvSpPr>
          <p:cNvPr id="3" name="Content Placeholder 2">
            <a:extLst>
              <a:ext uri="{FF2B5EF4-FFF2-40B4-BE49-F238E27FC236}">
                <a16:creationId xmlns:a16="http://schemas.microsoft.com/office/drawing/2014/main" id="{42822876-D35D-6FFF-29E2-B16E631D2730}"/>
              </a:ext>
            </a:extLst>
          </p:cNvPr>
          <p:cNvSpPr>
            <a:spLocks noGrp="1"/>
          </p:cNvSpPr>
          <p:nvPr>
            <p:ph idx="1"/>
          </p:nvPr>
        </p:nvSpPr>
        <p:spPr/>
        <p:txBody>
          <a:bodyPr>
            <a:normAutofit lnSpcReduction="10000"/>
          </a:bodyPr>
          <a:lstStyle/>
          <a:p>
            <a:r>
              <a:rPr lang="en-GB" dirty="0"/>
              <a:t>Given data (training set)</a:t>
            </a:r>
          </a:p>
          <a:p>
            <a:endParaRPr lang="en-GB" dirty="0"/>
          </a:p>
          <a:p>
            <a:endParaRPr lang="en-GB" dirty="0"/>
          </a:p>
          <a:p>
            <a:endParaRPr lang="en-GB" dirty="0"/>
          </a:p>
          <a:p>
            <a:endParaRPr lang="en-GB" dirty="0"/>
          </a:p>
          <a:p>
            <a:endParaRPr lang="en-GB" dirty="0"/>
          </a:p>
          <a:p>
            <a:endParaRPr lang="en-GB" dirty="0"/>
          </a:p>
          <a:p>
            <a:r>
              <a:rPr lang="en-GB" dirty="0"/>
              <a:t>Goal: Find a hypothesis h in hypothesis class H that does a good job </a:t>
            </a:r>
            <a:r>
              <a:rPr lang="en-GB"/>
              <a:t>of mapping x to y</a:t>
            </a:r>
            <a:endParaRPr lang="en-GB" dirty="0"/>
          </a:p>
        </p:txBody>
      </p:sp>
      <p:pic>
        <p:nvPicPr>
          <p:cNvPr id="5" name="Picture 4">
            <a:extLst>
              <a:ext uri="{FF2B5EF4-FFF2-40B4-BE49-F238E27FC236}">
                <a16:creationId xmlns:a16="http://schemas.microsoft.com/office/drawing/2014/main" id="{F506A899-B7E9-2953-8221-1DEF35F41149}"/>
              </a:ext>
            </a:extLst>
          </p:cNvPr>
          <p:cNvPicPr>
            <a:picLocks noChangeAspect="1"/>
          </p:cNvPicPr>
          <p:nvPr/>
        </p:nvPicPr>
        <p:blipFill>
          <a:blip r:embed="rId3"/>
          <a:stretch>
            <a:fillRect/>
          </a:stretch>
        </p:blipFill>
        <p:spPr>
          <a:xfrm>
            <a:off x="1921808" y="2543641"/>
            <a:ext cx="5319969" cy="777074"/>
          </a:xfrm>
          <a:prstGeom prst="rect">
            <a:avLst/>
          </a:prstGeom>
        </p:spPr>
      </p:pic>
      <p:pic>
        <p:nvPicPr>
          <p:cNvPr id="7" name="Picture 6">
            <a:extLst>
              <a:ext uri="{FF2B5EF4-FFF2-40B4-BE49-F238E27FC236}">
                <a16:creationId xmlns:a16="http://schemas.microsoft.com/office/drawing/2014/main" id="{6E58181F-EBAD-3AAF-0D10-C10516D1D313}"/>
              </a:ext>
            </a:extLst>
          </p:cNvPr>
          <p:cNvPicPr>
            <a:picLocks noChangeAspect="1"/>
          </p:cNvPicPr>
          <p:nvPr/>
        </p:nvPicPr>
        <p:blipFill>
          <a:blip r:embed="rId4"/>
          <a:stretch>
            <a:fillRect/>
          </a:stretch>
        </p:blipFill>
        <p:spPr>
          <a:xfrm>
            <a:off x="1752225" y="3207078"/>
            <a:ext cx="1781424" cy="1286054"/>
          </a:xfrm>
          <a:prstGeom prst="rect">
            <a:avLst/>
          </a:prstGeom>
        </p:spPr>
      </p:pic>
      <p:pic>
        <p:nvPicPr>
          <p:cNvPr id="9" name="Picture 8">
            <a:extLst>
              <a:ext uri="{FF2B5EF4-FFF2-40B4-BE49-F238E27FC236}">
                <a16:creationId xmlns:a16="http://schemas.microsoft.com/office/drawing/2014/main" id="{F93DE295-A17A-AF59-944A-26821E3707FD}"/>
              </a:ext>
            </a:extLst>
          </p:cNvPr>
          <p:cNvPicPr>
            <a:picLocks noChangeAspect="1"/>
          </p:cNvPicPr>
          <p:nvPr/>
        </p:nvPicPr>
        <p:blipFill>
          <a:blip r:embed="rId5"/>
          <a:stretch>
            <a:fillRect/>
          </a:stretch>
        </p:blipFill>
        <p:spPr>
          <a:xfrm>
            <a:off x="3531974" y="3248441"/>
            <a:ext cx="1371791" cy="1000265"/>
          </a:xfrm>
          <a:prstGeom prst="rect">
            <a:avLst/>
          </a:prstGeom>
        </p:spPr>
      </p:pic>
      <p:pic>
        <p:nvPicPr>
          <p:cNvPr id="11" name="Picture 10">
            <a:extLst>
              <a:ext uri="{FF2B5EF4-FFF2-40B4-BE49-F238E27FC236}">
                <a16:creationId xmlns:a16="http://schemas.microsoft.com/office/drawing/2014/main" id="{8C3BB183-F840-05BD-F856-6FCFDABD7CA2}"/>
              </a:ext>
            </a:extLst>
          </p:cNvPr>
          <p:cNvPicPr>
            <a:picLocks noChangeAspect="1"/>
          </p:cNvPicPr>
          <p:nvPr/>
        </p:nvPicPr>
        <p:blipFill>
          <a:blip r:embed="rId6"/>
          <a:stretch>
            <a:fillRect/>
          </a:stretch>
        </p:blipFill>
        <p:spPr>
          <a:xfrm>
            <a:off x="6953150" y="3810290"/>
            <a:ext cx="3713104" cy="1000265"/>
          </a:xfrm>
          <a:prstGeom prst="rect">
            <a:avLst/>
          </a:prstGeom>
        </p:spPr>
      </p:pic>
    </p:spTree>
    <p:extLst>
      <p:ext uri="{BB962C8B-B14F-4D97-AF65-F5344CB8AC3E}">
        <p14:creationId xmlns:p14="http://schemas.microsoft.com/office/powerpoint/2010/main" val="331741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4891</Words>
  <Application>Microsoft Office PowerPoint</Application>
  <PresentationFormat>Widescreen</PresentationFormat>
  <Paragraphs>693</Paragraphs>
  <Slides>36</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Calibri</vt:lpstr>
      <vt:lpstr>Calibri Light</vt:lpstr>
      <vt:lpstr>Office Theme</vt:lpstr>
      <vt:lpstr>Machine Learning</vt:lpstr>
      <vt:lpstr>Learning</vt:lpstr>
      <vt:lpstr>What is Learning?</vt:lpstr>
      <vt:lpstr>Induction</vt:lpstr>
      <vt:lpstr>Induction</vt:lpstr>
      <vt:lpstr>Why is Induction Okay?</vt:lpstr>
      <vt:lpstr>Kinds of Learning</vt:lpstr>
      <vt:lpstr>Differences between Kinds of Learning</vt:lpstr>
      <vt:lpstr>Learning a Function</vt:lpstr>
      <vt:lpstr>Aspects of Function Learning</vt:lpstr>
      <vt:lpstr>Example Problem</vt:lpstr>
      <vt:lpstr>Memory</vt:lpstr>
      <vt:lpstr>Memory</vt:lpstr>
      <vt:lpstr>Memory</vt:lpstr>
      <vt:lpstr>Averaging</vt:lpstr>
      <vt:lpstr>Averaging</vt:lpstr>
      <vt:lpstr>Sensor Noise</vt:lpstr>
      <vt:lpstr>Sensor Noise</vt:lpstr>
      <vt:lpstr>Generalization</vt:lpstr>
      <vt:lpstr>Generalization</vt:lpstr>
      <vt:lpstr>The Red and The Black</vt:lpstr>
      <vt:lpstr>What’s the right hypothesis?</vt:lpstr>
      <vt:lpstr>Now, what’s the right hypothesis?</vt:lpstr>
      <vt:lpstr>Now, what’s the right hypothesis?</vt:lpstr>
      <vt:lpstr>How about now?</vt:lpstr>
      <vt:lpstr>How about now? Answer 1</vt:lpstr>
      <vt:lpstr>How about now? Answer 2</vt:lpstr>
      <vt:lpstr>Variety of Learning Methods</vt:lpstr>
      <vt:lpstr>Nearest Neighbour</vt:lpstr>
      <vt:lpstr>Decision Trees</vt:lpstr>
      <vt:lpstr>Decision Trees</vt:lpstr>
      <vt:lpstr>Decision Trees</vt:lpstr>
      <vt:lpstr>Neural Networks</vt:lpstr>
      <vt:lpstr>Machine Learning Successes</vt:lpstr>
      <vt:lpstr>Supervised Learning</vt:lpstr>
      <vt:lpstr>Supervised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Isaac Makosa</dc:creator>
  <cp:lastModifiedBy>Isaac Makosa</cp:lastModifiedBy>
  <cp:revision>3</cp:revision>
  <dcterms:created xsi:type="dcterms:W3CDTF">2024-04-28T20:22:49Z</dcterms:created>
  <dcterms:modified xsi:type="dcterms:W3CDTF">2024-05-08T08:18:11Z</dcterms:modified>
</cp:coreProperties>
</file>