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9" r:id="rId2"/>
    <p:sldId id="276" r:id="rId3"/>
    <p:sldId id="277" r:id="rId4"/>
    <p:sldId id="278" r:id="rId5"/>
    <p:sldId id="279" r:id="rId6"/>
    <p:sldId id="280" r:id="rId7"/>
    <p:sldId id="270" r:id="rId8"/>
    <p:sldId id="271" r:id="rId9"/>
    <p:sldId id="272" r:id="rId10"/>
    <p:sldId id="273" r:id="rId11"/>
    <p:sldId id="281" r:id="rId12"/>
    <p:sldId id="275" r:id="rId13"/>
    <p:sldId id="282" r:id="rId14"/>
    <p:sldId id="283" r:id="rId15"/>
    <p:sldId id="284" r:id="rId16"/>
    <p:sldId id="28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72" autoAdjust="0"/>
  </p:normalViewPr>
  <p:slideViewPr>
    <p:cSldViewPr snapToGrid="0">
      <p:cViewPr varScale="1">
        <p:scale>
          <a:sx n="84" d="100"/>
          <a:sy n="84" d="100"/>
        </p:scale>
        <p:origin x="62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DC7DEC-8257-449D-ACA5-2C49175089EF}" type="datetimeFigureOut">
              <a:rPr lang="en-US" smtClean="0"/>
              <a:t>3/17/2025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74403E-3E46-4469-BEC1-3A2F9E093A02}" type="slidenum">
              <a:rPr lang="en-US" smtClean="0"/>
              <a:t>‹#›</a:t>
            </a:fld>
            <a:endParaRPr lang="en-US"/>
          </a:p>
        </p:txBody>
      </p:sp>
    </p:spTree>
    <p:extLst>
      <p:ext uri="{BB962C8B-B14F-4D97-AF65-F5344CB8AC3E}">
        <p14:creationId xmlns:p14="http://schemas.microsoft.com/office/powerpoint/2010/main" val="3392429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ECECEC"/>
                </a:solidFill>
                <a:effectLst/>
                <a:latin typeface="Söhne"/>
              </a:rPr>
              <a:t>Search algorithms in AI possess various properties that determine their behavior and efficiency in finding solutions to problems. Here are some key properties:</a:t>
            </a:r>
          </a:p>
          <a:p>
            <a:endParaRPr lang="en-US" dirty="0"/>
          </a:p>
        </p:txBody>
      </p:sp>
      <p:sp>
        <p:nvSpPr>
          <p:cNvPr id="4" name="Slide Number Placeholder 3"/>
          <p:cNvSpPr>
            <a:spLocks noGrp="1"/>
          </p:cNvSpPr>
          <p:nvPr>
            <p:ph type="sldNum" sz="quarter" idx="5"/>
          </p:nvPr>
        </p:nvSpPr>
        <p:spPr/>
        <p:txBody>
          <a:bodyPr/>
          <a:lstStyle/>
          <a:p>
            <a:fld id="{C174403E-3E46-4469-BEC1-3A2F9E093A02}" type="slidenum">
              <a:rPr lang="en-US" smtClean="0"/>
              <a:t>4</a:t>
            </a:fld>
            <a:endParaRPr lang="en-US"/>
          </a:p>
        </p:txBody>
      </p:sp>
    </p:spTree>
    <p:extLst>
      <p:ext uri="{BB962C8B-B14F-4D97-AF65-F5344CB8AC3E}">
        <p14:creationId xmlns:p14="http://schemas.microsoft.com/office/powerpoint/2010/main" val="1412504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F32CA-96CD-E749-B652-7038CBCF6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E2711-BD6D-A6D6-06CD-7AB7ECD31A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6CE4C1-DB53-1775-2464-3C05ADED708C}"/>
              </a:ext>
            </a:extLst>
          </p:cNvPr>
          <p:cNvSpPr>
            <a:spLocks noGrp="1"/>
          </p:cNvSpPr>
          <p:nvPr>
            <p:ph type="body" idx="1"/>
          </p:nvPr>
        </p:nvSpPr>
        <p:spPr/>
        <p:txBody>
          <a:bodyPr/>
          <a:lstStyle/>
          <a:p>
            <a:r>
              <a:rPr lang="en-US" b="0" i="0" dirty="0">
                <a:solidFill>
                  <a:srgbClr val="ECECEC"/>
                </a:solidFill>
                <a:effectLst/>
                <a:latin typeface="Söhne"/>
              </a:rPr>
              <a:t>Search algorithms in AI possess various properties that determine their behavior and efficiency in finding solutions to problems. Here are some key properties:</a:t>
            </a:r>
          </a:p>
          <a:p>
            <a:endParaRPr lang="en-US" dirty="0"/>
          </a:p>
        </p:txBody>
      </p:sp>
      <p:sp>
        <p:nvSpPr>
          <p:cNvPr id="4" name="Slide Number Placeholder 3">
            <a:extLst>
              <a:ext uri="{FF2B5EF4-FFF2-40B4-BE49-F238E27FC236}">
                <a16:creationId xmlns:a16="http://schemas.microsoft.com/office/drawing/2014/main" id="{4D5855A7-527B-4DAC-25B5-8D05D52D080C}"/>
              </a:ext>
            </a:extLst>
          </p:cNvPr>
          <p:cNvSpPr>
            <a:spLocks noGrp="1"/>
          </p:cNvSpPr>
          <p:nvPr>
            <p:ph type="sldNum" sz="quarter" idx="5"/>
          </p:nvPr>
        </p:nvSpPr>
        <p:spPr/>
        <p:txBody>
          <a:bodyPr/>
          <a:lstStyle/>
          <a:p>
            <a:fld id="{C174403E-3E46-4469-BEC1-3A2F9E093A02}" type="slidenum">
              <a:rPr lang="en-US" smtClean="0"/>
              <a:t>5</a:t>
            </a:fld>
            <a:endParaRPr lang="en-US"/>
          </a:p>
        </p:txBody>
      </p:sp>
    </p:spTree>
    <p:extLst>
      <p:ext uri="{BB962C8B-B14F-4D97-AF65-F5344CB8AC3E}">
        <p14:creationId xmlns:p14="http://schemas.microsoft.com/office/powerpoint/2010/main" val="3291108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D940A-6D0F-E21C-31D3-FF2A8FBC63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2A3C99-BC95-C785-B98A-5D2F3C649E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2FB2CE-162E-2228-5FAB-38F3DBA72CCE}"/>
              </a:ext>
            </a:extLst>
          </p:cNvPr>
          <p:cNvSpPr>
            <a:spLocks noGrp="1"/>
          </p:cNvSpPr>
          <p:nvPr>
            <p:ph type="body" idx="1"/>
          </p:nvPr>
        </p:nvSpPr>
        <p:spPr/>
        <p:txBody>
          <a:bodyPr/>
          <a:lstStyle/>
          <a:p>
            <a:r>
              <a:rPr lang="en-US" b="0" i="0" dirty="0">
                <a:solidFill>
                  <a:srgbClr val="ECECEC"/>
                </a:solidFill>
                <a:effectLst/>
                <a:latin typeface="Söhne"/>
              </a:rPr>
              <a:t>Search algorithms in AI possess various properties that determine their behavior and efficiency in finding solutions to problems. Here are some key properties:</a:t>
            </a:r>
          </a:p>
          <a:p>
            <a:endParaRPr lang="en-US" dirty="0"/>
          </a:p>
        </p:txBody>
      </p:sp>
      <p:sp>
        <p:nvSpPr>
          <p:cNvPr id="4" name="Slide Number Placeholder 3">
            <a:extLst>
              <a:ext uri="{FF2B5EF4-FFF2-40B4-BE49-F238E27FC236}">
                <a16:creationId xmlns:a16="http://schemas.microsoft.com/office/drawing/2014/main" id="{FD529B63-E92B-D966-9218-02B47B425281}"/>
              </a:ext>
            </a:extLst>
          </p:cNvPr>
          <p:cNvSpPr>
            <a:spLocks noGrp="1"/>
          </p:cNvSpPr>
          <p:nvPr>
            <p:ph type="sldNum" sz="quarter" idx="5"/>
          </p:nvPr>
        </p:nvSpPr>
        <p:spPr/>
        <p:txBody>
          <a:bodyPr/>
          <a:lstStyle/>
          <a:p>
            <a:fld id="{C174403E-3E46-4469-BEC1-3A2F9E093A02}" type="slidenum">
              <a:rPr lang="en-US" smtClean="0"/>
              <a:t>6</a:t>
            </a:fld>
            <a:endParaRPr lang="en-US"/>
          </a:p>
        </p:txBody>
      </p:sp>
    </p:spTree>
    <p:extLst>
      <p:ext uri="{BB962C8B-B14F-4D97-AF65-F5344CB8AC3E}">
        <p14:creationId xmlns:p14="http://schemas.microsoft.com/office/powerpoint/2010/main" val="2242136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BFS explores a problem step by step, starting with the closest options and moving outward. It checks all the possibilities at each level before moving to the next. This method guarantees finding the shortest path because it looks at nearby options first and expands from there, ensuring the least number of steps needed to reach the goal.</a:t>
            </a:r>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C174403E-3E46-4469-BEC1-3A2F9E093A02}" type="slidenum">
              <a:rPr lang="en-US" smtClean="0"/>
              <a:t>10</a:t>
            </a:fld>
            <a:endParaRPr lang="en-US"/>
          </a:p>
        </p:txBody>
      </p:sp>
    </p:spTree>
    <p:extLst>
      <p:ext uri="{BB962C8B-B14F-4D97-AF65-F5344CB8AC3E}">
        <p14:creationId xmlns:p14="http://schemas.microsoft.com/office/powerpoint/2010/main" val="1283765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F95CB-0C4A-2D95-4E89-951531871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43EF0B-6553-5B85-3F0D-B4DD0086D5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1F3DA-E8B1-24B0-2ADA-F2F9C3ADDA2E}"/>
              </a:ext>
            </a:extLst>
          </p:cNvPr>
          <p:cNvSpPr>
            <a:spLocks noGrp="1"/>
          </p:cNvSpPr>
          <p:nvPr>
            <p:ph type="body" idx="1"/>
          </p:nvPr>
        </p:nvSpPr>
        <p:spPr/>
        <p:txBody>
          <a:bodyPr/>
          <a:lstStyle/>
          <a:p>
            <a:r>
              <a:rPr lang="en-US" dirty="0"/>
              <a:t>BFS explores a problem step by step, starting with the closest options and moving outward. It checks all the possibilities at each level before moving to the next. This method guarantees finding the shortest path because it looks at nearby options first and expands from there, ensuring the least number of steps needed to reach the goal.</a:t>
            </a:r>
          </a:p>
          <a:p>
            <a:endParaRPr lang="en-US" dirty="0"/>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1801113-24B2-0FF4-37F4-7C288FA08B56}"/>
              </a:ext>
            </a:extLst>
          </p:cNvPr>
          <p:cNvSpPr>
            <a:spLocks noGrp="1"/>
          </p:cNvSpPr>
          <p:nvPr>
            <p:ph type="sldNum" sz="quarter" idx="5"/>
          </p:nvPr>
        </p:nvSpPr>
        <p:spPr/>
        <p:txBody>
          <a:bodyPr/>
          <a:lstStyle/>
          <a:p>
            <a:fld id="{C174403E-3E46-4469-BEC1-3A2F9E093A02}" type="slidenum">
              <a:rPr lang="en-US" smtClean="0"/>
              <a:t>11</a:t>
            </a:fld>
            <a:endParaRPr lang="en-US"/>
          </a:p>
        </p:txBody>
      </p:sp>
    </p:spTree>
    <p:extLst>
      <p:ext uri="{BB962C8B-B14F-4D97-AF65-F5344CB8AC3E}">
        <p14:creationId xmlns:p14="http://schemas.microsoft.com/office/powerpoint/2010/main" val="4291369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F824F-F7B2-E10B-E815-703F0BBCD4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CC208-C533-605B-3236-BE8309445C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D243AF-94E0-5B86-335C-611BB9508CE6}"/>
              </a:ext>
            </a:extLst>
          </p:cNvPr>
          <p:cNvSpPr>
            <a:spLocks noGrp="1"/>
          </p:cNvSpPr>
          <p:nvPr>
            <p:ph type="body" idx="1"/>
          </p:nvPr>
        </p:nvSpPr>
        <p:spPr/>
        <p:txBody>
          <a:bodyPr/>
          <a:lstStyle/>
          <a:p>
            <a:r>
              <a:rPr lang="en-US" dirty="0"/>
              <a:t>BFS explores a problem step by step, starting with the closest options and moving outward. It checks all the possibilities at each level before moving to the next. This method guarantees finding the shortest path because it looks at nearby options first and expands from there, ensuring the least number of steps needed to reach the goal.</a:t>
            </a:r>
          </a:p>
          <a:p>
            <a:endParaRPr lang="en-US" dirty="0"/>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2B81E486-0B6D-793C-8ABE-FF99E07AF70B}"/>
              </a:ext>
            </a:extLst>
          </p:cNvPr>
          <p:cNvSpPr>
            <a:spLocks noGrp="1"/>
          </p:cNvSpPr>
          <p:nvPr>
            <p:ph type="sldNum" sz="quarter" idx="5"/>
          </p:nvPr>
        </p:nvSpPr>
        <p:spPr/>
        <p:txBody>
          <a:bodyPr/>
          <a:lstStyle/>
          <a:p>
            <a:fld id="{C174403E-3E46-4469-BEC1-3A2F9E093A02}" type="slidenum">
              <a:rPr lang="en-US" smtClean="0"/>
              <a:t>12</a:t>
            </a:fld>
            <a:endParaRPr lang="en-US"/>
          </a:p>
        </p:txBody>
      </p:sp>
    </p:spTree>
    <p:extLst>
      <p:ext uri="{BB962C8B-B14F-4D97-AF65-F5344CB8AC3E}">
        <p14:creationId xmlns:p14="http://schemas.microsoft.com/office/powerpoint/2010/main" val="3413460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32C2E-22E7-59D0-F44B-FE8B983F0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5D0674-8DB0-2E32-8903-41C9609EB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D261D-3887-A5E2-E46E-97A754735782}"/>
              </a:ext>
            </a:extLst>
          </p:cNvPr>
          <p:cNvSpPr>
            <a:spLocks noGrp="1"/>
          </p:cNvSpPr>
          <p:nvPr>
            <p:ph type="body" idx="1"/>
          </p:nvPr>
        </p:nvSpPr>
        <p:spPr/>
        <p:txBody>
          <a:bodyPr/>
          <a:lstStyle/>
          <a:p>
            <a:r>
              <a:rPr lang="en-US" dirty="0"/>
              <a:t>BFS explores a problem step by step, starting with the closest options and moving outward. It checks all the possibilities at each level before moving to the next. This method guarantees finding the shortest path because it looks at nearby options first and expands from there, ensuring the least number of steps needed to reach the goal.</a:t>
            </a:r>
          </a:p>
          <a:p>
            <a:endParaRPr lang="en-US" dirty="0"/>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1FC6B3E6-E9F4-E2EB-6CE0-4E76A76CEE9C}"/>
              </a:ext>
            </a:extLst>
          </p:cNvPr>
          <p:cNvSpPr>
            <a:spLocks noGrp="1"/>
          </p:cNvSpPr>
          <p:nvPr>
            <p:ph type="sldNum" sz="quarter" idx="5"/>
          </p:nvPr>
        </p:nvSpPr>
        <p:spPr/>
        <p:txBody>
          <a:bodyPr/>
          <a:lstStyle/>
          <a:p>
            <a:fld id="{C174403E-3E46-4469-BEC1-3A2F9E093A02}" type="slidenum">
              <a:rPr lang="en-US" smtClean="0"/>
              <a:t>13</a:t>
            </a:fld>
            <a:endParaRPr lang="en-US"/>
          </a:p>
        </p:txBody>
      </p:sp>
    </p:spTree>
    <p:extLst>
      <p:ext uri="{BB962C8B-B14F-4D97-AF65-F5344CB8AC3E}">
        <p14:creationId xmlns:p14="http://schemas.microsoft.com/office/powerpoint/2010/main" val="3268754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408BD-E555-3BFB-BAE4-EF1D8A5A8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61D8C-57F4-F743-A103-88A635A7D1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C32C6F-A72D-F3A3-7C93-B16B3D7C75A1}"/>
              </a:ext>
            </a:extLst>
          </p:cNvPr>
          <p:cNvSpPr>
            <a:spLocks noGrp="1"/>
          </p:cNvSpPr>
          <p:nvPr>
            <p:ph type="body" idx="1"/>
          </p:nvPr>
        </p:nvSpPr>
        <p:spPr/>
        <p:txBody>
          <a:bodyPr/>
          <a:lstStyle/>
          <a:p>
            <a:r>
              <a:rPr lang="en-US" dirty="0"/>
              <a:t>BFS explores a problem step by step, starting with the closest options and moving outward. It checks all the possibilities at each level before moving to the next. This method guarantees finding the shortest path because it looks at nearby options first and expands from there, ensuring the least number of steps needed to reach the goal.</a:t>
            </a:r>
          </a:p>
          <a:p>
            <a:endParaRPr lang="en-US" dirty="0"/>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7DD8831-42DC-A6F8-7451-D0A0FEB306C6}"/>
              </a:ext>
            </a:extLst>
          </p:cNvPr>
          <p:cNvSpPr>
            <a:spLocks noGrp="1"/>
          </p:cNvSpPr>
          <p:nvPr>
            <p:ph type="sldNum" sz="quarter" idx="5"/>
          </p:nvPr>
        </p:nvSpPr>
        <p:spPr/>
        <p:txBody>
          <a:bodyPr/>
          <a:lstStyle/>
          <a:p>
            <a:fld id="{C174403E-3E46-4469-BEC1-3A2F9E093A02}" type="slidenum">
              <a:rPr lang="en-US" smtClean="0"/>
              <a:t>14</a:t>
            </a:fld>
            <a:endParaRPr lang="en-US"/>
          </a:p>
        </p:txBody>
      </p:sp>
    </p:spTree>
    <p:extLst>
      <p:ext uri="{BB962C8B-B14F-4D97-AF65-F5344CB8AC3E}">
        <p14:creationId xmlns:p14="http://schemas.microsoft.com/office/powerpoint/2010/main" val="1106391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38E7E-474A-E676-57D0-F6B64D3F1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71ED6-6C04-719F-637E-CD9A62DDBE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9BEE78-B07C-198C-4F0E-5ECABDE4B34C}"/>
              </a:ext>
            </a:extLst>
          </p:cNvPr>
          <p:cNvSpPr>
            <a:spLocks noGrp="1"/>
          </p:cNvSpPr>
          <p:nvPr>
            <p:ph type="body" idx="1"/>
          </p:nvPr>
        </p:nvSpPr>
        <p:spPr/>
        <p:txBody>
          <a:bodyPr/>
          <a:lstStyle/>
          <a:p>
            <a:r>
              <a:rPr lang="en-US" dirty="0"/>
              <a:t>BFS explores a problem step by step, starting with the closest options and moving outward. It checks all the possibilities at each level before moving to the next. This method guarantees finding the shortest path because it looks at nearby options first and expands from there, ensuring the least number of steps needed to reach the goal.</a:t>
            </a:r>
          </a:p>
          <a:p>
            <a:endParaRPr lang="en-US" dirty="0"/>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FCC4047-221E-1397-C6ED-723D0DE3B833}"/>
              </a:ext>
            </a:extLst>
          </p:cNvPr>
          <p:cNvSpPr>
            <a:spLocks noGrp="1"/>
          </p:cNvSpPr>
          <p:nvPr>
            <p:ph type="sldNum" sz="quarter" idx="5"/>
          </p:nvPr>
        </p:nvSpPr>
        <p:spPr/>
        <p:txBody>
          <a:bodyPr/>
          <a:lstStyle/>
          <a:p>
            <a:fld id="{C174403E-3E46-4469-BEC1-3A2F9E093A02}" type="slidenum">
              <a:rPr lang="en-US" smtClean="0"/>
              <a:t>15</a:t>
            </a:fld>
            <a:endParaRPr lang="en-US"/>
          </a:p>
        </p:txBody>
      </p:sp>
    </p:spTree>
    <p:extLst>
      <p:ext uri="{BB962C8B-B14F-4D97-AF65-F5344CB8AC3E}">
        <p14:creationId xmlns:p14="http://schemas.microsoft.com/office/powerpoint/2010/main" val="2541229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6CEE4-11B5-E9F9-A8D6-940FD8DBA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8959A-B64C-B57D-B666-644C6996DC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574DA7-2F39-B278-0150-C815B4BB54D7}"/>
              </a:ext>
            </a:extLst>
          </p:cNvPr>
          <p:cNvSpPr>
            <a:spLocks noGrp="1"/>
          </p:cNvSpPr>
          <p:nvPr>
            <p:ph type="body" idx="1"/>
          </p:nvPr>
        </p:nvSpPr>
        <p:spPr/>
        <p:txBody>
          <a:bodyPr/>
          <a:lstStyle/>
          <a:p>
            <a:r>
              <a:rPr lang="en-US" dirty="0"/>
              <a:t>BFS explores a problem step by step, starting with the closest options and moving outward. It checks all the possibilities at each level before moving to the next. This method guarantees finding the shortest path because it looks at nearby options first and expands from there, ensuring the least number of steps needed to reach the goal.</a:t>
            </a:r>
          </a:p>
          <a:p>
            <a:endParaRPr lang="en-US" dirty="0"/>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0EE4CF3-365F-2983-C160-CD8B3406E9C6}"/>
              </a:ext>
            </a:extLst>
          </p:cNvPr>
          <p:cNvSpPr>
            <a:spLocks noGrp="1"/>
          </p:cNvSpPr>
          <p:nvPr>
            <p:ph type="sldNum" sz="quarter" idx="5"/>
          </p:nvPr>
        </p:nvSpPr>
        <p:spPr/>
        <p:txBody>
          <a:bodyPr/>
          <a:lstStyle/>
          <a:p>
            <a:fld id="{C174403E-3E46-4469-BEC1-3A2F9E093A02}" type="slidenum">
              <a:rPr lang="en-US" smtClean="0"/>
              <a:t>16</a:t>
            </a:fld>
            <a:endParaRPr lang="en-US"/>
          </a:p>
        </p:txBody>
      </p:sp>
    </p:spTree>
    <p:extLst>
      <p:ext uri="{BB962C8B-B14F-4D97-AF65-F5344CB8AC3E}">
        <p14:creationId xmlns:p14="http://schemas.microsoft.com/office/powerpoint/2010/main" val="913391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D1217-3A08-4422-A71F-A9D5E2CB81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CF49DE-ECA7-5D9D-2646-53551E4FCC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288D64-F0EA-CE63-D9CD-1A5A6B7ED4E3}"/>
              </a:ext>
            </a:extLst>
          </p:cNvPr>
          <p:cNvSpPr>
            <a:spLocks noGrp="1"/>
          </p:cNvSpPr>
          <p:nvPr>
            <p:ph type="dt" sz="half" idx="10"/>
          </p:nvPr>
        </p:nvSpPr>
        <p:spPr/>
        <p:txBody>
          <a:bodyPr/>
          <a:lstStyle/>
          <a:p>
            <a:fld id="{4A4EA48D-45F1-4D63-BEAE-7F1781564377}" type="datetimeFigureOut">
              <a:rPr lang="en-US" smtClean="0"/>
              <a:t>3/17/2025</a:t>
            </a:fld>
            <a:endParaRPr lang="en-US"/>
          </a:p>
        </p:txBody>
      </p:sp>
      <p:sp>
        <p:nvSpPr>
          <p:cNvPr id="5" name="Footer Placeholder 4">
            <a:extLst>
              <a:ext uri="{FF2B5EF4-FFF2-40B4-BE49-F238E27FC236}">
                <a16:creationId xmlns:a16="http://schemas.microsoft.com/office/drawing/2014/main" id="{A0E655E4-57F8-5B35-6649-0E223B33E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453FCF-6E79-2574-F90A-DCA460C846D0}"/>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1835613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887F4-CDA9-9299-7A7F-89B2CCC3F4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BFA758-6CA2-F242-5756-9B45FA252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405BCC-941B-9C3D-9C4E-859C63DD64E4}"/>
              </a:ext>
            </a:extLst>
          </p:cNvPr>
          <p:cNvSpPr>
            <a:spLocks noGrp="1"/>
          </p:cNvSpPr>
          <p:nvPr>
            <p:ph type="dt" sz="half" idx="10"/>
          </p:nvPr>
        </p:nvSpPr>
        <p:spPr/>
        <p:txBody>
          <a:bodyPr/>
          <a:lstStyle/>
          <a:p>
            <a:fld id="{4A4EA48D-45F1-4D63-BEAE-7F1781564377}" type="datetimeFigureOut">
              <a:rPr lang="en-US" smtClean="0"/>
              <a:t>3/17/2025</a:t>
            </a:fld>
            <a:endParaRPr lang="en-US"/>
          </a:p>
        </p:txBody>
      </p:sp>
      <p:sp>
        <p:nvSpPr>
          <p:cNvPr id="5" name="Footer Placeholder 4">
            <a:extLst>
              <a:ext uri="{FF2B5EF4-FFF2-40B4-BE49-F238E27FC236}">
                <a16:creationId xmlns:a16="http://schemas.microsoft.com/office/drawing/2014/main" id="{5161E96A-6BFE-09F4-4D58-A8776E66EE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EA744-12FB-62F3-5D77-0A691106F3BA}"/>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3660712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491DF-D90C-F58E-C431-D02186C06A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82E418-8D9E-8EE5-0AB4-A1BC0A49C4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5B4978-2BD8-79D4-2B4A-E6C0FA921E25}"/>
              </a:ext>
            </a:extLst>
          </p:cNvPr>
          <p:cNvSpPr>
            <a:spLocks noGrp="1"/>
          </p:cNvSpPr>
          <p:nvPr>
            <p:ph type="dt" sz="half" idx="10"/>
          </p:nvPr>
        </p:nvSpPr>
        <p:spPr/>
        <p:txBody>
          <a:bodyPr/>
          <a:lstStyle/>
          <a:p>
            <a:fld id="{4A4EA48D-45F1-4D63-BEAE-7F1781564377}" type="datetimeFigureOut">
              <a:rPr lang="en-US" smtClean="0"/>
              <a:t>3/17/2025</a:t>
            </a:fld>
            <a:endParaRPr lang="en-US"/>
          </a:p>
        </p:txBody>
      </p:sp>
      <p:sp>
        <p:nvSpPr>
          <p:cNvPr id="5" name="Footer Placeholder 4">
            <a:extLst>
              <a:ext uri="{FF2B5EF4-FFF2-40B4-BE49-F238E27FC236}">
                <a16:creationId xmlns:a16="http://schemas.microsoft.com/office/drawing/2014/main" id="{EFD9BA2E-8B9E-8F9D-051F-E86AA69CEF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0B0AB2-AB5A-DD5A-B4CF-66DDFF864F1B}"/>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3704050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3F364-EBA1-7546-2093-22B82BC38E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94F657-7D8B-7049-8D24-6C747A16E8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18A0DB-B1E2-EBDD-2207-6B4D912E69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47D91E-BD60-4316-8F5F-2E522E122BE9}"/>
              </a:ext>
            </a:extLst>
          </p:cNvPr>
          <p:cNvSpPr>
            <a:spLocks noGrp="1"/>
          </p:cNvSpPr>
          <p:nvPr>
            <p:ph type="dt" sz="half" idx="10"/>
          </p:nvPr>
        </p:nvSpPr>
        <p:spPr/>
        <p:txBody>
          <a:bodyPr/>
          <a:lstStyle/>
          <a:p>
            <a:fld id="{4A4EA48D-45F1-4D63-BEAE-7F1781564377}" type="datetimeFigureOut">
              <a:rPr lang="en-US" smtClean="0"/>
              <a:t>3/17/2025</a:t>
            </a:fld>
            <a:endParaRPr lang="en-US"/>
          </a:p>
        </p:txBody>
      </p:sp>
      <p:sp>
        <p:nvSpPr>
          <p:cNvPr id="6" name="Footer Placeholder 5">
            <a:extLst>
              <a:ext uri="{FF2B5EF4-FFF2-40B4-BE49-F238E27FC236}">
                <a16:creationId xmlns:a16="http://schemas.microsoft.com/office/drawing/2014/main" id="{0053A47A-EA1D-CF31-8927-C0E9E7355C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E23AAD-C50A-A034-BD92-3851FD642076}"/>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4130265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489EB-738F-AFEE-2473-6B0ABD7D9D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5B1FA0-96FC-EB7B-6235-70B81C7816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7AB453-8273-230B-1FB0-3051767B22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C1939F-5E2E-76FE-DE5E-699D8F670A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B60FA0-C0DA-AB1B-FF56-294ADEFBF8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280BBAD-2B02-442B-64F9-C5042B70B52A}"/>
              </a:ext>
            </a:extLst>
          </p:cNvPr>
          <p:cNvSpPr>
            <a:spLocks noGrp="1"/>
          </p:cNvSpPr>
          <p:nvPr>
            <p:ph type="dt" sz="half" idx="10"/>
          </p:nvPr>
        </p:nvSpPr>
        <p:spPr/>
        <p:txBody>
          <a:bodyPr/>
          <a:lstStyle/>
          <a:p>
            <a:fld id="{4A4EA48D-45F1-4D63-BEAE-7F1781564377}" type="datetimeFigureOut">
              <a:rPr lang="en-US" smtClean="0"/>
              <a:t>3/17/2025</a:t>
            </a:fld>
            <a:endParaRPr lang="en-US"/>
          </a:p>
        </p:txBody>
      </p:sp>
      <p:sp>
        <p:nvSpPr>
          <p:cNvPr id="8" name="Footer Placeholder 7">
            <a:extLst>
              <a:ext uri="{FF2B5EF4-FFF2-40B4-BE49-F238E27FC236}">
                <a16:creationId xmlns:a16="http://schemas.microsoft.com/office/drawing/2014/main" id="{82AE5827-9A0D-7A9F-560D-A4210BD634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B2D842-D188-E870-1210-15A7667BA73B}"/>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124150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EC321-9409-5829-5033-CC78957010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F44793-3749-CD51-68FB-CBA16D4CE2D5}"/>
              </a:ext>
            </a:extLst>
          </p:cNvPr>
          <p:cNvSpPr>
            <a:spLocks noGrp="1"/>
          </p:cNvSpPr>
          <p:nvPr>
            <p:ph type="dt" sz="half" idx="10"/>
          </p:nvPr>
        </p:nvSpPr>
        <p:spPr/>
        <p:txBody>
          <a:bodyPr/>
          <a:lstStyle/>
          <a:p>
            <a:fld id="{4A4EA48D-45F1-4D63-BEAE-7F1781564377}" type="datetimeFigureOut">
              <a:rPr lang="en-US" smtClean="0"/>
              <a:t>3/17/2025</a:t>
            </a:fld>
            <a:endParaRPr lang="en-US"/>
          </a:p>
        </p:txBody>
      </p:sp>
      <p:sp>
        <p:nvSpPr>
          <p:cNvPr id="4" name="Footer Placeholder 3">
            <a:extLst>
              <a:ext uri="{FF2B5EF4-FFF2-40B4-BE49-F238E27FC236}">
                <a16:creationId xmlns:a16="http://schemas.microsoft.com/office/drawing/2014/main" id="{E0658E09-0A69-DB37-391D-CB4EEA5FEE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C9C256-BA9A-C00E-72F6-40A144259A00}"/>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2672870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034C52-9B3E-75C2-988E-3C463F4B68F9}"/>
              </a:ext>
            </a:extLst>
          </p:cNvPr>
          <p:cNvSpPr>
            <a:spLocks noGrp="1"/>
          </p:cNvSpPr>
          <p:nvPr>
            <p:ph type="dt" sz="half" idx="10"/>
          </p:nvPr>
        </p:nvSpPr>
        <p:spPr/>
        <p:txBody>
          <a:bodyPr/>
          <a:lstStyle/>
          <a:p>
            <a:fld id="{4A4EA48D-45F1-4D63-BEAE-7F1781564377}" type="datetimeFigureOut">
              <a:rPr lang="en-US" smtClean="0"/>
              <a:t>3/17/2025</a:t>
            </a:fld>
            <a:endParaRPr lang="en-US"/>
          </a:p>
        </p:txBody>
      </p:sp>
      <p:sp>
        <p:nvSpPr>
          <p:cNvPr id="3" name="Footer Placeholder 2">
            <a:extLst>
              <a:ext uri="{FF2B5EF4-FFF2-40B4-BE49-F238E27FC236}">
                <a16:creationId xmlns:a16="http://schemas.microsoft.com/office/drawing/2014/main" id="{40B8B849-6A2F-35F5-6EA8-4DA2E9E53B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AEF69C-E0C5-67D7-9FEE-070D615BFCED}"/>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4114702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3EBAF-D447-37A0-01F9-3BB2A3D626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018B12-F001-A001-5203-B0B0B9D1F4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0F2C1B-4B56-9887-9F89-FABAB1E839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AA3189-51DB-F682-DE54-65532D4D7757}"/>
              </a:ext>
            </a:extLst>
          </p:cNvPr>
          <p:cNvSpPr>
            <a:spLocks noGrp="1"/>
          </p:cNvSpPr>
          <p:nvPr>
            <p:ph type="dt" sz="half" idx="10"/>
          </p:nvPr>
        </p:nvSpPr>
        <p:spPr/>
        <p:txBody>
          <a:bodyPr/>
          <a:lstStyle/>
          <a:p>
            <a:fld id="{4A4EA48D-45F1-4D63-BEAE-7F1781564377}" type="datetimeFigureOut">
              <a:rPr lang="en-US" smtClean="0"/>
              <a:t>3/17/2025</a:t>
            </a:fld>
            <a:endParaRPr lang="en-US"/>
          </a:p>
        </p:txBody>
      </p:sp>
      <p:sp>
        <p:nvSpPr>
          <p:cNvPr id="6" name="Footer Placeholder 5">
            <a:extLst>
              <a:ext uri="{FF2B5EF4-FFF2-40B4-BE49-F238E27FC236}">
                <a16:creationId xmlns:a16="http://schemas.microsoft.com/office/drawing/2014/main" id="{C77BE4C2-9480-88A9-811B-AF072E3313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950C8C-8DE1-58C1-32E5-C04B96715103}"/>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117548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0729F-0C6C-73EC-90BD-C5CA1E910C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E9B0C7-493A-4196-3CA3-C963FEF0ED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905EED-083E-C2B1-6A11-7F3224C206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27119-0969-E76C-C08F-7EC9D332AA00}"/>
              </a:ext>
            </a:extLst>
          </p:cNvPr>
          <p:cNvSpPr>
            <a:spLocks noGrp="1"/>
          </p:cNvSpPr>
          <p:nvPr>
            <p:ph type="dt" sz="half" idx="10"/>
          </p:nvPr>
        </p:nvSpPr>
        <p:spPr/>
        <p:txBody>
          <a:bodyPr/>
          <a:lstStyle/>
          <a:p>
            <a:fld id="{4A4EA48D-45F1-4D63-BEAE-7F1781564377}" type="datetimeFigureOut">
              <a:rPr lang="en-US" smtClean="0"/>
              <a:t>3/17/2025</a:t>
            </a:fld>
            <a:endParaRPr lang="en-US"/>
          </a:p>
        </p:txBody>
      </p:sp>
      <p:sp>
        <p:nvSpPr>
          <p:cNvPr id="6" name="Footer Placeholder 5">
            <a:extLst>
              <a:ext uri="{FF2B5EF4-FFF2-40B4-BE49-F238E27FC236}">
                <a16:creationId xmlns:a16="http://schemas.microsoft.com/office/drawing/2014/main" id="{807FE66E-6558-90E3-E4C1-42AF6C78E4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D90D9B-31E1-FB5F-5404-F991C5203394}"/>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252544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913FD-EE0D-82A7-3DDC-C92AF12F6A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30F838D-A704-733E-4597-9D9DBF079D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439990-F008-4341-AE84-BC2A975AE549}"/>
              </a:ext>
            </a:extLst>
          </p:cNvPr>
          <p:cNvSpPr>
            <a:spLocks noGrp="1"/>
          </p:cNvSpPr>
          <p:nvPr>
            <p:ph type="dt" sz="half" idx="10"/>
          </p:nvPr>
        </p:nvSpPr>
        <p:spPr/>
        <p:txBody>
          <a:bodyPr/>
          <a:lstStyle/>
          <a:p>
            <a:fld id="{4A4EA48D-45F1-4D63-BEAE-7F1781564377}" type="datetimeFigureOut">
              <a:rPr lang="en-US" smtClean="0"/>
              <a:t>3/17/2025</a:t>
            </a:fld>
            <a:endParaRPr lang="en-US"/>
          </a:p>
        </p:txBody>
      </p:sp>
      <p:sp>
        <p:nvSpPr>
          <p:cNvPr id="5" name="Footer Placeholder 4">
            <a:extLst>
              <a:ext uri="{FF2B5EF4-FFF2-40B4-BE49-F238E27FC236}">
                <a16:creationId xmlns:a16="http://schemas.microsoft.com/office/drawing/2014/main" id="{68F439BE-496E-A6AA-75C8-E63C0252CF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07216-FC2E-7B84-D0FD-DB09A77B06C9}"/>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480327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B8A0AD-DD44-2786-4980-EF51BB6252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EED352-6F4A-89DB-4D15-576D4F554D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512714-68CD-12B2-D1AC-FE4FA15B030F}"/>
              </a:ext>
            </a:extLst>
          </p:cNvPr>
          <p:cNvSpPr>
            <a:spLocks noGrp="1"/>
          </p:cNvSpPr>
          <p:nvPr>
            <p:ph type="dt" sz="half" idx="10"/>
          </p:nvPr>
        </p:nvSpPr>
        <p:spPr/>
        <p:txBody>
          <a:bodyPr/>
          <a:lstStyle/>
          <a:p>
            <a:fld id="{4A4EA48D-45F1-4D63-BEAE-7F1781564377}" type="datetimeFigureOut">
              <a:rPr lang="en-US" smtClean="0"/>
              <a:t>3/17/2025</a:t>
            </a:fld>
            <a:endParaRPr lang="en-US"/>
          </a:p>
        </p:txBody>
      </p:sp>
      <p:sp>
        <p:nvSpPr>
          <p:cNvPr id="5" name="Footer Placeholder 4">
            <a:extLst>
              <a:ext uri="{FF2B5EF4-FFF2-40B4-BE49-F238E27FC236}">
                <a16:creationId xmlns:a16="http://schemas.microsoft.com/office/drawing/2014/main" id="{820B0D98-054B-4F04-C860-01D550617B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8D5F8-B181-EEB4-5EB4-883695353647}"/>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426356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9F31CA-6D0A-9A31-77E8-2F4996CBBA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AA7E53-D4A5-B259-734C-09EE4FEF1B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190FBD-53DB-EF2D-3829-4F5C0485DC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4EA48D-45F1-4D63-BEAE-7F1781564377}" type="datetimeFigureOut">
              <a:rPr lang="en-US" smtClean="0"/>
              <a:t>3/17/2025</a:t>
            </a:fld>
            <a:endParaRPr lang="en-US"/>
          </a:p>
        </p:txBody>
      </p:sp>
      <p:sp>
        <p:nvSpPr>
          <p:cNvPr id="5" name="Footer Placeholder 4">
            <a:extLst>
              <a:ext uri="{FF2B5EF4-FFF2-40B4-BE49-F238E27FC236}">
                <a16:creationId xmlns:a16="http://schemas.microsoft.com/office/drawing/2014/main" id="{5B837025-BD83-AB56-ACC2-A502387EEA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34F3E05-A2D1-418B-2918-736CD87614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9E998A-ACE4-45A6-8B0E-EA153284DC58}" type="slidenum">
              <a:rPr lang="en-US" smtClean="0"/>
              <a:t>‹#›</a:t>
            </a:fld>
            <a:endParaRPr lang="en-US"/>
          </a:p>
        </p:txBody>
      </p:sp>
    </p:spTree>
    <p:extLst>
      <p:ext uri="{BB962C8B-B14F-4D97-AF65-F5344CB8AC3E}">
        <p14:creationId xmlns:p14="http://schemas.microsoft.com/office/powerpoint/2010/main" val="3656561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837BC1-2A71-86B8-E3BE-6EE667938354}"/>
            </a:ext>
          </a:extLst>
        </p:cNvPr>
        <p:cNvGrpSpPr/>
        <p:nvPr/>
      </p:nvGrpSpPr>
      <p:grpSpPr>
        <a:xfrm>
          <a:off x="0" y="0"/>
          <a:ext cx="0" cy="0"/>
          <a:chOff x="0" y="0"/>
          <a:chExt cx="0" cy="0"/>
        </a:xfrm>
      </p:grpSpPr>
      <p:sp useBgFill="1">
        <p:nvSpPr>
          <p:cNvPr id="2066" name="Rectangle 206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0147D127-4065-D200-46AB-24EFCA704D0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882" b="-1"/>
          <a:stretch/>
        </p:blipFill>
        <p:spPr bwMode="auto">
          <a:xfrm>
            <a:off x="2522356"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2068" name="Rectangle 2067">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2D12685-919A-FD59-C985-12080B53F5DA}"/>
              </a:ext>
            </a:extLst>
          </p:cNvPr>
          <p:cNvSpPr txBox="1"/>
          <p:nvPr/>
        </p:nvSpPr>
        <p:spPr>
          <a:xfrm>
            <a:off x="838200" y="365125"/>
            <a:ext cx="5534025" cy="189991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b="1" dirty="0">
                <a:effectLst/>
                <a:latin typeface="+mj-lt"/>
                <a:ea typeface="+mj-ea"/>
                <a:cs typeface="+mj-cs"/>
              </a:rPr>
              <a:t>Part 2: AI Search Algorithms (</a:t>
            </a:r>
            <a:r>
              <a:rPr lang="en-US" sz="3700" b="1" dirty="0">
                <a:latin typeface="+mj-lt"/>
                <a:ea typeface="+mj-ea"/>
                <a:cs typeface="+mj-cs"/>
              </a:rPr>
              <a:t>Making Decisions)</a:t>
            </a:r>
          </a:p>
        </p:txBody>
      </p:sp>
      <p:sp>
        <p:nvSpPr>
          <p:cNvPr id="2" name="TextBox 1">
            <a:extLst>
              <a:ext uri="{FF2B5EF4-FFF2-40B4-BE49-F238E27FC236}">
                <a16:creationId xmlns:a16="http://schemas.microsoft.com/office/drawing/2014/main" id="{0C431AA1-8B50-362B-C478-D872E44D9BA2}"/>
              </a:ext>
            </a:extLst>
          </p:cNvPr>
          <p:cNvSpPr txBox="1"/>
          <p:nvPr/>
        </p:nvSpPr>
        <p:spPr>
          <a:xfrm>
            <a:off x="838200" y="2434201"/>
            <a:ext cx="3822189" cy="3742762"/>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a:t>AI search algorithms are methods used to find solutions to problems by exploring a set of possible options.</a:t>
            </a:r>
          </a:p>
        </p:txBody>
      </p:sp>
    </p:spTree>
    <p:extLst>
      <p:ext uri="{BB962C8B-B14F-4D97-AF65-F5344CB8AC3E}">
        <p14:creationId xmlns:p14="http://schemas.microsoft.com/office/powerpoint/2010/main" val="2109283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00DD7-E8EE-D21F-C409-0CAB33694D1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992753B-7AFE-5B36-6039-D18BDA7CE978}"/>
              </a:ext>
            </a:extLst>
          </p:cNvPr>
          <p:cNvSpPr txBox="1"/>
          <p:nvPr/>
        </p:nvSpPr>
        <p:spPr>
          <a:xfrm>
            <a:off x="1070687" y="659248"/>
            <a:ext cx="10274561" cy="646331"/>
          </a:xfrm>
          <a:prstGeom prst="rect">
            <a:avLst/>
          </a:prstGeom>
          <a:noFill/>
        </p:spPr>
        <p:txBody>
          <a:bodyPr wrap="square" rtlCol="0">
            <a:spAutoFit/>
          </a:bodyPr>
          <a:lstStyle/>
          <a:p>
            <a:r>
              <a:rPr lang="en-US" sz="3600" b="1" kern="0" dirty="0">
                <a:latin typeface="Calibri" panose="020F0502020204030204" pitchFamily="34" charset="0"/>
                <a:cs typeface="Times New Roman" panose="02020603050405020304" pitchFamily="18" charset="0"/>
              </a:rPr>
              <a:t>Search Problems</a:t>
            </a:r>
            <a:endParaRPr lang="en-US" sz="6000" b="1" dirty="0"/>
          </a:p>
        </p:txBody>
      </p:sp>
      <p:sp>
        <p:nvSpPr>
          <p:cNvPr id="2" name="TextBox 1">
            <a:extLst>
              <a:ext uri="{FF2B5EF4-FFF2-40B4-BE49-F238E27FC236}">
                <a16:creationId xmlns:a16="http://schemas.microsoft.com/office/drawing/2014/main" id="{9254030A-D57A-BEB2-81C2-2DE7E65B2A50}"/>
              </a:ext>
            </a:extLst>
          </p:cNvPr>
          <p:cNvSpPr txBox="1"/>
          <p:nvPr/>
        </p:nvSpPr>
        <p:spPr>
          <a:xfrm>
            <a:off x="1104823" y="1374919"/>
            <a:ext cx="9714725" cy="523220"/>
          </a:xfrm>
          <a:prstGeom prst="rect">
            <a:avLst/>
          </a:prstGeom>
          <a:noFill/>
        </p:spPr>
        <p:txBody>
          <a:bodyPr wrap="square" rtlCol="0">
            <a:spAutoFit/>
          </a:bodyPr>
          <a:lstStyle/>
          <a:p>
            <a:r>
              <a:rPr lang="en-US" sz="2800" dirty="0"/>
              <a:t>A </a:t>
            </a:r>
            <a:r>
              <a:rPr lang="en-US" sz="2800" dirty="0">
                <a:solidFill>
                  <a:srgbClr val="FF0000"/>
                </a:solidFill>
              </a:rPr>
              <a:t>search problem</a:t>
            </a:r>
            <a:r>
              <a:rPr lang="en-US" sz="2800" dirty="0"/>
              <a:t> consist of: </a:t>
            </a:r>
          </a:p>
        </p:txBody>
      </p:sp>
      <p:sp>
        <p:nvSpPr>
          <p:cNvPr id="3" name="TextBox 2">
            <a:extLst>
              <a:ext uri="{FF2B5EF4-FFF2-40B4-BE49-F238E27FC236}">
                <a16:creationId xmlns:a16="http://schemas.microsoft.com/office/drawing/2014/main" id="{F14922C8-A4B9-9CA2-6DC7-26E1F5B775FA}"/>
              </a:ext>
            </a:extLst>
          </p:cNvPr>
          <p:cNvSpPr txBox="1"/>
          <p:nvPr/>
        </p:nvSpPr>
        <p:spPr>
          <a:xfrm>
            <a:off x="1142923" y="1945937"/>
            <a:ext cx="9714725" cy="1384995"/>
          </a:xfrm>
          <a:prstGeom prst="rect">
            <a:avLst/>
          </a:prstGeom>
          <a:noFill/>
        </p:spPr>
        <p:txBody>
          <a:bodyPr wrap="square" rtlCol="0">
            <a:spAutoFit/>
          </a:bodyPr>
          <a:lstStyle/>
          <a:p>
            <a:r>
              <a:rPr lang="en-US" sz="2400" b="1" dirty="0"/>
              <a:t>A State space/Search Space</a:t>
            </a:r>
          </a:p>
          <a:p>
            <a:pPr marL="457200" indent="-457200">
              <a:buFont typeface="Arial" panose="020B0604020202020204" pitchFamily="34" charset="0"/>
              <a:buChar char="•"/>
            </a:pPr>
            <a:r>
              <a:rPr lang="en-US" sz="2000" dirty="0"/>
              <a:t>A conceptual representation of all possible states that a problem can be in. </a:t>
            </a:r>
          </a:p>
          <a:p>
            <a:pPr marL="457200" indent="-457200">
              <a:buFont typeface="Arial" panose="020B0604020202020204" pitchFamily="34" charset="0"/>
              <a:buChar char="•"/>
            </a:pPr>
            <a:r>
              <a:rPr lang="en-US" sz="2000" dirty="0"/>
              <a:t>A map of all different scenarios an agent might encounter while trying to solve a problem.</a:t>
            </a:r>
          </a:p>
        </p:txBody>
      </p:sp>
      <p:grpSp>
        <p:nvGrpSpPr>
          <p:cNvPr id="21" name="Group 20">
            <a:extLst>
              <a:ext uri="{FF2B5EF4-FFF2-40B4-BE49-F238E27FC236}">
                <a16:creationId xmlns:a16="http://schemas.microsoft.com/office/drawing/2014/main" id="{C2BABBD1-ABFA-AE42-4722-03FF669977F5}"/>
              </a:ext>
            </a:extLst>
          </p:cNvPr>
          <p:cNvGrpSpPr/>
          <p:nvPr/>
        </p:nvGrpSpPr>
        <p:grpSpPr>
          <a:xfrm>
            <a:off x="6096000" y="1761445"/>
            <a:ext cx="4659313" cy="568326"/>
            <a:chOff x="6096000" y="1761445"/>
            <a:chExt cx="4659313" cy="568326"/>
          </a:xfrm>
        </p:grpSpPr>
        <p:pic>
          <p:nvPicPr>
            <p:cNvPr id="6" name="Picture 5">
              <a:extLst>
                <a:ext uri="{FF2B5EF4-FFF2-40B4-BE49-F238E27FC236}">
                  <a16:creationId xmlns:a16="http://schemas.microsoft.com/office/drawing/2014/main" id="{22F643A2-E5FB-9B94-6192-F517905B93A8}"/>
                </a:ext>
              </a:extLst>
            </p:cNvPr>
            <p:cNvPicPr>
              <a:picLocks noChangeAspect="1" noChangeArrowheads="1"/>
            </p:cNvPicPr>
            <p:nvPr/>
          </p:nvPicPr>
          <p:blipFill>
            <a:blip r:embed="rId2" cstate="print"/>
            <a:srcRect/>
            <a:stretch>
              <a:fillRect/>
            </a:stretch>
          </p:blipFill>
          <p:spPr bwMode="auto">
            <a:xfrm>
              <a:off x="6781798" y="1761446"/>
              <a:ext cx="560388" cy="568325"/>
            </a:xfrm>
            <a:prstGeom prst="rect">
              <a:avLst/>
            </a:prstGeom>
            <a:noFill/>
            <a:ln w="9525">
              <a:noFill/>
              <a:miter lim="800000"/>
              <a:headEnd/>
              <a:tailEnd/>
            </a:ln>
          </p:spPr>
        </p:pic>
        <p:pic>
          <p:nvPicPr>
            <p:cNvPr id="7" name="Picture 6">
              <a:extLst>
                <a:ext uri="{FF2B5EF4-FFF2-40B4-BE49-F238E27FC236}">
                  <a16:creationId xmlns:a16="http://schemas.microsoft.com/office/drawing/2014/main" id="{0D02F8ED-C637-2858-6527-547EC122FD36}"/>
                </a:ext>
              </a:extLst>
            </p:cNvPr>
            <p:cNvPicPr>
              <a:picLocks noChangeAspect="1" noChangeArrowheads="1"/>
            </p:cNvPicPr>
            <p:nvPr/>
          </p:nvPicPr>
          <p:blipFill>
            <a:blip r:embed="rId3" cstate="print"/>
            <a:srcRect/>
            <a:stretch>
              <a:fillRect/>
            </a:stretch>
          </p:blipFill>
          <p:spPr bwMode="auto">
            <a:xfrm>
              <a:off x="8134344" y="1761445"/>
              <a:ext cx="552451" cy="560388"/>
            </a:xfrm>
            <a:prstGeom prst="rect">
              <a:avLst/>
            </a:prstGeom>
            <a:noFill/>
            <a:ln w="9525">
              <a:noFill/>
              <a:miter lim="800000"/>
              <a:headEnd/>
              <a:tailEnd/>
            </a:ln>
          </p:spPr>
        </p:pic>
        <p:pic>
          <p:nvPicPr>
            <p:cNvPr id="8" name="Picture 7">
              <a:extLst>
                <a:ext uri="{FF2B5EF4-FFF2-40B4-BE49-F238E27FC236}">
                  <a16:creationId xmlns:a16="http://schemas.microsoft.com/office/drawing/2014/main" id="{16425010-C7BA-8843-90EF-35D4D33E9A16}"/>
                </a:ext>
              </a:extLst>
            </p:cNvPr>
            <p:cNvPicPr>
              <a:picLocks noChangeAspect="1" noChangeArrowheads="1"/>
            </p:cNvPicPr>
            <p:nvPr/>
          </p:nvPicPr>
          <p:blipFill>
            <a:blip r:embed="rId4" cstate="print"/>
            <a:srcRect/>
            <a:stretch>
              <a:fillRect/>
            </a:stretch>
          </p:blipFill>
          <p:spPr bwMode="auto">
            <a:xfrm>
              <a:off x="10210800" y="1761445"/>
              <a:ext cx="544513" cy="560388"/>
            </a:xfrm>
            <a:prstGeom prst="rect">
              <a:avLst/>
            </a:prstGeom>
            <a:noFill/>
            <a:ln w="9525">
              <a:noFill/>
              <a:miter lim="800000"/>
              <a:headEnd/>
              <a:tailEnd/>
            </a:ln>
          </p:spPr>
        </p:pic>
        <p:pic>
          <p:nvPicPr>
            <p:cNvPr id="9" name="Picture 8">
              <a:extLst>
                <a:ext uri="{FF2B5EF4-FFF2-40B4-BE49-F238E27FC236}">
                  <a16:creationId xmlns:a16="http://schemas.microsoft.com/office/drawing/2014/main" id="{8414093C-2787-08DF-ACC1-B4666D299FEA}"/>
                </a:ext>
              </a:extLst>
            </p:cNvPr>
            <p:cNvPicPr>
              <a:picLocks noChangeAspect="1" noChangeArrowheads="1"/>
            </p:cNvPicPr>
            <p:nvPr/>
          </p:nvPicPr>
          <p:blipFill>
            <a:blip r:embed="rId5" cstate="print"/>
            <a:srcRect/>
            <a:stretch>
              <a:fillRect/>
            </a:stretch>
          </p:blipFill>
          <p:spPr bwMode="auto">
            <a:xfrm>
              <a:off x="7467596" y="1761445"/>
              <a:ext cx="552451" cy="560388"/>
            </a:xfrm>
            <a:prstGeom prst="rect">
              <a:avLst/>
            </a:prstGeom>
            <a:noFill/>
            <a:ln w="9525">
              <a:noFill/>
              <a:miter lim="800000"/>
              <a:headEnd/>
              <a:tailEnd/>
            </a:ln>
          </p:spPr>
        </p:pic>
        <p:pic>
          <p:nvPicPr>
            <p:cNvPr id="10" name="Picture 9">
              <a:extLst>
                <a:ext uri="{FF2B5EF4-FFF2-40B4-BE49-F238E27FC236}">
                  <a16:creationId xmlns:a16="http://schemas.microsoft.com/office/drawing/2014/main" id="{A2BE1F68-FED1-8632-22D8-6C30350F188E}"/>
                </a:ext>
              </a:extLst>
            </p:cNvPr>
            <p:cNvPicPr>
              <a:picLocks noChangeAspect="1" noChangeArrowheads="1"/>
            </p:cNvPicPr>
            <p:nvPr/>
          </p:nvPicPr>
          <p:blipFill>
            <a:blip r:embed="rId6" cstate="print"/>
            <a:srcRect/>
            <a:stretch>
              <a:fillRect/>
            </a:stretch>
          </p:blipFill>
          <p:spPr bwMode="auto">
            <a:xfrm>
              <a:off x="9505944" y="1761447"/>
              <a:ext cx="552451" cy="552451"/>
            </a:xfrm>
            <a:prstGeom prst="rect">
              <a:avLst/>
            </a:prstGeom>
            <a:noFill/>
            <a:ln w="9525">
              <a:noFill/>
              <a:miter lim="800000"/>
              <a:headEnd/>
              <a:tailEnd/>
            </a:ln>
          </p:spPr>
        </p:pic>
        <p:pic>
          <p:nvPicPr>
            <p:cNvPr id="11" name="Picture 10">
              <a:extLst>
                <a:ext uri="{FF2B5EF4-FFF2-40B4-BE49-F238E27FC236}">
                  <a16:creationId xmlns:a16="http://schemas.microsoft.com/office/drawing/2014/main" id="{DC6EBFAD-C7CD-EC3C-9DFD-C9D7052AE222}"/>
                </a:ext>
              </a:extLst>
            </p:cNvPr>
            <p:cNvPicPr>
              <a:picLocks noChangeAspect="1" noChangeArrowheads="1"/>
            </p:cNvPicPr>
            <p:nvPr/>
          </p:nvPicPr>
          <p:blipFill>
            <a:blip r:embed="rId7" cstate="print"/>
            <a:srcRect/>
            <a:stretch>
              <a:fillRect/>
            </a:stretch>
          </p:blipFill>
          <p:spPr bwMode="auto">
            <a:xfrm>
              <a:off x="8812208" y="1761445"/>
              <a:ext cx="560387" cy="560388"/>
            </a:xfrm>
            <a:prstGeom prst="rect">
              <a:avLst/>
            </a:prstGeom>
            <a:noFill/>
            <a:ln w="9525">
              <a:noFill/>
              <a:miter lim="800000"/>
              <a:headEnd/>
              <a:tailEnd/>
            </a:ln>
          </p:spPr>
        </p:pic>
        <p:pic>
          <p:nvPicPr>
            <p:cNvPr id="12" name="Picture 11">
              <a:extLst>
                <a:ext uri="{FF2B5EF4-FFF2-40B4-BE49-F238E27FC236}">
                  <a16:creationId xmlns:a16="http://schemas.microsoft.com/office/drawing/2014/main" id="{3BE20075-BEAC-4DA3-AC4F-902448561A74}"/>
                </a:ext>
              </a:extLst>
            </p:cNvPr>
            <p:cNvPicPr>
              <a:picLocks noChangeAspect="1" noChangeArrowheads="1"/>
            </p:cNvPicPr>
            <p:nvPr/>
          </p:nvPicPr>
          <p:blipFill>
            <a:blip r:embed="rId8" cstate="print"/>
            <a:srcRect/>
            <a:stretch>
              <a:fillRect/>
            </a:stretch>
          </p:blipFill>
          <p:spPr bwMode="auto">
            <a:xfrm>
              <a:off x="6096000" y="1761445"/>
              <a:ext cx="544513" cy="560388"/>
            </a:xfrm>
            <a:prstGeom prst="rect">
              <a:avLst/>
            </a:prstGeom>
            <a:noFill/>
            <a:ln w="9525">
              <a:noFill/>
              <a:miter lim="800000"/>
              <a:headEnd/>
              <a:tailEnd/>
            </a:ln>
          </p:spPr>
        </p:pic>
      </p:grpSp>
      <p:sp>
        <p:nvSpPr>
          <p:cNvPr id="14" name="TextBox 13">
            <a:extLst>
              <a:ext uri="{FF2B5EF4-FFF2-40B4-BE49-F238E27FC236}">
                <a16:creationId xmlns:a16="http://schemas.microsoft.com/office/drawing/2014/main" id="{CE143570-30AF-D997-DE18-3BFC3179FCC0}"/>
              </a:ext>
            </a:extLst>
          </p:cNvPr>
          <p:cNvSpPr txBox="1"/>
          <p:nvPr/>
        </p:nvSpPr>
        <p:spPr>
          <a:xfrm>
            <a:off x="1087361" y="3378730"/>
            <a:ext cx="8171335" cy="738664"/>
          </a:xfrm>
          <a:prstGeom prst="rect">
            <a:avLst/>
          </a:prstGeom>
          <a:noFill/>
        </p:spPr>
        <p:txBody>
          <a:bodyPr wrap="square" rtlCol="0">
            <a:spAutoFit/>
          </a:bodyPr>
          <a:lstStyle/>
          <a:p>
            <a:r>
              <a:rPr lang="en-US" sz="2400" b="1" dirty="0"/>
              <a:t>A successor function (Actions, Costs)</a:t>
            </a:r>
          </a:p>
          <a:p>
            <a:pPr marL="457200" indent="-457200">
              <a:buFont typeface="Arial" panose="020B0604020202020204" pitchFamily="34" charset="0"/>
              <a:buChar char="•"/>
            </a:pPr>
            <a:r>
              <a:rPr lang="en-US" dirty="0"/>
              <a:t>Actions that lead to the goal.</a:t>
            </a:r>
          </a:p>
        </p:txBody>
      </p:sp>
      <p:grpSp>
        <p:nvGrpSpPr>
          <p:cNvPr id="22" name="Group 21">
            <a:extLst>
              <a:ext uri="{FF2B5EF4-FFF2-40B4-BE49-F238E27FC236}">
                <a16:creationId xmlns:a16="http://schemas.microsoft.com/office/drawing/2014/main" id="{F9404AAF-C633-A0CF-FF66-00DF89475804}"/>
              </a:ext>
            </a:extLst>
          </p:cNvPr>
          <p:cNvGrpSpPr/>
          <p:nvPr/>
        </p:nvGrpSpPr>
        <p:grpSpPr>
          <a:xfrm>
            <a:off x="7791839" y="3391124"/>
            <a:ext cx="1256498" cy="942113"/>
            <a:chOff x="7791839" y="3391124"/>
            <a:chExt cx="1256498" cy="942113"/>
          </a:xfrm>
        </p:grpSpPr>
        <p:pic>
          <p:nvPicPr>
            <p:cNvPr id="15" name="Picture 14">
              <a:extLst>
                <a:ext uri="{FF2B5EF4-FFF2-40B4-BE49-F238E27FC236}">
                  <a16:creationId xmlns:a16="http://schemas.microsoft.com/office/drawing/2014/main" id="{4D982B1E-13F3-915D-8A78-F2B956EBC1B9}"/>
                </a:ext>
              </a:extLst>
            </p:cNvPr>
            <p:cNvPicPr>
              <a:picLocks noChangeAspect="1" noChangeArrowheads="1"/>
            </p:cNvPicPr>
            <p:nvPr/>
          </p:nvPicPr>
          <p:blipFill>
            <a:blip r:embed="rId3" cstate="print"/>
            <a:srcRect/>
            <a:stretch>
              <a:fillRect/>
            </a:stretch>
          </p:blipFill>
          <p:spPr bwMode="auto">
            <a:xfrm>
              <a:off x="8143863" y="3772849"/>
              <a:ext cx="552451" cy="560388"/>
            </a:xfrm>
            <a:prstGeom prst="rect">
              <a:avLst/>
            </a:prstGeom>
            <a:noFill/>
            <a:ln w="9525">
              <a:noFill/>
              <a:miter lim="800000"/>
              <a:headEnd/>
              <a:tailEnd/>
            </a:ln>
          </p:spPr>
        </p:pic>
        <p:sp>
          <p:nvSpPr>
            <p:cNvPr id="17" name="TextBox 16">
              <a:extLst>
                <a:ext uri="{FF2B5EF4-FFF2-40B4-BE49-F238E27FC236}">
                  <a16:creationId xmlns:a16="http://schemas.microsoft.com/office/drawing/2014/main" id="{348AD7B9-8828-19F6-62FA-B6FAFB91FB11}"/>
                </a:ext>
              </a:extLst>
            </p:cNvPr>
            <p:cNvSpPr txBox="1"/>
            <p:nvPr/>
          </p:nvSpPr>
          <p:spPr>
            <a:xfrm>
              <a:off x="7791839" y="3391124"/>
              <a:ext cx="1256498" cy="369332"/>
            </a:xfrm>
            <a:prstGeom prst="rect">
              <a:avLst/>
            </a:prstGeom>
            <a:noFill/>
          </p:spPr>
          <p:txBody>
            <a:bodyPr wrap="none" rtlCol="0">
              <a:spAutoFit/>
            </a:bodyPr>
            <a:lstStyle/>
            <a:p>
              <a:r>
                <a:rPr lang="en-US" dirty="0"/>
                <a:t>Move Right</a:t>
              </a:r>
            </a:p>
          </p:txBody>
        </p:sp>
      </p:grpSp>
      <p:grpSp>
        <p:nvGrpSpPr>
          <p:cNvPr id="23" name="Group 22">
            <a:extLst>
              <a:ext uri="{FF2B5EF4-FFF2-40B4-BE49-F238E27FC236}">
                <a16:creationId xmlns:a16="http://schemas.microsoft.com/office/drawing/2014/main" id="{AFA39EEA-BA7B-1C24-7155-362910C17E93}"/>
              </a:ext>
            </a:extLst>
          </p:cNvPr>
          <p:cNvGrpSpPr/>
          <p:nvPr/>
        </p:nvGrpSpPr>
        <p:grpSpPr>
          <a:xfrm>
            <a:off x="9258696" y="3467868"/>
            <a:ext cx="1039002" cy="985180"/>
            <a:chOff x="9258696" y="3467868"/>
            <a:chExt cx="1039002" cy="985180"/>
          </a:xfrm>
        </p:grpSpPr>
        <p:pic>
          <p:nvPicPr>
            <p:cNvPr id="16" name="Picture 15">
              <a:extLst>
                <a:ext uri="{FF2B5EF4-FFF2-40B4-BE49-F238E27FC236}">
                  <a16:creationId xmlns:a16="http://schemas.microsoft.com/office/drawing/2014/main" id="{3CA23428-FD37-D7D9-EAC5-51BDAB6FDA12}"/>
                </a:ext>
              </a:extLst>
            </p:cNvPr>
            <p:cNvPicPr>
              <a:picLocks noChangeAspect="1" noChangeArrowheads="1"/>
            </p:cNvPicPr>
            <p:nvPr/>
          </p:nvPicPr>
          <p:blipFill>
            <a:blip r:embed="rId5" cstate="print"/>
            <a:srcRect/>
            <a:stretch>
              <a:fillRect/>
            </a:stretch>
          </p:blipFill>
          <p:spPr bwMode="auto">
            <a:xfrm>
              <a:off x="9501972" y="3467868"/>
              <a:ext cx="552451" cy="560388"/>
            </a:xfrm>
            <a:prstGeom prst="rect">
              <a:avLst/>
            </a:prstGeom>
            <a:noFill/>
            <a:ln w="9525">
              <a:noFill/>
              <a:miter lim="800000"/>
              <a:headEnd/>
              <a:tailEnd/>
            </a:ln>
          </p:spPr>
        </p:pic>
        <p:sp>
          <p:nvSpPr>
            <p:cNvPr id="18" name="TextBox 17">
              <a:extLst>
                <a:ext uri="{FF2B5EF4-FFF2-40B4-BE49-F238E27FC236}">
                  <a16:creationId xmlns:a16="http://schemas.microsoft.com/office/drawing/2014/main" id="{18B113A3-4FEE-B4D9-9419-0F39C0420322}"/>
                </a:ext>
              </a:extLst>
            </p:cNvPr>
            <p:cNvSpPr txBox="1"/>
            <p:nvPr/>
          </p:nvSpPr>
          <p:spPr>
            <a:xfrm>
              <a:off x="9258696" y="4083716"/>
              <a:ext cx="1039002" cy="369332"/>
            </a:xfrm>
            <a:prstGeom prst="rect">
              <a:avLst/>
            </a:prstGeom>
            <a:noFill/>
          </p:spPr>
          <p:txBody>
            <a:bodyPr wrap="none" rtlCol="0">
              <a:spAutoFit/>
            </a:bodyPr>
            <a:lstStyle/>
            <a:p>
              <a:r>
                <a:rPr lang="en-US" dirty="0"/>
                <a:t>Move UP</a:t>
              </a:r>
            </a:p>
          </p:txBody>
        </p:sp>
      </p:grpSp>
      <p:sp>
        <p:nvSpPr>
          <p:cNvPr id="19" name="TextBox 18">
            <a:extLst>
              <a:ext uri="{FF2B5EF4-FFF2-40B4-BE49-F238E27FC236}">
                <a16:creationId xmlns:a16="http://schemas.microsoft.com/office/drawing/2014/main" id="{A1BD3C90-9B5E-F731-358A-B7717B5A9CB9}"/>
              </a:ext>
            </a:extLst>
          </p:cNvPr>
          <p:cNvSpPr txBox="1"/>
          <p:nvPr/>
        </p:nvSpPr>
        <p:spPr>
          <a:xfrm>
            <a:off x="1142923" y="4409105"/>
            <a:ext cx="9714725" cy="664797"/>
          </a:xfrm>
          <a:prstGeom prst="rect">
            <a:avLst/>
          </a:prstGeom>
          <a:noFill/>
        </p:spPr>
        <p:txBody>
          <a:bodyPr wrap="square" rtlCol="0">
            <a:spAutoFit/>
          </a:bodyPr>
          <a:lstStyle/>
          <a:p>
            <a:pPr>
              <a:lnSpc>
                <a:spcPct val="80000"/>
              </a:lnSpc>
            </a:pPr>
            <a:r>
              <a:rPr lang="en-US" sz="2400" b="1" dirty="0"/>
              <a:t>A start state and a goal state(s)</a:t>
            </a:r>
          </a:p>
          <a:p>
            <a:pPr marL="457200" indent="-457200">
              <a:buFont typeface="Arial" panose="020B0604020202020204" pitchFamily="34" charset="0"/>
              <a:buChar char="•"/>
            </a:pPr>
            <a:r>
              <a:rPr lang="en-US" dirty="0"/>
              <a:t>Starting and ending of the problem</a:t>
            </a:r>
          </a:p>
        </p:txBody>
      </p:sp>
      <p:sp>
        <p:nvSpPr>
          <p:cNvPr id="20" name="TextBox 19">
            <a:extLst>
              <a:ext uri="{FF2B5EF4-FFF2-40B4-BE49-F238E27FC236}">
                <a16:creationId xmlns:a16="http://schemas.microsoft.com/office/drawing/2014/main" id="{1FE679D1-DF46-F534-A94F-1D70B236CF4D}"/>
              </a:ext>
            </a:extLst>
          </p:cNvPr>
          <p:cNvSpPr txBox="1"/>
          <p:nvPr/>
        </p:nvSpPr>
        <p:spPr>
          <a:xfrm>
            <a:off x="1142923" y="5411410"/>
            <a:ext cx="9714725" cy="690638"/>
          </a:xfrm>
          <a:prstGeom prst="rect">
            <a:avLst/>
          </a:prstGeom>
          <a:noFill/>
        </p:spPr>
        <p:txBody>
          <a:bodyPr wrap="square" rtlCol="0">
            <a:spAutoFit/>
          </a:bodyPr>
          <a:lstStyle/>
          <a:p>
            <a:pPr eaLnBrk="1" hangingPunct="1">
              <a:lnSpc>
                <a:spcPct val="80000"/>
              </a:lnSpc>
            </a:pPr>
            <a:r>
              <a:rPr lang="en-US" sz="2400" dirty="0"/>
              <a:t>A </a:t>
            </a:r>
            <a:r>
              <a:rPr lang="en-US" sz="2400" dirty="0">
                <a:solidFill>
                  <a:srgbClr val="FF0000"/>
                </a:solidFill>
              </a:rPr>
              <a:t>solution</a:t>
            </a:r>
            <a:r>
              <a:rPr lang="en-US" sz="2400" dirty="0"/>
              <a:t> is a sequence of actions (a plan) which transforms the start state to a goal state</a:t>
            </a:r>
          </a:p>
        </p:txBody>
      </p:sp>
    </p:spTree>
    <p:extLst>
      <p:ext uri="{BB962C8B-B14F-4D97-AF65-F5344CB8AC3E}">
        <p14:creationId xmlns:p14="http://schemas.microsoft.com/office/powerpoint/2010/main" val="2854844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arn(inVertical)">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down)">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down)">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4"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E2EB6-F23C-F0B5-1179-509EB2D5D0E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8034CD-FEC4-59BB-4090-BE08F8883ADD}"/>
              </a:ext>
            </a:extLst>
          </p:cNvPr>
          <p:cNvSpPr txBox="1"/>
          <p:nvPr/>
        </p:nvSpPr>
        <p:spPr>
          <a:xfrm>
            <a:off x="1070687" y="659248"/>
            <a:ext cx="10274561" cy="646331"/>
          </a:xfrm>
          <a:prstGeom prst="rect">
            <a:avLst/>
          </a:prstGeom>
          <a:noFill/>
        </p:spPr>
        <p:txBody>
          <a:bodyPr wrap="square" rtlCol="0">
            <a:spAutoFit/>
          </a:bodyPr>
          <a:lstStyle/>
          <a:p>
            <a:r>
              <a:rPr lang="en-US" sz="3600" b="1" kern="0" dirty="0">
                <a:latin typeface="Calibri" panose="020F0502020204030204" pitchFamily="34" charset="0"/>
                <a:cs typeface="Times New Roman" panose="02020603050405020304" pitchFamily="18" charset="0"/>
              </a:rPr>
              <a:t>What is in the search space/ state space?</a:t>
            </a:r>
            <a:endParaRPr lang="en-US" sz="6000" b="1" dirty="0"/>
          </a:p>
        </p:txBody>
      </p:sp>
      <p:sp>
        <p:nvSpPr>
          <p:cNvPr id="2" name="TextBox 1">
            <a:extLst>
              <a:ext uri="{FF2B5EF4-FFF2-40B4-BE49-F238E27FC236}">
                <a16:creationId xmlns:a16="http://schemas.microsoft.com/office/drawing/2014/main" id="{B010BE13-4138-2AA4-7C82-CF73BBB3EE54}"/>
              </a:ext>
            </a:extLst>
          </p:cNvPr>
          <p:cNvSpPr txBox="1"/>
          <p:nvPr/>
        </p:nvSpPr>
        <p:spPr>
          <a:xfrm>
            <a:off x="1070687" y="1413019"/>
            <a:ext cx="9714725" cy="461665"/>
          </a:xfrm>
          <a:prstGeom prst="rect">
            <a:avLst/>
          </a:prstGeom>
          <a:noFill/>
        </p:spPr>
        <p:txBody>
          <a:bodyPr wrap="square" rtlCol="0">
            <a:spAutoFit/>
          </a:bodyPr>
          <a:lstStyle/>
          <a:p>
            <a:r>
              <a:rPr lang="en-US" sz="2400" dirty="0">
                <a:latin typeface="Calibri" pitchFamily="34" charset="0"/>
              </a:rPr>
              <a:t>The </a:t>
            </a:r>
            <a:r>
              <a:rPr lang="en-US" sz="2400" dirty="0">
                <a:solidFill>
                  <a:srgbClr val="FF0000"/>
                </a:solidFill>
                <a:latin typeface="Calibri" pitchFamily="34" charset="0"/>
              </a:rPr>
              <a:t>world state</a:t>
            </a:r>
            <a:r>
              <a:rPr lang="en-US" sz="2400" dirty="0">
                <a:latin typeface="Calibri" pitchFamily="34" charset="0"/>
              </a:rPr>
              <a:t> includes every last detail of the environment</a:t>
            </a:r>
          </a:p>
        </p:txBody>
      </p:sp>
      <p:pic>
        <p:nvPicPr>
          <p:cNvPr id="1026" name="Picture 2" descr="Maze Vector Art, Icons, and Graphics for Free Download">
            <a:extLst>
              <a:ext uri="{FF2B5EF4-FFF2-40B4-BE49-F238E27FC236}">
                <a16:creationId xmlns:a16="http://schemas.microsoft.com/office/drawing/2014/main" id="{4851D2A8-BD73-0AE1-29DA-D4B055C76F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0150" y="1809756"/>
            <a:ext cx="2941453" cy="294145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D0B85B7-A870-F121-F1CF-5D80DCD1476F}"/>
              </a:ext>
            </a:extLst>
          </p:cNvPr>
          <p:cNvSpPr txBox="1"/>
          <p:nvPr/>
        </p:nvSpPr>
        <p:spPr>
          <a:xfrm>
            <a:off x="1204037" y="2066451"/>
            <a:ext cx="7749463" cy="830997"/>
          </a:xfrm>
          <a:prstGeom prst="rect">
            <a:avLst/>
          </a:prstGeom>
          <a:noFill/>
        </p:spPr>
        <p:txBody>
          <a:bodyPr wrap="square" rtlCol="0">
            <a:spAutoFit/>
          </a:bodyPr>
          <a:lstStyle/>
          <a:p>
            <a:r>
              <a:rPr lang="en-US" sz="2400" dirty="0">
                <a:latin typeface="Calibri" pitchFamily="34" charset="0"/>
              </a:rPr>
              <a:t>A </a:t>
            </a:r>
            <a:r>
              <a:rPr lang="en-US" sz="2400" dirty="0">
                <a:solidFill>
                  <a:srgbClr val="FF0000"/>
                </a:solidFill>
                <a:latin typeface="Calibri" pitchFamily="34" charset="0"/>
              </a:rPr>
              <a:t>search state</a:t>
            </a:r>
            <a:r>
              <a:rPr lang="en-US" sz="2400" dirty="0">
                <a:latin typeface="Calibri" pitchFamily="34" charset="0"/>
              </a:rPr>
              <a:t> keeps only the details needed for planning (abstraction)</a:t>
            </a:r>
          </a:p>
        </p:txBody>
      </p:sp>
      <p:sp>
        <p:nvSpPr>
          <p:cNvPr id="13" name="TextBox 12">
            <a:extLst>
              <a:ext uri="{FF2B5EF4-FFF2-40B4-BE49-F238E27FC236}">
                <a16:creationId xmlns:a16="http://schemas.microsoft.com/office/drawing/2014/main" id="{D0899D6A-3228-41B6-BBCD-E09BA54018EC}"/>
              </a:ext>
            </a:extLst>
          </p:cNvPr>
          <p:cNvSpPr txBox="1"/>
          <p:nvPr/>
        </p:nvSpPr>
        <p:spPr>
          <a:xfrm>
            <a:off x="1146888" y="3213807"/>
            <a:ext cx="4949112" cy="2000548"/>
          </a:xfrm>
          <a:prstGeom prst="rect">
            <a:avLst/>
          </a:prstGeom>
          <a:noFill/>
        </p:spPr>
        <p:txBody>
          <a:bodyPr wrap="square" rtlCol="0">
            <a:spAutoFit/>
          </a:bodyPr>
          <a:lstStyle/>
          <a:p>
            <a:r>
              <a:rPr lang="en-US" sz="2400" b="1" dirty="0">
                <a:latin typeface="Calibri" pitchFamily="34" charset="0"/>
              </a:rPr>
              <a:t>Problem</a:t>
            </a:r>
            <a:r>
              <a:rPr lang="en-US" sz="2400" dirty="0">
                <a:latin typeface="Calibri" pitchFamily="34" charset="0"/>
              </a:rPr>
              <a:t>:  Pathing</a:t>
            </a:r>
          </a:p>
          <a:p>
            <a:r>
              <a:rPr lang="en-US" sz="2000" dirty="0"/>
              <a:t>States: location/Position (X,Y)</a:t>
            </a:r>
          </a:p>
          <a:p>
            <a:r>
              <a:rPr lang="en-US" sz="2000" dirty="0"/>
              <a:t>Actions: NSEW/ UP, Left, Right, Down</a:t>
            </a:r>
          </a:p>
          <a:p>
            <a:r>
              <a:rPr lang="en-US" sz="2000" dirty="0"/>
              <a:t>Successor: update location</a:t>
            </a:r>
          </a:p>
          <a:p>
            <a:r>
              <a:rPr lang="en-US" sz="2000" dirty="0">
                <a:latin typeface="Calibri" pitchFamily="34" charset="0"/>
              </a:rPr>
              <a:t>Start State: is  (</a:t>
            </a:r>
            <a:r>
              <a:rPr lang="en-US" sz="2000" dirty="0" err="1">
                <a:latin typeface="Calibri" pitchFamily="34" charset="0"/>
              </a:rPr>
              <a:t>x,y</a:t>
            </a:r>
            <a:r>
              <a:rPr lang="en-US" sz="2000" dirty="0">
                <a:latin typeface="Calibri" pitchFamily="34" charset="0"/>
              </a:rPr>
              <a:t>) = START</a:t>
            </a:r>
            <a:endParaRPr lang="en-US" sz="2000" dirty="0"/>
          </a:p>
          <a:p>
            <a:r>
              <a:rPr lang="en-US" sz="2000" dirty="0"/>
              <a:t>Goal test: is (</a:t>
            </a:r>
            <a:r>
              <a:rPr lang="en-US" sz="2000" dirty="0" err="1"/>
              <a:t>x,y</a:t>
            </a:r>
            <a:r>
              <a:rPr lang="en-US" sz="2000" dirty="0"/>
              <a:t>)=END</a:t>
            </a:r>
          </a:p>
        </p:txBody>
      </p:sp>
    </p:spTree>
    <p:extLst>
      <p:ext uri="{BB962C8B-B14F-4D97-AF65-F5344CB8AC3E}">
        <p14:creationId xmlns:p14="http://schemas.microsoft.com/office/powerpoint/2010/main" val="63590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500"/>
                                        <p:tgtEl>
                                          <p:spTgt spid="10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225D0B-957E-C1DD-0D20-C1D49D36D941}"/>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33" name="Group 1032">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034" name="Freeform: Shape 1033">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7" name="Rectangle 1036">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Isosceles Triangle 1038">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9F67B22-0EB2-5C79-661F-8E7D755E20E0}"/>
              </a:ext>
            </a:extLst>
          </p:cNvPr>
          <p:cNvSpPr txBox="1"/>
          <p:nvPr/>
        </p:nvSpPr>
        <p:spPr>
          <a:xfrm>
            <a:off x="624523" y="540278"/>
            <a:ext cx="10480371" cy="659278"/>
          </a:xfrm>
          <a:prstGeom prst="rect">
            <a:avLst/>
          </a:prstGeom>
          <a:noFill/>
        </p:spPr>
        <p:txBody>
          <a:bodyPr wrap="square" rtlCol="0">
            <a:spAutoFit/>
          </a:bodyPr>
          <a:lstStyle/>
          <a:p>
            <a:pPr defTabSz="932688">
              <a:spcAft>
                <a:spcPts val="600"/>
              </a:spcAft>
            </a:pPr>
            <a:r>
              <a:rPr lang="en-US" sz="3672" b="1" kern="0" dirty="0">
                <a:solidFill>
                  <a:schemeClr val="tx1"/>
                </a:solidFill>
                <a:latin typeface="Calibri" panose="020F0502020204030204" pitchFamily="34" charset="0"/>
                <a:ea typeface="+mn-ea"/>
                <a:cs typeface="Times New Roman" panose="02020603050405020304" pitchFamily="18" charset="0"/>
              </a:rPr>
              <a:t>Search Algorithms Properties</a:t>
            </a:r>
            <a:endParaRPr lang="en-US" sz="6000" b="1" dirty="0"/>
          </a:p>
        </p:txBody>
      </p:sp>
      <p:sp>
        <p:nvSpPr>
          <p:cNvPr id="2" name="TextBox 1">
            <a:extLst>
              <a:ext uri="{FF2B5EF4-FFF2-40B4-BE49-F238E27FC236}">
                <a16:creationId xmlns:a16="http://schemas.microsoft.com/office/drawing/2014/main" id="{3F08EA55-C993-F3C4-14CE-6C351DB1D674}"/>
              </a:ext>
            </a:extLst>
          </p:cNvPr>
          <p:cNvSpPr txBox="1"/>
          <p:nvPr/>
        </p:nvSpPr>
        <p:spPr>
          <a:xfrm>
            <a:off x="624523" y="1350946"/>
            <a:ext cx="9909321" cy="469039"/>
          </a:xfrm>
          <a:prstGeom prst="rect">
            <a:avLst/>
          </a:prstGeom>
          <a:noFill/>
        </p:spPr>
        <p:txBody>
          <a:bodyPr wrap="square" rtlCol="0">
            <a:spAutoFit/>
          </a:bodyPr>
          <a:lstStyle/>
          <a:p>
            <a:pPr defTabSz="932688">
              <a:spcAft>
                <a:spcPts val="600"/>
              </a:spcAft>
            </a:pPr>
            <a:r>
              <a:rPr lang="en-US" sz="2448" b="1" kern="1200" dirty="0">
                <a:solidFill>
                  <a:schemeClr val="tx1"/>
                </a:solidFill>
                <a:latin typeface="Calibri" pitchFamily="34" charset="0"/>
                <a:ea typeface="+mn-ea"/>
                <a:cs typeface="+mn-cs"/>
              </a:rPr>
              <a:t>Complete</a:t>
            </a:r>
            <a:r>
              <a:rPr lang="en-US" sz="2448" kern="1200" dirty="0">
                <a:solidFill>
                  <a:schemeClr val="tx1"/>
                </a:solidFill>
                <a:latin typeface="Calibri" pitchFamily="34" charset="0"/>
                <a:ea typeface="+mn-ea"/>
                <a:cs typeface="+mn-cs"/>
              </a:rPr>
              <a:t>: </a:t>
            </a:r>
            <a:r>
              <a:rPr lang="en-US" sz="2400" dirty="0"/>
              <a:t>Guaranteed to find a solution if one exists?</a:t>
            </a:r>
          </a:p>
        </p:txBody>
      </p:sp>
      <p:pic>
        <p:nvPicPr>
          <p:cNvPr id="1026" name="Picture 2" descr="Maze Vector Art, Icons, and Graphics for Free Download">
            <a:extLst>
              <a:ext uri="{FF2B5EF4-FFF2-40B4-BE49-F238E27FC236}">
                <a16:creationId xmlns:a16="http://schemas.microsoft.com/office/drawing/2014/main" id="{7417ED84-FE8A-D397-AE81-3242E02EA9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2299" y="3668262"/>
            <a:ext cx="1850751" cy="185075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917AFA7-8F8F-A2E3-1C63-1FB4C9C393B2}"/>
              </a:ext>
            </a:extLst>
          </p:cNvPr>
          <p:cNvSpPr txBox="1"/>
          <p:nvPr/>
        </p:nvSpPr>
        <p:spPr>
          <a:xfrm>
            <a:off x="643467" y="1884887"/>
            <a:ext cx="9909321" cy="1222451"/>
          </a:xfrm>
          <a:prstGeom prst="rect">
            <a:avLst/>
          </a:prstGeom>
          <a:noFill/>
        </p:spPr>
        <p:txBody>
          <a:bodyPr wrap="square" rtlCol="0">
            <a:spAutoFit/>
          </a:bodyPr>
          <a:lstStyle/>
          <a:p>
            <a:pPr defTabSz="932688">
              <a:spcAft>
                <a:spcPts val="600"/>
              </a:spcAft>
            </a:pPr>
            <a:r>
              <a:rPr lang="en-US" sz="2448" b="1" dirty="0">
                <a:latin typeface="Calibri" pitchFamily="34" charset="0"/>
              </a:rPr>
              <a:t>Optimal</a:t>
            </a:r>
            <a:r>
              <a:rPr lang="en-US" sz="2448" dirty="0">
                <a:latin typeface="Calibri" pitchFamily="34" charset="0"/>
              </a:rPr>
              <a:t>: An optimal search algorithm finds the best possible solution, typically the one with the lowest cost or shortest path, among all possible solutions.</a:t>
            </a:r>
            <a:r>
              <a:rPr lang="en-US" sz="2400" dirty="0"/>
              <a:t>?</a:t>
            </a:r>
          </a:p>
        </p:txBody>
      </p:sp>
      <p:sp>
        <p:nvSpPr>
          <p:cNvPr id="6" name="TextBox 5">
            <a:extLst>
              <a:ext uri="{FF2B5EF4-FFF2-40B4-BE49-F238E27FC236}">
                <a16:creationId xmlns:a16="http://schemas.microsoft.com/office/drawing/2014/main" id="{581224E8-676B-45A0-FB0A-84FC401DEB43}"/>
              </a:ext>
            </a:extLst>
          </p:cNvPr>
          <p:cNvSpPr txBox="1"/>
          <p:nvPr/>
        </p:nvSpPr>
        <p:spPr>
          <a:xfrm>
            <a:off x="643467" y="3063591"/>
            <a:ext cx="9909321" cy="1222451"/>
          </a:xfrm>
          <a:prstGeom prst="rect">
            <a:avLst/>
          </a:prstGeom>
          <a:noFill/>
        </p:spPr>
        <p:txBody>
          <a:bodyPr wrap="square" rtlCol="0">
            <a:spAutoFit/>
          </a:bodyPr>
          <a:lstStyle/>
          <a:p>
            <a:pPr defTabSz="932688">
              <a:spcAft>
                <a:spcPts val="600"/>
              </a:spcAft>
            </a:pPr>
            <a:r>
              <a:rPr lang="en-US" sz="2448" b="1" dirty="0">
                <a:latin typeface="Calibri" pitchFamily="34" charset="0"/>
              </a:rPr>
              <a:t>Time Complexity: </a:t>
            </a:r>
            <a:r>
              <a:rPr lang="en-US" sz="2448" dirty="0">
                <a:latin typeface="Calibri" pitchFamily="34" charset="0"/>
              </a:rPr>
              <a:t>The amount of time it takes for the algorithm to find a solution. It is often expressed in terms of the number of nodes expanded during the search.</a:t>
            </a:r>
            <a:endParaRPr lang="en-US" sz="2400" dirty="0"/>
          </a:p>
        </p:txBody>
      </p:sp>
      <p:sp>
        <p:nvSpPr>
          <p:cNvPr id="7" name="TextBox 6">
            <a:extLst>
              <a:ext uri="{FF2B5EF4-FFF2-40B4-BE49-F238E27FC236}">
                <a16:creationId xmlns:a16="http://schemas.microsoft.com/office/drawing/2014/main" id="{3D35A995-DC97-F314-71C0-378845D45B12}"/>
              </a:ext>
            </a:extLst>
          </p:cNvPr>
          <p:cNvSpPr txBox="1"/>
          <p:nvPr/>
        </p:nvSpPr>
        <p:spPr>
          <a:xfrm>
            <a:off x="643467" y="4286043"/>
            <a:ext cx="9909321" cy="1207703"/>
          </a:xfrm>
          <a:prstGeom prst="rect">
            <a:avLst/>
          </a:prstGeom>
          <a:noFill/>
        </p:spPr>
        <p:txBody>
          <a:bodyPr wrap="square" rtlCol="0">
            <a:spAutoFit/>
          </a:bodyPr>
          <a:lstStyle/>
          <a:p>
            <a:pPr defTabSz="932688">
              <a:spcAft>
                <a:spcPts val="600"/>
              </a:spcAft>
            </a:pPr>
            <a:r>
              <a:rPr lang="en-US" sz="2448" b="1" dirty="0">
                <a:latin typeface="Calibri" pitchFamily="34" charset="0"/>
              </a:rPr>
              <a:t>Space Complexity: </a:t>
            </a:r>
            <a:r>
              <a:rPr lang="en-US" sz="2400" dirty="0">
                <a:latin typeface="Calibri" pitchFamily="34" charset="0"/>
              </a:rPr>
              <a:t>The amount of memory or storage space required by the algorithm to execute. It is often measured in terms of the maximum number of nodes stored in memory at any point during the search.</a:t>
            </a:r>
            <a:endParaRPr lang="en-US" sz="2400" dirty="0"/>
          </a:p>
        </p:txBody>
      </p:sp>
    </p:spTree>
    <p:extLst>
      <p:ext uri="{BB962C8B-B14F-4D97-AF65-F5344CB8AC3E}">
        <p14:creationId xmlns:p14="http://schemas.microsoft.com/office/powerpoint/2010/main" val="33158946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500"/>
                                        <p:tgtEl>
                                          <p:spTgt spid="10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F51582-C6E7-93D3-B129-02A6F190B8AD}"/>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90462791-F971-C1DC-F0BD-30179FE49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33" name="Group 1032">
            <a:extLst>
              <a:ext uri="{FF2B5EF4-FFF2-40B4-BE49-F238E27FC236}">
                <a16:creationId xmlns:a16="http://schemas.microsoft.com/office/drawing/2014/main" id="{B7985889-456E-655F-A496-5E8CACF055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034" name="Freeform: Shape 1033">
              <a:extLst>
                <a:ext uri="{FF2B5EF4-FFF2-40B4-BE49-F238E27FC236}">
                  <a16:creationId xmlns:a16="http://schemas.microsoft.com/office/drawing/2014/main" id="{A8632234-DD6D-C230-184B-C09C539B3B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42F0968F-D506-4D0B-52F9-F97D887AC5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7" name="Rectangle 1036">
            <a:extLst>
              <a:ext uri="{FF2B5EF4-FFF2-40B4-BE49-F238E27FC236}">
                <a16:creationId xmlns:a16="http://schemas.microsoft.com/office/drawing/2014/main" id="{4DDE597C-6F88-DD8B-DB0E-C79DED35DA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Isosceles Triangle 1038">
            <a:extLst>
              <a:ext uri="{FF2B5EF4-FFF2-40B4-BE49-F238E27FC236}">
                <a16:creationId xmlns:a16="http://schemas.microsoft.com/office/drawing/2014/main" id="{0086D512-0449-79FD-71A3-BCFF0DE57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730AE7C-DF8A-D6F8-06BC-5490F948B545}"/>
              </a:ext>
            </a:extLst>
          </p:cNvPr>
          <p:cNvSpPr txBox="1"/>
          <p:nvPr/>
        </p:nvSpPr>
        <p:spPr>
          <a:xfrm>
            <a:off x="542742" y="764361"/>
            <a:ext cx="10480371" cy="659278"/>
          </a:xfrm>
          <a:prstGeom prst="rect">
            <a:avLst/>
          </a:prstGeom>
          <a:noFill/>
        </p:spPr>
        <p:txBody>
          <a:bodyPr wrap="square" rtlCol="0">
            <a:spAutoFit/>
          </a:bodyPr>
          <a:lstStyle/>
          <a:p>
            <a:pPr defTabSz="932688">
              <a:spcAft>
                <a:spcPts val="600"/>
              </a:spcAft>
            </a:pPr>
            <a:r>
              <a:rPr lang="en-US" sz="3672" b="1" kern="0" dirty="0">
                <a:solidFill>
                  <a:schemeClr val="tx1"/>
                </a:solidFill>
                <a:latin typeface="Calibri" panose="020F0502020204030204" pitchFamily="34" charset="0"/>
                <a:ea typeface="+mn-ea"/>
                <a:cs typeface="Times New Roman" panose="02020603050405020304" pitchFamily="18" charset="0"/>
              </a:rPr>
              <a:t>Search Algorithms Properties</a:t>
            </a:r>
            <a:endParaRPr lang="en-US" sz="6000" b="1" dirty="0"/>
          </a:p>
        </p:txBody>
      </p:sp>
      <p:sp>
        <p:nvSpPr>
          <p:cNvPr id="2" name="TextBox 1">
            <a:extLst>
              <a:ext uri="{FF2B5EF4-FFF2-40B4-BE49-F238E27FC236}">
                <a16:creationId xmlns:a16="http://schemas.microsoft.com/office/drawing/2014/main" id="{035E7F41-EC33-15C0-9553-DB267074AA85}"/>
              </a:ext>
            </a:extLst>
          </p:cNvPr>
          <p:cNvSpPr txBox="1"/>
          <p:nvPr/>
        </p:nvSpPr>
        <p:spPr>
          <a:xfrm>
            <a:off x="631618" y="1822683"/>
            <a:ext cx="9909321" cy="1222451"/>
          </a:xfrm>
          <a:prstGeom prst="rect">
            <a:avLst/>
          </a:prstGeom>
          <a:noFill/>
        </p:spPr>
        <p:txBody>
          <a:bodyPr wrap="square" rtlCol="0">
            <a:spAutoFit/>
          </a:bodyPr>
          <a:lstStyle/>
          <a:p>
            <a:pPr defTabSz="932688">
              <a:spcAft>
                <a:spcPts val="600"/>
              </a:spcAft>
            </a:pPr>
            <a:r>
              <a:rPr lang="en-US" sz="2448" b="1" dirty="0">
                <a:latin typeface="Calibri" pitchFamily="34" charset="0"/>
              </a:rPr>
              <a:t>Admissibility: </a:t>
            </a:r>
            <a:r>
              <a:rPr lang="en-US" sz="2400" dirty="0">
                <a:latin typeface="Calibri" pitchFamily="34" charset="0"/>
              </a:rPr>
              <a:t>An admissible heuristic is one that never overestimates the cost to reach the goal. In informed search algorithms like A*, an admissible heuristic ensures that the algorithm finds the optimal solution.</a:t>
            </a:r>
            <a:endParaRPr lang="en-US" sz="2400" dirty="0"/>
          </a:p>
        </p:txBody>
      </p:sp>
      <p:pic>
        <p:nvPicPr>
          <p:cNvPr id="1026" name="Picture 2" descr="Maze Vector Art, Icons, and Graphics for Free Download">
            <a:extLst>
              <a:ext uri="{FF2B5EF4-FFF2-40B4-BE49-F238E27FC236}">
                <a16:creationId xmlns:a16="http://schemas.microsoft.com/office/drawing/2014/main" id="{808536C7-801F-B887-9FAC-46038C5E28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2299" y="3668262"/>
            <a:ext cx="1850751" cy="185075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7D89F35-C67F-F48B-4307-B4BD937C7861}"/>
              </a:ext>
            </a:extLst>
          </p:cNvPr>
          <p:cNvSpPr txBox="1"/>
          <p:nvPr/>
        </p:nvSpPr>
        <p:spPr>
          <a:xfrm>
            <a:off x="624523" y="3429000"/>
            <a:ext cx="9909321" cy="1577035"/>
          </a:xfrm>
          <a:prstGeom prst="rect">
            <a:avLst/>
          </a:prstGeom>
          <a:noFill/>
        </p:spPr>
        <p:txBody>
          <a:bodyPr wrap="square" rtlCol="0">
            <a:spAutoFit/>
          </a:bodyPr>
          <a:lstStyle/>
          <a:p>
            <a:pPr defTabSz="932688">
              <a:spcAft>
                <a:spcPts val="600"/>
              </a:spcAft>
            </a:pPr>
            <a:r>
              <a:rPr lang="en-US" sz="2448" b="1" dirty="0">
                <a:latin typeface="Calibri" pitchFamily="34" charset="0"/>
              </a:rPr>
              <a:t>Consistency (Monotonicity): </a:t>
            </a:r>
            <a:r>
              <a:rPr lang="en-US" sz="2400" dirty="0">
                <a:latin typeface="Calibri" pitchFamily="34" charset="0"/>
              </a:rPr>
              <a:t>A heuristic is consistent if it always gives a good estimate of how much it costs to get from a current point to the goal, even when moving to the next point. Consistency is important because it helps algorithms make reliable decisions when searching for solutions.</a:t>
            </a:r>
            <a:endParaRPr lang="en-US" sz="2400" dirty="0"/>
          </a:p>
        </p:txBody>
      </p:sp>
    </p:spTree>
    <p:extLst>
      <p:ext uri="{BB962C8B-B14F-4D97-AF65-F5344CB8AC3E}">
        <p14:creationId xmlns:p14="http://schemas.microsoft.com/office/powerpoint/2010/main" val="338684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500"/>
                                        <p:tgtEl>
                                          <p:spTgt spid="10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4513DB-3A32-C974-938A-8E70BF694DA3}"/>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D3B2E53D-59C2-F6CA-0729-BA14D5045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33" name="Group 1032">
            <a:extLst>
              <a:ext uri="{FF2B5EF4-FFF2-40B4-BE49-F238E27FC236}">
                <a16:creationId xmlns:a16="http://schemas.microsoft.com/office/drawing/2014/main" id="{D5A99451-6075-17A6-9927-83F1A8C394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034" name="Freeform: Shape 1033">
              <a:extLst>
                <a:ext uri="{FF2B5EF4-FFF2-40B4-BE49-F238E27FC236}">
                  <a16:creationId xmlns:a16="http://schemas.microsoft.com/office/drawing/2014/main" id="{FBB6020B-14ED-9D9B-5146-986768BA2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95BDCF02-583E-DF9B-C9D9-A51D0791B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7" name="Rectangle 1036">
            <a:extLst>
              <a:ext uri="{FF2B5EF4-FFF2-40B4-BE49-F238E27FC236}">
                <a16:creationId xmlns:a16="http://schemas.microsoft.com/office/drawing/2014/main" id="{39BE1F3F-C1B1-0BFD-C748-579B21D20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Isosceles Triangle 1038">
            <a:extLst>
              <a:ext uri="{FF2B5EF4-FFF2-40B4-BE49-F238E27FC236}">
                <a16:creationId xmlns:a16="http://schemas.microsoft.com/office/drawing/2014/main" id="{EE539B33-F797-5C12-19CA-DC4AFE66E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D992FE7-5506-EF50-1DB5-433E5F56E2CE}"/>
              </a:ext>
            </a:extLst>
          </p:cNvPr>
          <p:cNvSpPr txBox="1"/>
          <p:nvPr/>
        </p:nvSpPr>
        <p:spPr>
          <a:xfrm>
            <a:off x="542742" y="764361"/>
            <a:ext cx="10480371" cy="659278"/>
          </a:xfrm>
          <a:prstGeom prst="rect">
            <a:avLst/>
          </a:prstGeom>
          <a:noFill/>
        </p:spPr>
        <p:txBody>
          <a:bodyPr wrap="square" rtlCol="0">
            <a:spAutoFit/>
          </a:bodyPr>
          <a:lstStyle/>
          <a:p>
            <a:pPr defTabSz="932688">
              <a:spcAft>
                <a:spcPts val="600"/>
              </a:spcAft>
            </a:pPr>
            <a:r>
              <a:rPr lang="en-US" sz="3672" b="1" kern="0" dirty="0">
                <a:solidFill>
                  <a:schemeClr val="tx1"/>
                </a:solidFill>
                <a:latin typeface="Calibri" panose="020F0502020204030204" pitchFamily="34" charset="0"/>
                <a:ea typeface="+mn-ea"/>
                <a:cs typeface="Times New Roman" panose="02020603050405020304" pitchFamily="18" charset="0"/>
              </a:rPr>
              <a:t>Search Algorithms Properties</a:t>
            </a:r>
            <a:endParaRPr lang="en-US" sz="6000" b="1" dirty="0"/>
          </a:p>
        </p:txBody>
      </p:sp>
      <p:sp>
        <p:nvSpPr>
          <p:cNvPr id="2" name="TextBox 1">
            <a:extLst>
              <a:ext uri="{FF2B5EF4-FFF2-40B4-BE49-F238E27FC236}">
                <a16:creationId xmlns:a16="http://schemas.microsoft.com/office/drawing/2014/main" id="{F54A9AD8-4D05-1F9B-2AFC-439E41D9DF2F}"/>
              </a:ext>
            </a:extLst>
          </p:cNvPr>
          <p:cNvSpPr txBox="1"/>
          <p:nvPr/>
        </p:nvSpPr>
        <p:spPr>
          <a:xfrm>
            <a:off x="597925" y="1773570"/>
            <a:ext cx="9909321" cy="2677656"/>
          </a:xfrm>
          <a:prstGeom prst="rect">
            <a:avLst/>
          </a:prstGeom>
          <a:noFill/>
        </p:spPr>
        <p:txBody>
          <a:bodyPr wrap="square" rtlCol="0">
            <a:spAutoFit/>
          </a:bodyPr>
          <a:lstStyle/>
          <a:p>
            <a:r>
              <a:rPr lang="en-US" sz="2400" dirty="0"/>
              <a:t>Cartoon of search tree:</a:t>
            </a:r>
          </a:p>
          <a:p>
            <a:pPr marL="800100" lvl="1" indent="-342900">
              <a:buFont typeface="Wingdings" panose="05000000000000000000" pitchFamily="2" charset="2"/>
              <a:buChar char="§"/>
            </a:pPr>
            <a:r>
              <a:rPr lang="en-US" sz="2000" dirty="0"/>
              <a:t>b is the branching factor</a:t>
            </a:r>
          </a:p>
          <a:p>
            <a:pPr marL="800100" lvl="1" indent="-342900">
              <a:buFont typeface="Wingdings" panose="05000000000000000000" pitchFamily="2" charset="2"/>
              <a:buChar char="§"/>
            </a:pPr>
            <a:r>
              <a:rPr lang="en-US" sz="2000" dirty="0"/>
              <a:t>m is the maximum depth</a:t>
            </a:r>
          </a:p>
          <a:p>
            <a:pPr marL="800100" lvl="1" indent="-342900">
              <a:buFont typeface="Wingdings" panose="05000000000000000000" pitchFamily="2" charset="2"/>
              <a:buChar char="§"/>
            </a:pPr>
            <a:r>
              <a:rPr lang="en-US" sz="2000" dirty="0"/>
              <a:t>solutions at various depths</a:t>
            </a:r>
          </a:p>
          <a:p>
            <a:pPr marL="800100" lvl="1" indent="-342900">
              <a:buFont typeface="Wingdings" panose="05000000000000000000" pitchFamily="2" charset="2"/>
              <a:buChar char="§"/>
            </a:pPr>
            <a:endParaRPr lang="en-US" sz="2000" dirty="0"/>
          </a:p>
          <a:p>
            <a:pPr marL="800100" lvl="1" indent="-342900">
              <a:buFont typeface="Wingdings" panose="05000000000000000000" pitchFamily="2" charset="2"/>
              <a:buChar char="§"/>
            </a:pPr>
            <a:endParaRPr lang="en-US" sz="2000" dirty="0"/>
          </a:p>
          <a:p>
            <a:r>
              <a:rPr lang="en-US" sz="2400" dirty="0"/>
              <a:t>Number of nodes in entire tree?</a:t>
            </a:r>
          </a:p>
          <a:p>
            <a:pPr lvl="1"/>
            <a:r>
              <a:rPr lang="en-US" sz="2000" dirty="0"/>
              <a:t>1 + b + b</a:t>
            </a:r>
            <a:r>
              <a:rPr lang="en-US" sz="2000" baseline="30000" dirty="0"/>
              <a:t>2</a:t>
            </a:r>
            <a:r>
              <a:rPr lang="en-US" sz="2000" dirty="0"/>
              <a:t> + …. b</a:t>
            </a:r>
            <a:r>
              <a:rPr lang="en-US" sz="2000" baseline="30000" dirty="0"/>
              <a:t>m</a:t>
            </a:r>
            <a:r>
              <a:rPr lang="en-US" sz="2000" dirty="0"/>
              <a:t> = O(b</a:t>
            </a:r>
            <a:r>
              <a:rPr lang="en-US" sz="2000" baseline="30000" dirty="0"/>
              <a:t>m</a:t>
            </a:r>
            <a:r>
              <a:rPr lang="en-US" sz="2000" dirty="0"/>
              <a:t>)</a:t>
            </a:r>
          </a:p>
        </p:txBody>
      </p:sp>
      <p:sp>
        <p:nvSpPr>
          <p:cNvPr id="5" name="Text Box 37">
            <a:extLst>
              <a:ext uri="{FF2B5EF4-FFF2-40B4-BE49-F238E27FC236}">
                <a16:creationId xmlns:a16="http://schemas.microsoft.com/office/drawing/2014/main" id="{2E44392A-008B-ECC6-0B02-8705B14FFB25}"/>
              </a:ext>
            </a:extLst>
          </p:cNvPr>
          <p:cNvSpPr txBox="1">
            <a:spLocks noChangeArrowheads="1"/>
          </p:cNvSpPr>
          <p:nvPr/>
        </p:nvSpPr>
        <p:spPr bwMode="auto">
          <a:xfrm>
            <a:off x="9801225" y="2574926"/>
            <a:ext cx="1119187" cy="369328"/>
          </a:xfrm>
          <a:prstGeom prst="rect">
            <a:avLst/>
          </a:prstGeom>
          <a:noFill/>
          <a:ln w="9525">
            <a:noFill/>
            <a:miter lim="800000"/>
            <a:headEnd/>
            <a:tailEnd/>
          </a:ln>
        </p:spPr>
        <p:txBody>
          <a:bodyPr lIns="91436" tIns="45718" rIns="91436" bIns="45718">
            <a:spAutoFit/>
          </a:bodyPr>
          <a:lstStyle/>
          <a:p>
            <a:pPr>
              <a:spcBef>
                <a:spcPct val="50000"/>
              </a:spcBef>
            </a:pPr>
            <a:r>
              <a:rPr lang="en-US" dirty="0"/>
              <a:t>1 node</a:t>
            </a:r>
          </a:p>
        </p:txBody>
      </p:sp>
      <p:sp>
        <p:nvSpPr>
          <p:cNvPr id="6" name="Text Box 38">
            <a:extLst>
              <a:ext uri="{FF2B5EF4-FFF2-40B4-BE49-F238E27FC236}">
                <a16:creationId xmlns:a16="http://schemas.microsoft.com/office/drawing/2014/main" id="{7913A683-72DE-F9F9-6BFF-DCD6D080135D}"/>
              </a:ext>
            </a:extLst>
          </p:cNvPr>
          <p:cNvSpPr txBox="1">
            <a:spLocks noChangeArrowheads="1"/>
          </p:cNvSpPr>
          <p:nvPr/>
        </p:nvSpPr>
        <p:spPr bwMode="auto">
          <a:xfrm>
            <a:off x="9802814" y="2928937"/>
            <a:ext cx="1119188" cy="369328"/>
          </a:xfrm>
          <a:prstGeom prst="rect">
            <a:avLst/>
          </a:prstGeom>
          <a:noFill/>
          <a:ln w="9525">
            <a:noFill/>
            <a:miter lim="800000"/>
            <a:headEnd/>
            <a:tailEnd/>
          </a:ln>
        </p:spPr>
        <p:txBody>
          <a:bodyPr lIns="91436" tIns="45718" rIns="91436" bIns="45718">
            <a:spAutoFit/>
          </a:bodyPr>
          <a:lstStyle/>
          <a:p>
            <a:pPr>
              <a:spcBef>
                <a:spcPct val="50000"/>
              </a:spcBef>
            </a:pPr>
            <a:r>
              <a:rPr lang="en-US" dirty="0"/>
              <a:t>b nodes</a:t>
            </a:r>
          </a:p>
        </p:txBody>
      </p:sp>
      <p:sp>
        <p:nvSpPr>
          <p:cNvPr id="7" name="Text Box 39">
            <a:extLst>
              <a:ext uri="{FF2B5EF4-FFF2-40B4-BE49-F238E27FC236}">
                <a16:creationId xmlns:a16="http://schemas.microsoft.com/office/drawing/2014/main" id="{3F23CECB-529B-AA81-C491-E509727E1B5F}"/>
              </a:ext>
            </a:extLst>
          </p:cNvPr>
          <p:cNvSpPr txBox="1">
            <a:spLocks noChangeArrowheads="1"/>
          </p:cNvSpPr>
          <p:nvPr/>
        </p:nvSpPr>
        <p:spPr bwMode="auto">
          <a:xfrm>
            <a:off x="9802814" y="3340100"/>
            <a:ext cx="1119188" cy="369328"/>
          </a:xfrm>
          <a:prstGeom prst="rect">
            <a:avLst/>
          </a:prstGeom>
          <a:noFill/>
          <a:ln w="9525">
            <a:noFill/>
            <a:miter lim="800000"/>
            <a:headEnd/>
            <a:tailEnd/>
          </a:ln>
        </p:spPr>
        <p:txBody>
          <a:bodyPr lIns="91436" tIns="45718" rIns="91436" bIns="45718">
            <a:spAutoFit/>
          </a:bodyPr>
          <a:lstStyle/>
          <a:p>
            <a:pPr>
              <a:spcBef>
                <a:spcPct val="50000"/>
              </a:spcBef>
            </a:pPr>
            <a:r>
              <a:rPr lang="en-US" dirty="0"/>
              <a:t>b</a:t>
            </a:r>
            <a:r>
              <a:rPr lang="en-US" baseline="30000" dirty="0"/>
              <a:t>2</a:t>
            </a:r>
            <a:r>
              <a:rPr lang="en-US" dirty="0"/>
              <a:t> nodes</a:t>
            </a:r>
          </a:p>
        </p:txBody>
      </p:sp>
      <p:sp>
        <p:nvSpPr>
          <p:cNvPr id="8" name="Text Box 40">
            <a:extLst>
              <a:ext uri="{FF2B5EF4-FFF2-40B4-BE49-F238E27FC236}">
                <a16:creationId xmlns:a16="http://schemas.microsoft.com/office/drawing/2014/main" id="{259C632F-CE03-C4A2-6ECD-159FC23A71FA}"/>
              </a:ext>
            </a:extLst>
          </p:cNvPr>
          <p:cNvSpPr txBox="1">
            <a:spLocks noChangeArrowheads="1"/>
          </p:cNvSpPr>
          <p:nvPr/>
        </p:nvSpPr>
        <p:spPr bwMode="auto">
          <a:xfrm>
            <a:off x="9817102" y="4965702"/>
            <a:ext cx="1460500" cy="369328"/>
          </a:xfrm>
          <a:prstGeom prst="rect">
            <a:avLst/>
          </a:prstGeom>
          <a:noFill/>
          <a:ln w="9525">
            <a:noFill/>
            <a:miter lim="800000"/>
            <a:headEnd/>
            <a:tailEnd/>
          </a:ln>
        </p:spPr>
        <p:txBody>
          <a:bodyPr lIns="91436" tIns="45718" rIns="91436" bIns="45718">
            <a:spAutoFit/>
          </a:bodyPr>
          <a:lstStyle/>
          <a:p>
            <a:pPr>
              <a:spcBef>
                <a:spcPct val="50000"/>
              </a:spcBef>
            </a:pPr>
            <a:r>
              <a:rPr lang="en-US" dirty="0" err="1"/>
              <a:t>b</a:t>
            </a:r>
            <a:r>
              <a:rPr lang="en-US" baseline="30000" dirty="0" err="1"/>
              <a:t>m</a:t>
            </a:r>
            <a:r>
              <a:rPr lang="en-US" dirty="0"/>
              <a:t> nodes</a:t>
            </a:r>
          </a:p>
        </p:txBody>
      </p:sp>
      <p:sp>
        <p:nvSpPr>
          <p:cNvPr id="13" name="Freeform 30">
            <a:extLst>
              <a:ext uri="{FF2B5EF4-FFF2-40B4-BE49-F238E27FC236}">
                <a16:creationId xmlns:a16="http://schemas.microsoft.com/office/drawing/2014/main" id="{A5A4595F-BF2E-E255-02C5-D6ED51947E01}"/>
              </a:ext>
            </a:extLst>
          </p:cNvPr>
          <p:cNvSpPr>
            <a:spLocks/>
          </p:cNvSpPr>
          <p:nvPr/>
        </p:nvSpPr>
        <p:spPr bwMode="auto">
          <a:xfrm>
            <a:off x="6870282" y="2596079"/>
            <a:ext cx="2927351" cy="2554287"/>
          </a:xfrm>
          <a:custGeom>
            <a:avLst/>
            <a:gdLst>
              <a:gd name="T0" fmla="*/ 0 w 1844"/>
              <a:gd name="T1" fmla="*/ 2147483647 h 1609"/>
              <a:gd name="T2" fmla="*/ 2147483647 w 1844"/>
              <a:gd name="T3" fmla="*/ 2147483647 h 1609"/>
              <a:gd name="T4" fmla="*/ 2147483647 w 1844"/>
              <a:gd name="T5" fmla="*/ 0 h 1609"/>
              <a:gd name="T6" fmla="*/ 0 w 1844"/>
              <a:gd name="T7" fmla="*/ 2147483647 h 1609"/>
              <a:gd name="T8" fmla="*/ 0 60000 65536"/>
              <a:gd name="T9" fmla="*/ 0 60000 65536"/>
              <a:gd name="T10" fmla="*/ 0 60000 65536"/>
              <a:gd name="T11" fmla="*/ 0 60000 65536"/>
              <a:gd name="T12" fmla="*/ 0 w 1844"/>
              <a:gd name="T13" fmla="*/ 0 h 1609"/>
              <a:gd name="T14" fmla="*/ 1844 w 1844"/>
              <a:gd name="T15" fmla="*/ 1609 h 1609"/>
            </a:gdLst>
            <a:ahLst/>
            <a:cxnLst>
              <a:cxn ang="T8">
                <a:pos x="T0" y="T1"/>
              </a:cxn>
              <a:cxn ang="T9">
                <a:pos x="T2" y="T3"/>
              </a:cxn>
              <a:cxn ang="T10">
                <a:pos x="T4" y="T5"/>
              </a:cxn>
              <a:cxn ang="T11">
                <a:pos x="T6" y="T7"/>
              </a:cxn>
            </a:cxnLst>
            <a:rect l="T12" t="T13" r="T14" b="T15"/>
            <a:pathLst>
              <a:path w="1844" h="1609">
                <a:moveTo>
                  <a:pt x="0" y="1609"/>
                </a:moveTo>
                <a:lnTo>
                  <a:pt x="1844" y="1609"/>
                </a:lnTo>
                <a:lnTo>
                  <a:pt x="915" y="0"/>
                </a:lnTo>
                <a:lnTo>
                  <a:pt x="0" y="1609"/>
                </a:lnTo>
                <a:close/>
              </a:path>
            </a:pathLst>
          </a:custGeom>
          <a:noFill/>
          <a:ln w="9525">
            <a:solidFill>
              <a:schemeClr val="tx1"/>
            </a:solidFill>
            <a:round/>
            <a:headEnd/>
            <a:tailEnd/>
          </a:ln>
        </p:spPr>
        <p:txBody>
          <a:bodyPr lIns="91436" tIns="45718" rIns="91436" bIns="45718"/>
          <a:lstStyle/>
          <a:p>
            <a:endParaRPr lang="en-US" dirty="0"/>
          </a:p>
        </p:txBody>
      </p:sp>
      <p:sp>
        <p:nvSpPr>
          <p:cNvPr id="14" name="AutoShape 45">
            <a:extLst>
              <a:ext uri="{FF2B5EF4-FFF2-40B4-BE49-F238E27FC236}">
                <a16:creationId xmlns:a16="http://schemas.microsoft.com/office/drawing/2014/main" id="{318F89AD-414E-D649-5F19-218797E6A9D7}"/>
              </a:ext>
            </a:extLst>
          </p:cNvPr>
          <p:cNvSpPr>
            <a:spLocks/>
          </p:cNvSpPr>
          <p:nvPr/>
        </p:nvSpPr>
        <p:spPr bwMode="auto">
          <a:xfrm>
            <a:off x="6509793" y="2338903"/>
            <a:ext cx="265112" cy="2811463"/>
          </a:xfrm>
          <a:prstGeom prst="leftBrace">
            <a:avLst>
              <a:gd name="adj1" fmla="val 88373"/>
              <a:gd name="adj2" fmla="val 50000"/>
            </a:avLst>
          </a:prstGeom>
          <a:noFill/>
          <a:ln w="9525">
            <a:solidFill>
              <a:schemeClr val="tx1"/>
            </a:solidFill>
            <a:round/>
            <a:headEnd/>
            <a:tailEnd/>
          </a:ln>
        </p:spPr>
        <p:txBody>
          <a:bodyPr wrap="none" lIns="91436" tIns="45718" rIns="91436" bIns="45718" anchor="ctr"/>
          <a:lstStyle/>
          <a:p>
            <a:endParaRPr lang="en-US"/>
          </a:p>
        </p:txBody>
      </p:sp>
      <p:sp>
        <p:nvSpPr>
          <p:cNvPr id="15" name="Text Box 46">
            <a:extLst>
              <a:ext uri="{FF2B5EF4-FFF2-40B4-BE49-F238E27FC236}">
                <a16:creationId xmlns:a16="http://schemas.microsoft.com/office/drawing/2014/main" id="{572BC25E-2ECC-E2C7-8048-AAA9DB05924D}"/>
              </a:ext>
            </a:extLst>
          </p:cNvPr>
          <p:cNvSpPr txBox="1">
            <a:spLocks noChangeArrowheads="1"/>
          </p:cNvSpPr>
          <p:nvPr/>
        </p:nvSpPr>
        <p:spPr bwMode="auto">
          <a:xfrm>
            <a:off x="5439818" y="3550165"/>
            <a:ext cx="1265237" cy="369328"/>
          </a:xfrm>
          <a:prstGeom prst="rect">
            <a:avLst/>
          </a:prstGeom>
          <a:noFill/>
          <a:ln w="9525">
            <a:noFill/>
            <a:miter lim="800000"/>
            <a:headEnd/>
            <a:tailEnd/>
          </a:ln>
        </p:spPr>
        <p:txBody>
          <a:bodyPr lIns="91436" tIns="45718" rIns="91436" bIns="45718">
            <a:spAutoFit/>
          </a:bodyPr>
          <a:lstStyle/>
          <a:p>
            <a:pPr>
              <a:spcBef>
                <a:spcPct val="50000"/>
              </a:spcBef>
            </a:pPr>
            <a:r>
              <a:rPr lang="en-US" dirty="0"/>
              <a:t>m tiers</a:t>
            </a:r>
          </a:p>
        </p:txBody>
      </p:sp>
      <p:sp>
        <p:nvSpPr>
          <p:cNvPr id="16" name="Oval 33">
            <a:extLst>
              <a:ext uri="{FF2B5EF4-FFF2-40B4-BE49-F238E27FC236}">
                <a16:creationId xmlns:a16="http://schemas.microsoft.com/office/drawing/2014/main" id="{A6F8A3B0-8FC6-8451-798A-2CFF222E98C6}"/>
              </a:ext>
            </a:extLst>
          </p:cNvPr>
          <p:cNvSpPr>
            <a:spLocks noChangeArrowheads="1"/>
          </p:cNvSpPr>
          <p:nvPr/>
        </p:nvSpPr>
        <p:spPr bwMode="auto">
          <a:xfrm>
            <a:off x="8255103" y="2525523"/>
            <a:ext cx="179388" cy="179387"/>
          </a:xfrm>
          <a:prstGeom prst="ellipse">
            <a:avLst/>
          </a:prstGeom>
          <a:solidFill>
            <a:schemeClr val="accent1"/>
          </a:solidFill>
          <a:ln w="9525">
            <a:solidFill>
              <a:schemeClr val="tx1"/>
            </a:solidFill>
            <a:round/>
            <a:headEnd/>
            <a:tailEnd/>
          </a:ln>
        </p:spPr>
        <p:txBody>
          <a:bodyPr wrap="none" lIns="91436" tIns="45718" rIns="91436" bIns="45718" anchor="ctr"/>
          <a:lstStyle/>
          <a:p>
            <a:endParaRPr lang="en-US"/>
          </a:p>
        </p:txBody>
      </p:sp>
      <p:sp>
        <p:nvSpPr>
          <p:cNvPr id="17" name="Freeform 35">
            <a:extLst>
              <a:ext uri="{FF2B5EF4-FFF2-40B4-BE49-F238E27FC236}">
                <a16:creationId xmlns:a16="http://schemas.microsoft.com/office/drawing/2014/main" id="{B0161C7F-737B-4F76-96E5-B5DD8EFAF018}"/>
              </a:ext>
            </a:extLst>
          </p:cNvPr>
          <p:cNvSpPr>
            <a:spLocks/>
          </p:cNvSpPr>
          <p:nvPr/>
        </p:nvSpPr>
        <p:spPr bwMode="auto">
          <a:xfrm>
            <a:off x="8085137" y="2798387"/>
            <a:ext cx="444500" cy="88900"/>
          </a:xfrm>
          <a:custGeom>
            <a:avLst/>
            <a:gdLst>
              <a:gd name="T0" fmla="*/ 0 w 280"/>
              <a:gd name="T1" fmla="*/ 2147483647 h 56"/>
              <a:gd name="T2" fmla="*/ 2147483647 w 280"/>
              <a:gd name="T3" fmla="*/ 2147483647 h 56"/>
              <a:gd name="T4" fmla="*/ 2147483647 w 280"/>
              <a:gd name="T5" fmla="*/ 0 h 56"/>
              <a:gd name="T6" fmla="*/ 0 60000 65536"/>
              <a:gd name="T7" fmla="*/ 0 60000 65536"/>
              <a:gd name="T8" fmla="*/ 0 60000 65536"/>
              <a:gd name="T9" fmla="*/ 0 w 280"/>
              <a:gd name="T10" fmla="*/ 0 h 56"/>
              <a:gd name="T11" fmla="*/ 280 w 280"/>
              <a:gd name="T12" fmla="*/ 56 h 56"/>
            </a:gdLst>
            <a:ahLst/>
            <a:cxnLst>
              <a:cxn ang="T6">
                <a:pos x="T0" y="T1"/>
              </a:cxn>
              <a:cxn ang="T7">
                <a:pos x="T2" y="T3"/>
              </a:cxn>
              <a:cxn ang="T8">
                <a:pos x="T4" y="T5"/>
              </a:cxn>
            </a:cxnLst>
            <a:rect l="T9" t="T10" r="T11" b="T12"/>
            <a:pathLst>
              <a:path w="280" h="56">
                <a:moveTo>
                  <a:pt x="0" y="11"/>
                </a:moveTo>
                <a:cubicBezTo>
                  <a:pt x="52" y="33"/>
                  <a:pt x="104" y="56"/>
                  <a:pt x="151" y="54"/>
                </a:cubicBezTo>
                <a:cubicBezTo>
                  <a:pt x="198" y="52"/>
                  <a:pt x="239" y="26"/>
                  <a:pt x="280" y="0"/>
                </a:cubicBezTo>
              </a:path>
            </a:pathLst>
          </a:custGeom>
          <a:noFill/>
          <a:ln w="9525">
            <a:solidFill>
              <a:schemeClr val="tx1"/>
            </a:solidFill>
            <a:round/>
            <a:headEnd/>
            <a:tailEnd type="triangle" w="sm" len="sm"/>
          </a:ln>
        </p:spPr>
        <p:txBody>
          <a:bodyPr lIns="91436" tIns="45718" rIns="91436" bIns="45718"/>
          <a:lstStyle/>
          <a:p>
            <a:endParaRPr lang="en-US"/>
          </a:p>
        </p:txBody>
      </p:sp>
      <p:sp>
        <p:nvSpPr>
          <p:cNvPr id="18" name="Oval 33">
            <a:extLst>
              <a:ext uri="{FF2B5EF4-FFF2-40B4-BE49-F238E27FC236}">
                <a16:creationId xmlns:a16="http://schemas.microsoft.com/office/drawing/2014/main" id="{46130ECA-6AEE-F76C-A835-6CF4B0A813B0}"/>
              </a:ext>
            </a:extLst>
          </p:cNvPr>
          <p:cNvSpPr>
            <a:spLocks noChangeArrowheads="1"/>
          </p:cNvSpPr>
          <p:nvPr/>
        </p:nvSpPr>
        <p:spPr bwMode="auto">
          <a:xfrm>
            <a:off x="8574674" y="3049734"/>
            <a:ext cx="179388" cy="179387"/>
          </a:xfrm>
          <a:prstGeom prst="ellipse">
            <a:avLst/>
          </a:prstGeom>
          <a:solidFill>
            <a:schemeClr val="accent1"/>
          </a:solidFill>
          <a:ln w="9525">
            <a:solidFill>
              <a:schemeClr val="tx1"/>
            </a:solidFill>
            <a:round/>
            <a:headEnd/>
            <a:tailEnd/>
          </a:ln>
        </p:spPr>
        <p:txBody>
          <a:bodyPr wrap="none" lIns="91436" tIns="45718" rIns="91436" bIns="45718" anchor="ctr"/>
          <a:lstStyle/>
          <a:p>
            <a:endParaRPr lang="en-US" dirty="0"/>
          </a:p>
        </p:txBody>
      </p:sp>
      <p:sp>
        <p:nvSpPr>
          <p:cNvPr id="19" name="Oval 33">
            <a:extLst>
              <a:ext uri="{FF2B5EF4-FFF2-40B4-BE49-F238E27FC236}">
                <a16:creationId xmlns:a16="http://schemas.microsoft.com/office/drawing/2014/main" id="{8C5E1BB7-2ED2-29FB-A725-27046F701E50}"/>
              </a:ext>
            </a:extLst>
          </p:cNvPr>
          <p:cNvSpPr>
            <a:spLocks noChangeArrowheads="1"/>
          </p:cNvSpPr>
          <p:nvPr/>
        </p:nvSpPr>
        <p:spPr bwMode="auto">
          <a:xfrm>
            <a:off x="7939675" y="3049734"/>
            <a:ext cx="179388" cy="179387"/>
          </a:xfrm>
          <a:prstGeom prst="ellipse">
            <a:avLst/>
          </a:prstGeom>
          <a:solidFill>
            <a:schemeClr val="accent1"/>
          </a:solidFill>
          <a:ln w="9525">
            <a:solidFill>
              <a:schemeClr val="tx1"/>
            </a:solidFill>
            <a:round/>
            <a:headEnd/>
            <a:tailEnd/>
          </a:ln>
        </p:spPr>
        <p:txBody>
          <a:bodyPr wrap="none" lIns="91436" tIns="45718" rIns="91436" bIns="45718" anchor="ctr"/>
          <a:lstStyle/>
          <a:p>
            <a:endParaRPr lang="en-US"/>
          </a:p>
        </p:txBody>
      </p:sp>
      <p:sp>
        <p:nvSpPr>
          <p:cNvPr id="20" name="Oval 42">
            <a:extLst>
              <a:ext uri="{FF2B5EF4-FFF2-40B4-BE49-F238E27FC236}">
                <a16:creationId xmlns:a16="http://schemas.microsoft.com/office/drawing/2014/main" id="{E48BF181-F67C-212A-47BF-B3DD5A77EE8C}"/>
              </a:ext>
            </a:extLst>
          </p:cNvPr>
          <p:cNvSpPr>
            <a:spLocks noChangeArrowheads="1"/>
          </p:cNvSpPr>
          <p:nvPr/>
        </p:nvSpPr>
        <p:spPr bwMode="auto">
          <a:xfrm>
            <a:off x="8072333" y="5052202"/>
            <a:ext cx="179388" cy="179388"/>
          </a:xfrm>
          <a:prstGeom prst="ellipse">
            <a:avLst/>
          </a:prstGeom>
          <a:solidFill>
            <a:srgbClr val="FF9999"/>
          </a:solidFill>
          <a:ln w="9525">
            <a:solidFill>
              <a:schemeClr val="tx1"/>
            </a:solidFill>
            <a:round/>
            <a:headEnd/>
            <a:tailEnd/>
          </a:ln>
        </p:spPr>
        <p:txBody>
          <a:bodyPr wrap="none" lIns="91436" tIns="45718" rIns="91436" bIns="45718" anchor="ctr"/>
          <a:lstStyle/>
          <a:p>
            <a:endParaRPr lang="en-US"/>
          </a:p>
        </p:txBody>
      </p:sp>
      <p:sp>
        <p:nvSpPr>
          <p:cNvPr id="21" name="Oval 42">
            <a:extLst>
              <a:ext uri="{FF2B5EF4-FFF2-40B4-BE49-F238E27FC236}">
                <a16:creationId xmlns:a16="http://schemas.microsoft.com/office/drawing/2014/main" id="{B596174C-E53A-B1EA-C883-01B9A494DADF}"/>
              </a:ext>
            </a:extLst>
          </p:cNvPr>
          <p:cNvSpPr>
            <a:spLocks noChangeArrowheads="1"/>
          </p:cNvSpPr>
          <p:nvPr/>
        </p:nvSpPr>
        <p:spPr bwMode="auto">
          <a:xfrm>
            <a:off x="8752267" y="4073061"/>
            <a:ext cx="179388" cy="179388"/>
          </a:xfrm>
          <a:prstGeom prst="ellipse">
            <a:avLst/>
          </a:prstGeom>
          <a:solidFill>
            <a:srgbClr val="FF9999"/>
          </a:solidFill>
          <a:ln w="9525">
            <a:solidFill>
              <a:schemeClr val="tx1"/>
            </a:solidFill>
            <a:round/>
            <a:headEnd/>
            <a:tailEnd/>
          </a:ln>
        </p:spPr>
        <p:txBody>
          <a:bodyPr wrap="none" lIns="91436" tIns="45718" rIns="91436" bIns="45718" anchor="ctr"/>
          <a:lstStyle/>
          <a:p>
            <a:endParaRPr lang="en-US"/>
          </a:p>
        </p:txBody>
      </p:sp>
    </p:spTree>
    <p:extLst>
      <p:ext uri="{BB962C8B-B14F-4D97-AF65-F5344CB8AC3E}">
        <p14:creationId xmlns:p14="http://schemas.microsoft.com/office/powerpoint/2010/main" val="24785670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
                                            <p:txEl>
                                              <p:pRg st="1" end="1"/>
                                            </p:txEl>
                                          </p:spTgt>
                                        </p:tgtEl>
                                        <p:attrNameLst>
                                          <p:attrName>style.visibility</p:attrName>
                                        </p:attrNameLst>
                                      </p:cBhvr>
                                      <p:to>
                                        <p:strVal val="visible"/>
                                      </p:to>
                                    </p:set>
                                    <p:animEffect transition="in" filter="fade">
                                      <p:cBhvr>
                                        <p:cTn id="26" dur="500"/>
                                        <p:tgtEl>
                                          <p:spTgt spid="2">
                                            <p:txEl>
                                              <p:pRg st="1" end="1"/>
                                            </p:txEl>
                                          </p:spTgt>
                                        </p:tgtEl>
                                      </p:cBhvr>
                                    </p:animEffec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animEffect transition="in" filter="fade">
                                      <p:cBhvr>
                                        <p:cTn id="35" dur="500"/>
                                        <p:tgtEl>
                                          <p:spTgt spid="2">
                                            <p:txEl>
                                              <p:pRg st="2" end="2"/>
                                            </p:txEl>
                                          </p:spTgt>
                                        </p:tgtEl>
                                      </p:cBhvr>
                                    </p:animEffect>
                                  </p:childTnLst>
                                </p:cTn>
                              </p:par>
                              <p:par>
                                <p:cTn id="36" presetID="1"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3" end="3"/>
                                            </p:txEl>
                                          </p:spTgt>
                                        </p:tgtEl>
                                        <p:attrNameLst>
                                          <p:attrName>style.visibility</p:attrName>
                                        </p:attrNameLst>
                                      </p:cBhvr>
                                      <p:to>
                                        <p:strVal val="visible"/>
                                      </p:to>
                                    </p:set>
                                    <p:animEffect transition="in" filter="fade">
                                      <p:cBhvr>
                                        <p:cTn id="52" dur="500"/>
                                        <p:tgtEl>
                                          <p:spTgt spid="2">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6" end="6"/>
                                            </p:txEl>
                                          </p:spTgt>
                                        </p:tgtEl>
                                        <p:attrNameLst>
                                          <p:attrName>style.visibility</p:attrName>
                                        </p:attrNameLst>
                                      </p:cBhvr>
                                      <p:to>
                                        <p:strVal val="visible"/>
                                      </p:to>
                                    </p:set>
                                    <p:animEffect transition="in" filter="fade">
                                      <p:cBhvr>
                                        <p:cTn id="57" dur="500"/>
                                        <p:tgtEl>
                                          <p:spTgt spid="2">
                                            <p:txEl>
                                              <p:pRg st="6" end="6"/>
                                            </p:txEl>
                                          </p:spTgt>
                                        </p:tgtEl>
                                      </p:cBhvr>
                                    </p:animEffect>
                                  </p:childTnLst>
                                </p:cTn>
                              </p:par>
                              <p:par>
                                <p:cTn id="58" presetID="1"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
                                            <p:txEl>
                                              <p:pRg st="7" end="7"/>
                                            </p:txEl>
                                          </p:spTgt>
                                        </p:tgtEl>
                                        <p:attrNameLst>
                                          <p:attrName>style.visibility</p:attrName>
                                        </p:attrNameLst>
                                      </p:cBhvr>
                                      <p:to>
                                        <p:strVal val="visible"/>
                                      </p:to>
                                    </p:set>
                                    <p:animEffect transition="in" filter="fade">
                                      <p:cBhvr>
                                        <p:cTn id="66" dur="500"/>
                                        <p:tgtEl>
                                          <p:spTgt spid="2">
                                            <p:txEl>
                                              <p:pRg st="7" end="7"/>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8" grpId="0"/>
      <p:bldP spid="13" grpId="0" animBg="1"/>
      <p:bldP spid="14" grpId="0" animBg="1"/>
      <p:bldP spid="15" grpId="0"/>
      <p:bldP spid="16" grpId="0" animBg="1"/>
      <p:bldP spid="17" grpId="0" animBg="1"/>
      <p:bldP spid="18" grpId="0" animBg="1"/>
      <p:bldP spid="19" grpId="0" animBg="1"/>
      <p:bldP spid="20"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0B0B0-4492-9D57-896D-1853D4BF8F8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B3FF7C5-CE64-8C37-AF80-0C5E8ACD3835}"/>
              </a:ext>
            </a:extLst>
          </p:cNvPr>
          <p:cNvSpPr txBox="1"/>
          <p:nvPr/>
        </p:nvSpPr>
        <p:spPr>
          <a:xfrm>
            <a:off x="1070687" y="1141143"/>
            <a:ext cx="10274561" cy="646331"/>
          </a:xfrm>
          <a:prstGeom prst="rect">
            <a:avLst/>
          </a:prstGeom>
          <a:noFill/>
        </p:spPr>
        <p:txBody>
          <a:bodyPr wrap="square" rtlCol="0">
            <a:spAutoFit/>
          </a:bodyPr>
          <a:lstStyle/>
          <a:p>
            <a:r>
              <a:rPr lang="en-US" sz="3600" b="1" kern="0" dirty="0">
                <a:effectLst/>
                <a:latin typeface="Calibri" panose="020F0502020204030204" pitchFamily="34" charset="0"/>
                <a:ea typeface="Arial Unicode MS"/>
                <a:cs typeface="Times New Roman" panose="02020603050405020304" pitchFamily="18" charset="0"/>
              </a:rPr>
              <a:t>AI Search Algorithms</a:t>
            </a:r>
            <a:endParaRPr lang="en-US" sz="6000" b="1" dirty="0"/>
          </a:p>
        </p:txBody>
      </p:sp>
      <p:sp>
        <p:nvSpPr>
          <p:cNvPr id="2" name="TextBox 1">
            <a:extLst>
              <a:ext uri="{FF2B5EF4-FFF2-40B4-BE49-F238E27FC236}">
                <a16:creationId xmlns:a16="http://schemas.microsoft.com/office/drawing/2014/main" id="{023075B6-9103-A629-4589-0FAB5813C231}"/>
              </a:ext>
            </a:extLst>
          </p:cNvPr>
          <p:cNvSpPr txBox="1"/>
          <p:nvPr/>
        </p:nvSpPr>
        <p:spPr>
          <a:xfrm>
            <a:off x="1070687" y="2123578"/>
            <a:ext cx="9714725" cy="2610843"/>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2800" dirty="0"/>
              <a:t>Uninformed Search Algorithms</a:t>
            </a:r>
          </a:p>
          <a:p>
            <a:pPr marL="457200" indent="-457200">
              <a:lnSpc>
                <a:spcPct val="150000"/>
              </a:lnSpc>
              <a:buFont typeface="Arial" panose="020B0604020202020204" pitchFamily="34" charset="0"/>
              <a:buChar char="•"/>
            </a:pPr>
            <a:r>
              <a:rPr lang="en-US" sz="2800" dirty="0"/>
              <a:t>Informed Search Algorithms.</a:t>
            </a:r>
          </a:p>
          <a:p>
            <a:pPr marL="457200" indent="-457200">
              <a:lnSpc>
                <a:spcPct val="150000"/>
              </a:lnSpc>
              <a:buFont typeface="Arial" panose="020B0604020202020204" pitchFamily="34" charset="0"/>
              <a:buChar char="•"/>
            </a:pPr>
            <a:r>
              <a:rPr lang="en-US" sz="2800" dirty="0"/>
              <a:t>Adversarial Search Algorithms.</a:t>
            </a:r>
          </a:p>
          <a:p>
            <a:pPr marL="457200" indent="-457200">
              <a:lnSpc>
                <a:spcPct val="150000"/>
              </a:lnSpc>
              <a:buFont typeface="Arial" panose="020B0604020202020204" pitchFamily="34" charset="0"/>
              <a:buChar char="•"/>
            </a:pPr>
            <a:r>
              <a:rPr lang="en-US" sz="2800" dirty="0"/>
              <a:t>Local Search Algorithms</a:t>
            </a:r>
          </a:p>
        </p:txBody>
      </p:sp>
    </p:spTree>
    <p:extLst>
      <p:ext uri="{BB962C8B-B14F-4D97-AF65-F5344CB8AC3E}">
        <p14:creationId xmlns:p14="http://schemas.microsoft.com/office/powerpoint/2010/main" val="39051985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33E7D-F352-2A71-E900-29634CDED9B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779915A-E94C-2AB7-60E0-ADC207E5CC90}"/>
              </a:ext>
            </a:extLst>
          </p:cNvPr>
          <p:cNvSpPr txBox="1"/>
          <p:nvPr/>
        </p:nvSpPr>
        <p:spPr>
          <a:xfrm>
            <a:off x="1070687" y="553314"/>
            <a:ext cx="10274561" cy="837473"/>
          </a:xfrm>
          <a:prstGeom prst="rect">
            <a:avLst/>
          </a:prstGeom>
          <a:noFill/>
        </p:spPr>
        <p:txBody>
          <a:bodyPr wrap="square" rtlCol="0">
            <a:spAutoFit/>
          </a:bodyPr>
          <a:lstStyle/>
          <a:p>
            <a:pPr>
              <a:lnSpc>
                <a:spcPct val="150000"/>
              </a:lnSpc>
            </a:pPr>
            <a:r>
              <a:rPr lang="en-US" sz="3600" dirty="0"/>
              <a:t>Uninformed Search Algorithms</a:t>
            </a:r>
          </a:p>
        </p:txBody>
      </p:sp>
      <p:sp>
        <p:nvSpPr>
          <p:cNvPr id="2" name="TextBox 1">
            <a:extLst>
              <a:ext uri="{FF2B5EF4-FFF2-40B4-BE49-F238E27FC236}">
                <a16:creationId xmlns:a16="http://schemas.microsoft.com/office/drawing/2014/main" id="{90874321-A2A5-7AFE-198C-1597038E349A}"/>
              </a:ext>
            </a:extLst>
          </p:cNvPr>
          <p:cNvSpPr txBox="1"/>
          <p:nvPr/>
        </p:nvSpPr>
        <p:spPr>
          <a:xfrm>
            <a:off x="1070687" y="1685039"/>
            <a:ext cx="9714725"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t>Uninformed Search Algorithms (Blind Search) -  is a class of search algorithms used to explore a problem space without any additional information beyond the problem definition.</a:t>
            </a:r>
          </a:p>
          <a:p>
            <a:pPr marL="457200" indent="-457200">
              <a:buFont typeface="Arial" panose="020B0604020202020204" pitchFamily="34" charset="0"/>
              <a:buChar char="•"/>
            </a:pPr>
            <a:r>
              <a:rPr lang="en-US" sz="2800" dirty="0"/>
              <a:t>Uninformed search methods rely solely on the structure of the search space and do not possess any knowledge about the likelihood or cost of reaching the goal.</a:t>
            </a:r>
          </a:p>
          <a:p>
            <a:pPr marL="457200" indent="-457200">
              <a:buFont typeface="Arial" panose="020B0604020202020204" pitchFamily="34" charset="0"/>
              <a:buChar char="•"/>
            </a:pPr>
            <a:r>
              <a:rPr lang="en-US" sz="2800" dirty="0"/>
              <a:t>The main characteristic is they systematically explore the search space without making any assumptions about the location of the goal state or the relative cost of reaching it.</a:t>
            </a:r>
          </a:p>
        </p:txBody>
      </p:sp>
    </p:spTree>
    <p:extLst>
      <p:ext uri="{BB962C8B-B14F-4D97-AF65-F5344CB8AC3E}">
        <p14:creationId xmlns:p14="http://schemas.microsoft.com/office/powerpoint/2010/main" val="3444003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4A2BC-85FB-0716-78FA-5D00276CCB2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B57594-780E-5F84-353D-19219BDC5633}"/>
              </a:ext>
            </a:extLst>
          </p:cNvPr>
          <p:cNvSpPr txBox="1"/>
          <p:nvPr/>
        </p:nvSpPr>
        <p:spPr>
          <a:xfrm>
            <a:off x="1070687" y="553314"/>
            <a:ext cx="10274561" cy="837473"/>
          </a:xfrm>
          <a:prstGeom prst="rect">
            <a:avLst/>
          </a:prstGeom>
          <a:noFill/>
        </p:spPr>
        <p:txBody>
          <a:bodyPr wrap="square" rtlCol="0">
            <a:spAutoFit/>
          </a:bodyPr>
          <a:lstStyle/>
          <a:p>
            <a:pPr>
              <a:lnSpc>
                <a:spcPct val="150000"/>
              </a:lnSpc>
            </a:pPr>
            <a:r>
              <a:rPr lang="en-US" sz="3600" dirty="0"/>
              <a:t>Examples Uninformed Search Algorithms</a:t>
            </a:r>
          </a:p>
        </p:txBody>
      </p:sp>
      <p:sp>
        <p:nvSpPr>
          <p:cNvPr id="2" name="TextBox 1">
            <a:extLst>
              <a:ext uri="{FF2B5EF4-FFF2-40B4-BE49-F238E27FC236}">
                <a16:creationId xmlns:a16="http://schemas.microsoft.com/office/drawing/2014/main" id="{AF3B24BC-7CD8-B010-1182-79B71F0EE62F}"/>
              </a:ext>
            </a:extLst>
          </p:cNvPr>
          <p:cNvSpPr txBox="1"/>
          <p:nvPr/>
        </p:nvSpPr>
        <p:spPr>
          <a:xfrm>
            <a:off x="1070687" y="1694370"/>
            <a:ext cx="9714725" cy="2556982"/>
          </a:xfrm>
          <a:prstGeom prst="rect">
            <a:avLst/>
          </a:prstGeom>
          <a:noFill/>
        </p:spPr>
        <p:txBody>
          <a:bodyPr wrap="square" rtlCol="0">
            <a:spAutoFit/>
          </a:bodyPr>
          <a:lstStyle/>
          <a:p>
            <a:pPr marL="457200" indent="-457200">
              <a:lnSpc>
                <a:spcPct val="200000"/>
              </a:lnSpc>
              <a:buFont typeface="Arial" panose="020B0604020202020204" pitchFamily="34" charset="0"/>
              <a:buChar char="•"/>
            </a:pPr>
            <a:r>
              <a:rPr lang="en-US" sz="2800" dirty="0"/>
              <a:t>Breadth-First Search (BFS)</a:t>
            </a:r>
          </a:p>
          <a:p>
            <a:pPr marL="457200" indent="-457200">
              <a:lnSpc>
                <a:spcPct val="200000"/>
              </a:lnSpc>
              <a:buFont typeface="Arial" panose="020B0604020202020204" pitchFamily="34" charset="0"/>
              <a:buChar char="•"/>
            </a:pPr>
            <a:r>
              <a:rPr lang="en-US" sz="2800" dirty="0"/>
              <a:t>Depth-First Search (DFS)</a:t>
            </a:r>
          </a:p>
          <a:p>
            <a:pPr marL="457200" indent="-457200">
              <a:lnSpc>
                <a:spcPct val="200000"/>
              </a:lnSpc>
              <a:buFont typeface="Arial" panose="020B0604020202020204" pitchFamily="34" charset="0"/>
              <a:buChar char="•"/>
            </a:pPr>
            <a:r>
              <a:rPr lang="en-US" sz="2800" dirty="0"/>
              <a:t>Uniform-Cost Search (UCS)</a:t>
            </a:r>
          </a:p>
        </p:txBody>
      </p:sp>
    </p:spTree>
    <p:extLst>
      <p:ext uri="{BB962C8B-B14F-4D97-AF65-F5344CB8AC3E}">
        <p14:creationId xmlns:p14="http://schemas.microsoft.com/office/powerpoint/2010/main" val="2617139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AE80BD-327C-3CA1-45D5-2CB22467C29D}"/>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6002550-1E9D-FDDB-A290-BED3FA3E40A4}"/>
              </a:ext>
            </a:extLst>
          </p:cNvPr>
          <p:cNvSpPr txBox="1"/>
          <p:nvPr/>
        </p:nvSpPr>
        <p:spPr>
          <a:xfrm>
            <a:off x="838200" y="184805"/>
            <a:ext cx="10515600" cy="150588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200" kern="1200">
                <a:solidFill>
                  <a:schemeClr val="tx1"/>
                </a:solidFill>
                <a:latin typeface="+mj-lt"/>
                <a:ea typeface="+mj-ea"/>
                <a:cs typeface="+mj-cs"/>
              </a:rPr>
              <a:t>Breadth-First Search (BFS)</a:t>
            </a:r>
          </a:p>
        </p:txBody>
      </p:sp>
      <p:sp>
        <p:nvSpPr>
          <p:cNvPr id="2" name="TextBox 1">
            <a:extLst>
              <a:ext uri="{FF2B5EF4-FFF2-40B4-BE49-F238E27FC236}">
                <a16:creationId xmlns:a16="http://schemas.microsoft.com/office/drawing/2014/main" id="{D03AD2AE-CD28-5D08-2A4F-5593B7CD09DC}"/>
              </a:ext>
            </a:extLst>
          </p:cNvPr>
          <p:cNvSpPr txBox="1"/>
          <p:nvPr/>
        </p:nvSpPr>
        <p:spPr>
          <a:xfrm>
            <a:off x="838200" y="1844675"/>
            <a:ext cx="3441700" cy="4449763"/>
          </a:xfrm>
          <a:prstGeom prst="rect">
            <a:avLst/>
          </a:prstGeom>
          <a:noFill/>
        </p:spPr>
        <p:txBody>
          <a:bodyPr wrap="square" rtlCol="0" anchor="t">
            <a:normAutofit/>
          </a:bodyPr>
          <a:lstStyle/>
          <a:p>
            <a:pPr marL="457200" indent="-457200">
              <a:lnSpc>
                <a:spcPct val="90000"/>
              </a:lnSpc>
              <a:spcAft>
                <a:spcPts val="600"/>
              </a:spcAft>
              <a:buFont typeface="Arial" panose="020B0604020202020204" pitchFamily="34" charset="0"/>
              <a:buChar char="•"/>
            </a:pPr>
            <a:r>
              <a:rPr lang="en-US" sz="2600" dirty="0"/>
              <a:t>BFS explores the search space level by level, expanding all the nodes at a given depth before moving on to the next level. This ensures that the shortest path to the goal state is found in terms of the number of edges traversed.</a:t>
            </a:r>
          </a:p>
        </p:txBody>
      </p:sp>
      <p:sp>
        <p:nvSpPr>
          <p:cNvPr id="3" name="TextBox 2">
            <a:extLst>
              <a:ext uri="{FF2B5EF4-FFF2-40B4-BE49-F238E27FC236}">
                <a16:creationId xmlns:a16="http://schemas.microsoft.com/office/drawing/2014/main" id="{6B564684-5F1D-4822-8DC1-1393276DD3CE}"/>
              </a:ext>
            </a:extLst>
          </p:cNvPr>
          <p:cNvSpPr txBox="1"/>
          <p:nvPr/>
        </p:nvSpPr>
        <p:spPr>
          <a:xfrm>
            <a:off x="4349750" y="1844675"/>
            <a:ext cx="6999288" cy="4449763"/>
          </a:xfrm>
          <a:prstGeom prst="rect">
            <a:avLst/>
          </a:prstGeom>
          <a:noFill/>
        </p:spPr>
        <p:txBody>
          <a:bodyPr wrap="square" rtlCol="0" anchor="t">
            <a:normAutofit/>
          </a:bodyPr>
          <a:lstStyle/>
          <a:p>
            <a:pPr>
              <a:lnSpc>
                <a:spcPct val="90000"/>
              </a:lnSpc>
              <a:spcAft>
                <a:spcPts val="600"/>
              </a:spcAft>
            </a:pPr>
            <a:r>
              <a:rPr lang="en-US" sz="2200" b="1"/>
              <a:t>Example</a:t>
            </a:r>
          </a:p>
          <a:p>
            <a:pPr>
              <a:lnSpc>
                <a:spcPct val="90000"/>
              </a:lnSpc>
              <a:spcAft>
                <a:spcPts val="600"/>
              </a:spcAft>
            </a:pPr>
            <a:r>
              <a:rPr lang="en-US" sz="2200"/>
              <a:t>Consider a simple graph representing a network of cities connected by roads. You want to find the shortest path from one city to another.</a:t>
            </a:r>
          </a:p>
          <a:p>
            <a:pPr>
              <a:lnSpc>
                <a:spcPct val="90000"/>
              </a:lnSpc>
              <a:spcAft>
                <a:spcPts val="600"/>
              </a:spcAft>
            </a:pPr>
            <a:endParaRPr lang="en-US" sz="2200"/>
          </a:p>
          <a:p>
            <a:pPr>
              <a:lnSpc>
                <a:spcPct val="90000"/>
              </a:lnSpc>
              <a:spcAft>
                <a:spcPts val="600"/>
              </a:spcAft>
            </a:pPr>
            <a:r>
              <a:rPr lang="en-US" sz="2200" b="1"/>
              <a:t>How it works?</a:t>
            </a:r>
          </a:p>
          <a:p>
            <a:pPr marL="342900" indent="-342900">
              <a:lnSpc>
                <a:spcPct val="90000"/>
              </a:lnSpc>
              <a:spcAft>
                <a:spcPts val="600"/>
              </a:spcAft>
              <a:buFont typeface="Arial" panose="020B0604020202020204" pitchFamily="34" charset="0"/>
              <a:buChar char="•"/>
            </a:pPr>
            <a:r>
              <a:rPr lang="en-US" sz="2200"/>
              <a:t>BFS would start from the initial city and explore all neighboring cities first before moving to the next level of cities. It continues this process until it finds the destination city.</a:t>
            </a:r>
          </a:p>
          <a:p>
            <a:pPr marL="342900" indent="-342900">
              <a:lnSpc>
                <a:spcPct val="90000"/>
              </a:lnSpc>
              <a:spcAft>
                <a:spcPts val="600"/>
              </a:spcAft>
              <a:buFont typeface="Arial" panose="020B0604020202020204" pitchFamily="34" charset="0"/>
              <a:buChar char="•"/>
            </a:pPr>
            <a:r>
              <a:rPr lang="en-US" sz="2200"/>
              <a:t>BFS guarantees the shortest path between the initial and destination cities in terms of the number of edges traversed.</a:t>
            </a:r>
          </a:p>
        </p:txBody>
      </p:sp>
    </p:spTree>
    <p:extLst>
      <p:ext uri="{BB962C8B-B14F-4D97-AF65-F5344CB8AC3E}">
        <p14:creationId xmlns:p14="http://schemas.microsoft.com/office/powerpoint/2010/main" val="4676530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D7DC51-30BA-944B-2263-CC395BC72AFD}"/>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6D9BB97-9F78-2567-0B6E-2513B53FC3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0AAA76A-2D3B-C2CA-5E9E-7D324041BF90}"/>
              </a:ext>
            </a:extLst>
          </p:cNvPr>
          <p:cNvSpPr txBox="1"/>
          <p:nvPr/>
        </p:nvSpPr>
        <p:spPr>
          <a:xfrm>
            <a:off x="838200" y="184805"/>
            <a:ext cx="10515600" cy="150588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200" kern="1200">
                <a:solidFill>
                  <a:schemeClr val="tx1"/>
                </a:solidFill>
                <a:latin typeface="+mj-lt"/>
                <a:ea typeface="+mj-ea"/>
                <a:cs typeface="+mj-cs"/>
              </a:rPr>
              <a:t>Breadth-First Search (BFS)</a:t>
            </a:r>
          </a:p>
        </p:txBody>
      </p:sp>
      <p:sp>
        <p:nvSpPr>
          <p:cNvPr id="5" name="Oval 4">
            <a:extLst>
              <a:ext uri="{FF2B5EF4-FFF2-40B4-BE49-F238E27FC236}">
                <a16:creationId xmlns:a16="http://schemas.microsoft.com/office/drawing/2014/main" id="{7802CA8A-F0FC-0FBC-6AD3-29CF66180FA3}"/>
              </a:ext>
            </a:extLst>
          </p:cNvPr>
          <p:cNvSpPr/>
          <p:nvPr/>
        </p:nvSpPr>
        <p:spPr>
          <a:xfrm>
            <a:off x="1139761" y="3214687"/>
            <a:ext cx="428625"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Oval 5">
            <a:extLst>
              <a:ext uri="{FF2B5EF4-FFF2-40B4-BE49-F238E27FC236}">
                <a16:creationId xmlns:a16="http://schemas.microsoft.com/office/drawing/2014/main" id="{03C78884-5D7A-7B36-8613-EA3EC3E9F7D7}"/>
              </a:ext>
            </a:extLst>
          </p:cNvPr>
          <p:cNvSpPr/>
          <p:nvPr/>
        </p:nvSpPr>
        <p:spPr>
          <a:xfrm>
            <a:off x="2847974" y="4464842"/>
            <a:ext cx="428625"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 name="Oval 6">
            <a:extLst>
              <a:ext uri="{FF2B5EF4-FFF2-40B4-BE49-F238E27FC236}">
                <a16:creationId xmlns:a16="http://schemas.microsoft.com/office/drawing/2014/main" id="{6D2C2CF7-7D8C-70B6-E3D8-701231B51AA2}"/>
              </a:ext>
            </a:extLst>
          </p:cNvPr>
          <p:cNvSpPr/>
          <p:nvPr/>
        </p:nvSpPr>
        <p:spPr>
          <a:xfrm>
            <a:off x="2847975" y="1955006"/>
            <a:ext cx="428625"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8" name="Oval 7">
            <a:extLst>
              <a:ext uri="{FF2B5EF4-FFF2-40B4-BE49-F238E27FC236}">
                <a16:creationId xmlns:a16="http://schemas.microsoft.com/office/drawing/2014/main" id="{C8B989DF-76FA-DD05-545D-53D921BFF246}"/>
              </a:ext>
            </a:extLst>
          </p:cNvPr>
          <p:cNvSpPr/>
          <p:nvPr/>
        </p:nvSpPr>
        <p:spPr>
          <a:xfrm>
            <a:off x="4752975" y="3000375"/>
            <a:ext cx="428625"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9" name="Oval 8">
            <a:extLst>
              <a:ext uri="{FF2B5EF4-FFF2-40B4-BE49-F238E27FC236}">
                <a16:creationId xmlns:a16="http://schemas.microsoft.com/office/drawing/2014/main" id="{82013044-304D-B142-4C91-0A1359F43337}"/>
              </a:ext>
            </a:extLst>
          </p:cNvPr>
          <p:cNvSpPr/>
          <p:nvPr/>
        </p:nvSpPr>
        <p:spPr>
          <a:xfrm>
            <a:off x="5261038" y="5036344"/>
            <a:ext cx="428625"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0" name="Oval 9">
            <a:extLst>
              <a:ext uri="{FF2B5EF4-FFF2-40B4-BE49-F238E27FC236}">
                <a16:creationId xmlns:a16="http://schemas.microsoft.com/office/drawing/2014/main" id="{2B25A3B0-9C47-9944-8ED8-142845A97F78}"/>
              </a:ext>
            </a:extLst>
          </p:cNvPr>
          <p:cNvSpPr/>
          <p:nvPr/>
        </p:nvSpPr>
        <p:spPr>
          <a:xfrm>
            <a:off x="6308788" y="2169318"/>
            <a:ext cx="428625"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 name="Oval 10">
            <a:extLst>
              <a:ext uri="{FF2B5EF4-FFF2-40B4-BE49-F238E27FC236}">
                <a16:creationId xmlns:a16="http://schemas.microsoft.com/office/drawing/2014/main" id="{6383B551-7270-5D54-03AF-200F5D527AE1}"/>
              </a:ext>
            </a:extLst>
          </p:cNvPr>
          <p:cNvSpPr/>
          <p:nvPr/>
        </p:nvSpPr>
        <p:spPr>
          <a:xfrm>
            <a:off x="7480363" y="3839764"/>
            <a:ext cx="428625"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cxnSp>
        <p:nvCxnSpPr>
          <p:cNvPr id="14" name="Straight Arrow Connector 13">
            <a:extLst>
              <a:ext uri="{FF2B5EF4-FFF2-40B4-BE49-F238E27FC236}">
                <a16:creationId xmlns:a16="http://schemas.microsoft.com/office/drawing/2014/main" id="{ED68B507-0201-DFA1-6098-BC4B43BAA0E4}"/>
              </a:ext>
            </a:extLst>
          </p:cNvPr>
          <p:cNvCxnSpPr>
            <a:stCxn id="5" idx="7"/>
            <a:endCxn id="7" idx="3"/>
          </p:cNvCxnSpPr>
          <p:nvPr/>
        </p:nvCxnSpPr>
        <p:spPr>
          <a:xfrm flipV="1">
            <a:off x="1505615" y="2320860"/>
            <a:ext cx="1405131" cy="9565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687704AF-D163-AFF6-359A-5BF829B56783}"/>
              </a:ext>
            </a:extLst>
          </p:cNvPr>
          <p:cNvCxnSpPr>
            <a:cxnSpLocks/>
            <a:stCxn id="5" idx="5"/>
            <a:endCxn id="6" idx="1"/>
          </p:cNvCxnSpPr>
          <p:nvPr/>
        </p:nvCxnSpPr>
        <p:spPr>
          <a:xfrm>
            <a:off x="1505615" y="3580541"/>
            <a:ext cx="1405130" cy="9470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1CA2D83F-4FB6-05C0-DFEA-C43121BC85A9}"/>
              </a:ext>
            </a:extLst>
          </p:cNvPr>
          <p:cNvCxnSpPr>
            <a:cxnSpLocks/>
            <a:stCxn id="6" idx="6"/>
            <a:endCxn id="9" idx="2"/>
          </p:cNvCxnSpPr>
          <p:nvPr/>
        </p:nvCxnSpPr>
        <p:spPr>
          <a:xfrm>
            <a:off x="3276599" y="4679155"/>
            <a:ext cx="1984439" cy="5715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0DC12908-3799-B75B-0749-550EC6A5ACF2}"/>
              </a:ext>
            </a:extLst>
          </p:cNvPr>
          <p:cNvCxnSpPr>
            <a:cxnSpLocks/>
            <a:stCxn id="6" idx="7"/>
            <a:endCxn id="8" idx="3"/>
          </p:cNvCxnSpPr>
          <p:nvPr/>
        </p:nvCxnSpPr>
        <p:spPr>
          <a:xfrm flipV="1">
            <a:off x="3213828" y="3366229"/>
            <a:ext cx="1601918" cy="11613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8206F9BD-D88F-8BB5-7FC6-92FD0300F47A}"/>
              </a:ext>
            </a:extLst>
          </p:cNvPr>
          <p:cNvCxnSpPr>
            <a:cxnSpLocks/>
            <a:stCxn id="7" idx="5"/>
            <a:endCxn id="8" idx="1"/>
          </p:cNvCxnSpPr>
          <p:nvPr/>
        </p:nvCxnSpPr>
        <p:spPr>
          <a:xfrm>
            <a:off x="3213829" y="2320860"/>
            <a:ext cx="1601917" cy="7422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7AA2C969-5DA9-00F3-C6AE-502B43975BE5}"/>
              </a:ext>
            </a:extLst>
          </p:cNvPr>
          <p:cNvCxnSpPr>
            <a:cxnSpLocks/>
            <a:stCxn id="8" idx="6"/>
            <a:endCxn id="10" idx="3"/>
          </p:cNvCxnSpPr>
          <p:nvPr/>
        </p:nvCxnSpPr>
        <p:spPr>
          <a:xfrm flipV="1">
            <a:off x="5181600" y="2535172"/>
            <a:ext cx="1189959" cy="6795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75E80AB4-B3E2-924B-AD92-8396B45BF7E7}"/>
              </a:ext>
            </a:extLst>
          </p:cNvPr>
          <p:cNvCxnSpPr>
            <a:cxnSpLocks/>
            <a:stCxn id="8" idx="5"/>
            <a:endCxn id="11" idx="2"/>
          </p:cNvCxnSpPr>
          <p:nvPr/>
        </p:nvCxnSpPr>
        <p:spPr>
          <a:xfrm>
            <a:off x="5118829" y="3366229"/>
            <a:ext cx="2361534" cy="6878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DA6B0699-0DC4-0BD9-DCB2-1D3B9150815A}"/>
              </a:ext>
            </a:extLst>
          </p:cNvPr>
          <p:cNvCxnSpPr>
            <a:cxnSpLocks/>
            <a:stCxn id="10" idx="5"/>
            <a:endCxn id="11" idx="0"/>
          </p:cNvCxnSpPr>
          <p:nvPr/>
        </p:nvCxnSpPr>
        <p:spPr>
          <a:xfrm>
            <a:off x="6674642" y="2535172"/>
            <a:ext cx="1020034" cy="13045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49" name="Table 48">
            <a:extLst>
              <a:ext uri="{FF2B5EF4-FFF2-40B4-BE49-F238E27FC236}">
                <a16:creationId xmlns:a16="http://schemas.microsoft.com/office/drawing/2014/main" id="{56C3CF8F-1F95-810C-E1A9-C279F476C657}"/>
              </a:ext>
            </a:extLst>
          </p:cNvPr>
          <p:cNvGraphicFramePr>
            <a:graphicFrameLocks noGrp="1"/>
          </p:cNvGraphicFramePr>
          <p:nvPr>
            <p:extLst>
              <p:ext uri="{D42A27DB-BD31-4B8C-83A1-F6EECF244321}">
                <p14:modId xmlns:p14="http://schemas.microsoft.com/office/powerpoint/2010/main" val="2492330391"/>
              </p:ext>
            </p:extLst>
          </p:nvPr>
        </p:nvGraphicFramePr>
        <p:xfrm>
          <a:off x="10726864" y="1979518"/>
          <a:ext cx="650749" cy="2595880"/>
        </p:xfrm>
        <a:graphic>
          <a:graphicData uri="http://schemas.openxmlformats.org/drawingml/2006/table">
            <a:tbl>
              <a:tblPr firstRow="1" bandRow="1">
                <a:tableStyleId>{5C22544A-7EE6-4342-B048-85BDC9FD1C3A}</a:tableStyleId>
              </a:tblPr>
              <a:tblGrid>
                <a:gridCol w="650749">
                  <a:extLst>
                    <a:ext uri="{9D8B030D-6E8A-4147-A177-3AD203B41FA5}">
                      <a16:colId xmlns:a16="http://schemas.microsoft.com/office/drawing/2014/main" val="2193211204"/>
                    </a:ext>
                  </a:extLst>
                </a:gridCol>
              </a:tblGrid>
              <a:tr h="370840">
                <a:tc>
                  <a:txBody>
                    <a:bodyPr/>
                    <a:lstStyle/>
                    <a:p>
                      <a:pPr algn="ctr"/>
                      <a:r>
                        <a:rPr lang="en-US" dirty="0"/>
                        <a:t>A</a:t>
                      </a:r>
                    </a:p>
                  </a:txBody>
                  <a:tcPr/>
                </a:tc>
                <a:extLst>
                  <a:ext uri="{0D108BD9-81ED-4DB2-BD59-A6C34878D82A}">
                    <a16:rowId xmlns:a16="http://schemas.microsoft.com/office/drawing/2014/main" val="2322728343"/>
                  </a:ext>
                </a:extLst>
              </a:tr>
              <a:tr h="370840">
                <a:tc>
                  <a:txBody>
                    <a:bodyPr/>
                    <a:lstStyle/>
                    <a:p>
                      <a:pPr algn="ctr"/>
                      <a:r>
                        <a:rPr lang="en-US" dirty="0"/>
                        <a:t>B</a:t>
                      </a:r>
                    </a:p>
                  </a:txBody>
                  <a:tcPr/>
                </a:tc>
                <a:extLst>
                  <a:ext uri="{0D108BD9-81ED-4DB2-BD59-A6C34878D82A}">
                    <a16:rowId xmlns:a16="http://schemas.microsoft.com/office/drawing/2014/main" val="930253474"/>
                  </a:ext>
                </a:extLst>
              </a:tr>
              <a:tr h="370840">
                <a:tc>
                  <a:txBody>
                    <a:bodyPr/>
                    <a:lstStyle/>
                    <a:p>
                      <a:pPr algn="ctr"/>
                      <a:r>
                        <a:rPr lang="en-US" dirty="0"/>
                        <a:t>C</a:t>
                      </a:r>
                    </a:p>
                  </a:txBody>
                  <a:tcPr/>
                </a:tc>
                <a:extLst>
                  <a:ext uri="{0D108BD9-81ED-4DB2-BD59-A6C34878D82A}">
                    <a16:rowId xmlns:a16="http://schemas.microsoft.com/office/drawing/2014/main" val="3170349675"/>
                  </a:ext>
                </a:extLst>
              </a:tr>
              <a:tr h="370840">
                <a:tc>
                  <a:txBody>
                    <a:bodyPr/>
                    <a:lstStyle/>
                    <a:p>
                      <a:pPr algn="ctr"/>
                      <a:r>
                        <a:rPr lang="en-US" dirty="0"/>
                        <a:t>D</a:t>
                      </a:r>
                    </a:p>
                  </a:txBody>
                  <a:tcPr/>
                </a:tc>
                <a:extLst>
                  <a:ext uri="{0D108BD9-81ED-4DB2-BD59-A6C34878D82A}">
                    <a16:rowId xmlns:a16="http://schemas.microsoft.com/office/drawing/2014/main" val="3956889210"/>
                  </a:ext>
                </a:extLst>
              </a:tr>
              <a:tr h="370840">
                <a:tc>
                  <a:txBody>
                    <a:bodyPr/>
                    <a:lstStyle/>
                    <a:p>
                      <a:pPr algn="ctr"/>
                      <a:r>
                        <a:rPr lang="en-US" dirty="0"/>
                        <a:t>F</a:t>
                      </a:r>
                    </a:p>
                  </a:txBody>
                  <a:tcPr/>
                </a:tc>
                <a:extLst>
                  <a:ext uri="{0D108BD9-81ED-4DB2-BD59-A6C34878D82A}">
                    <a16:rowId xmlns:a16="http://schemas.microsoft.com/office/drawing/2014/main" val="1842678614"/>
                  </a:ext>
                </a:extLst>
              </a:tr>
              <a:tr h="370840">
                <a:tc>
                  <a:txBody>
                    <a:bodyPr/>
                    <a:lstStyle/>
                    <a:p>
                      <a:pPr algn="ctr"/>
                      <a:r>
                        <a:rPr lang="en-US" dirty="0"/>
                        <a:t>E</a:t>
                      </a:r>
                    </a:p>
                  </a:txBody>
                  <a:tcPr/>
                </a:tc>
                <a:extLst>
                  <a:ext uri="{0D108BD9-81ED-4DB2-BD59-A6C34878D82A}">
                    <a16:rowId xmlns:a16="http://schemas.microsoft.com/office/drawing/2014/main" val="1583975591"/>
                  </a:ext>
                </a:extLst>
              </a:tr>
              <a:tr h="370840">
                <a:tc>
                  <a:txBody>
                    <a:bodyPr/>
                    <a:lstStyle/>
                    <a:p>
                      <a:pPr algn="ctr"/>
                      <a:r>
                        <a:rPr lang="en-US" dirty="0"/>
                        <a:t>G</a:t>
                      </a:r>
                    </a:p>
                  </a:txBody>
                  <a:tcPr/>
                </a:tc>
                <a:extLst>
                  <a:ext uri="{0D108BD9-81ED-4DB2-BD59-A6C34878D82A}">
                    <a16:rowId xmlns:a16="http://schemas.microsoft.com/office/drawing/2014/main" val="1026017159"/>
                  </a:ext>
                </a:extLst>
              </a:tr>
            </a:tbl>
          </a:graphicData>
        </a:graphic>
      </p:graphicFrame>
      <p:sp>
        <p:nvSpPr>
          <p:cNvPr id="51" name="Oval 50">
            <a:extLst>
              <a:ext uri="{FF2B5EF4-FFF2-40B4-BE49-F238E27FC236}">
                <a16:creationId xmlns:a16="http://schemas.microsoft.com/office/drawing/2014/main" id="{FEA1A5A6-E468-96C9-D4FE-3CA4D500B8BD}"/>
              </a:ext>
            </a:extLst>
          </p:cNvPr>
          <p:cNvSpPr/>
          <p:nvPr/>
        </p:nvSpPr>
        <p:spPr>
          <a:xfrm>
            <a:off x="1139760" y="3214783"/>
            <a:ext cx="428625" cy="428625"/>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2" name="Oval 51">
            <a:extLst>
              <a:ext uri="{FF2B5EF4-FFF2-40B4-BE49-F238E27FC236}">
                <a16:creationId xmlns:a16="http://schemas.microsoft.com/office/drawing/2014/main" id="{3787B949-6DA2-0B30-0B8E-C2945990C0EC}"/>
              </a:ext>
            </a:extLst>
          </p:cNvPr>
          <p:cNvSpPr/>
          <p:nvPr/>
        </p:nvSpPr>
        <p:spPr>
          <a:xfrm>
            <a:off x="2837924" y="1936717"/>
            <a:ext cx="428625" cy="428625"/>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53" name="Oval 52">
            <a:extLst>
              <a:ext uri="{FF2B5EF4-FFF2-40B4-BE49-F238E27FC236}">
                <a16:creationId xmlns:a16="http://schemas.microsoft.com/office/drawing/2014/main" id="{7DC78973-CFA8-3BAA-4703-7D9800433C4A}"/>
              </a:ext>
            </a:extLst>
          </p:cNvPr>
          <p:cNvSpPr/>
          <p:nvPr/>
        </p:nvSpPr>
        <p:spPr>
          <a:xfrm>
            <a:off x="2847973" y="4474370"/>
            <a:ext cx="428625" cy="428625"/>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54" name="Oval 53">
            <a:extLst>
              <a:ext uri="{FF2B5EF4-FFF2-40B4-BE49-F238E27FC236}">
                <a16:creationId xmlns:a16="http://schemas.microsoft.com/office/drawing/2014/main" id="{7A90BE0C-EA86-0309-E98F-8A6E14EDF045}"/>
              </a:ext>
            </a:extLst>
          </p:cNvPr>
          <p:cNvSpPr/>
          <p:nvPr/>
        </p:nvSpPr>
        <p:spPr>
          <a:xfrm>
            <a:off x="4764216" y="3000375"/>
            <a:ext cx="428625" cy="428625"/>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55" name="Oval 54">
            <a:extLst>
              <a:ext uri="{FF2B5EF4-FFF2-40B4-BE49-F238E27FC236}">
                <a16:creationId xmlns:a16="http://schemas.microsoft.com/office/drawing/2014/main" id="{B371D796-37FA-9649-6E3F-9B1F010C2F02}"/>
              </a:ext>
            </a:extLst>
          </p:cNvPr>
          <p:cNvSpPr/>
          <p:nvPr/>
        </p:nvSpPr>
        <p:spPr>
          <a:xfrm>
            <a:off x="5261038" y="5036772"/>
            <a:ext cx="428625" cy="428625"/>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56" name="Oval 55">
            <a:extLst>
              <a:ext uri="{FF2B5EF4-FFF2-40B4-BE49-F238E27FC236}">
                <a16:creationId xmlns:a16="http://schemas.microsoft.com/office/drawing/2014/main" id="{08D11B1A-6596-B586-2477-86EA94CEA7BE}"/>
              </a:ext>
            </a:extLst>
          </p:cNvPr>
          <p:cNvSpPr/>
          <p:nvPr/>
        </p:nvSpPr>
        <p:spPr>
          <a:xfrm>
            <a:off x="7480362" y="3826997"/>
            <a:ext cx="428625" cy="428625"/>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57" name="Oval 56">
            <a:extLst>
              <a:ext uri="{FF2B5EF4-FFF2-40B4-BE49-F238E27FC236}">
                <a16:creationId xmlns:a16="http://schemas.microsoft.com/office/drawing/2014/main" id="{33D2A243-1024-D360-2C82-675E15DE00E8}"/>
              </a:ext>
            </a:extLst>
          </p:cNvPr>
          <p:cNvSpPr/>
          <p:nvPr/>
        </p:nvSpPr>
        <p:spPr>
          <a:xfrm>
            <a:off x="6308788" y="2169318"/>
            <a:ext cx="428625" cy="428625"/>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a:t>
            </a:r>
          </a:p>
        </p:txBody>
      </p:sp>
    </p:spTree>
    <p:extLst>
      <p:ext uri="{BB962C8B-B14F-4D97-AF65-F5344CB8AC3E}">
        <p14:creationId xmlns:p14="http://schemas.microsoft.com/office/powerpoint/2010/main" val="30922100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fade">
                                      <p:cBhvr>
                                        <p:cTn id="17" dur="500"/>
                                        <p:tgtEl>
                                          <p:spTgt spid="5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500"/>
                                        <p:tgtEl>
                                          <p:spTgt spid="5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5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fade">
                                      <p:cBhvr>
                                        <p:cTn id="32" dur="500"/>
                                        <p:tgtEl>
                                          <p:spTgt spid="5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fade">
                                      <p:cBhvr>
                                        <p:cTn id="37" dur="500"/>
                                        <p:tgtEl>
                                          <p:spTgt spid="5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fade">
                                      <p:cBhvr>
                                        <p:cTn id="4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3" grpId="0" animBg="1"/>
      <p:bldP spid="54" grpId="0" animBg="1"/>
      <p:bldP spid="55" grpId="0" animBg="1"/>
      <p:bldP spid="56" grpId="0" animBg="1"/>
      <p:bldP spid="5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8978CC-1E5B-C71C-75A5-ABCD99CAC5D3}"/>
            </a:ext>
          </a:extLst>
        </p:cNvPr>
        <p:cNvGrpSpPr/>
        <p:nvPr/>
      </p:nvGrpSpPr>
      <p:grpSpPr>
        <a:xfrm>
          <a:off x="0" y="0"/>
          <a:ext cx="0" cy="0"/>
          <a:chOff x="0" y="0"/>
          <a:chExt cx="0" cy="0"/>
        </a:xfrm>
      </p:grpSpPr>
      <p:pic>
        <p:nvPicPr>
          <p:cNvPr id="6" name="Picture 5" descr="Lines and dots connected representing a network">
            <a:extLst>
              <a:ext uri="{FF2B5EF4-FFF2-40B4-BE49-F238E27FC236}">
                <a16:creationId xmlns:a16="http://schemas.microsoft.com/office/drawing/2014/main" id="{A37640C8-9F9A-2EBF-40AA-87DB40D9137A}"/>
              </a:ext>
            </a:extLst>
          </p:cNvPr>
          <p:cNvPicPr>
            <a:picLocks noChangeAspect="1"/>
          </p:cNvPicPr>
          <p:nvPr/>
        </p:nvPicPr>
        <p:blipFill rotWithShape="1">
          <a:blip r:embed="rId3"/>
          <a:srcRect l="34748" r="31988"/>
          <a:stretch/>
        </p:blipFill>
        <p:spPr>
          <a:xfrm>
            <a:off x="8398963" y="119067"/>
            <a:ext cx="3793037" cy="6619866"/>
          </a:xfrm>
          <a:prstGeom prst="rect">
            <a:avLst/>
          </a:prstGeom>
        </p:spPr>
      </p:pic>
      <p:sp useBgFill="1">
        <p:nvSpPr>
          <p:cNvPr id="10" name="Rectangle 9">
            <a:extLst>
              <a:ext uri="{FF2B5EF4-FFF2-40B4-BE49-F238E27FC236}">
                <a16:creationId xmlns:a16="http://schemas.microsoft.com/office/drawing/2014/main" id="{8870DEF6-46A2-D4F8-8BE6-91165D93E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80579" y="1860919"/>
            <a:ext cx="4412066" cy="310864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FFE313B-650F-107E-5BFF-BCC2C6F38E59}"/>
              </a:ext>
            </a:extLst>
          </p:cNvPr>
          <p:cNvSpPr txBox="1"/>
          <p:nvPr/>
        </p:nvSpPr>
        <p:spPr>
          <a:xfrm>
            <a:off x="927780" y="476893"/>
            <a:ext cx="7311345" cy="1571164"/>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kern="1200" dirty="0">
                <a:solidFill>
                  <a:schemeClr val="tx1"/>
                </a:solidFill>
                <a:latin typeface="+mj-lt"/>
                <a:ea typeface="+mj-ea"/>
                <a:cs typeface="+mj-cs"/>
              </a:rPr>
              <a:t>Depth-First Search (BFS)</a:t>
            </a:r>
          </a:p>
        </p:txBody>
      </p:sp>
      <p:sp>
        <p:nvSpPr>
          <p:cNvPr id="3" name="TextBox 2">
            <a:extLst>
              <a:ext uri="{FF2B5EF4-FFF2-40B4-BE49-F238E27FC236}">
                <a16:creationId xmlns:a16="http://schemas.microsoft.com/office/drawing/2014/main" id="{681553B9-92E2-8305-23EF-99D4FD241670}"/>
              </a:ext>
            </a:extLst>
          </p:cNvPr>
          <p:cNvSpPr txBox="1"/>
          <p:nvPr/>
        </p:nvSpPr>
        <p:spPr>
          <a:xfrm>
            <a:off x="927779" y="2983014"/>
            <a:ext cx="7311345" cy="3327886"/>
          </a:xfrm>
          <a:prstGeom prst="rect">
            <a:avLst/>
          </a:prstGeom>
        </p:spPr>
        <p:txBody>
          <a:bodyPr vert="horz" lIns="91440" tIns="45720" rIns="91440" bIns="45720" rtlCol="0" anchor="ctr">
            <a:noAutofit/>
          </a:bodyPr>
          <a:lstStyle/>
          <a:p>
            <a:pPr>
              <a:lnSpc>
                <a:spcPct val="90000"/>
              </a:lnSpc>
              <a:spcBef>
                <a:spcPts val="1000"/>
              </a:spcBef>
            </a:pPr>
            <a:r>
              <a:rPr lang="en-US" sz="2000" b="1" kern="1200" dirty="0">
                <a:solidFill>
                  <a:schemeClr val="tx1"/>
                </a:solidFill>
                <a:latin typeface="+mn-lt"/>
                <a:ea typeface="+mn-ea"/>
                <a:cs typeface="+mn-cs"/>
              </a:rPr>
              <a:t>Example</a:t>
            </a:r>
          </a:p>
          <a:p>
            <a:pPr>
              <a:lnSpc>
                <a:spcPct val="90000"/>
              </a:lnSpc>
              <a:spcBef>
                <a:spcPts val="1000"/>
              </a:spcBef>
            </a:pPr>
            <a:r>
              <a:rPr lang="en-US" sz="2000" kern="1200" dirty="0">
                <a:solidFill>
                  <a:schemeClr val="tx1"/>
                </a:solidFill>
                <a:latin typeface="+mn-lt"/>
                <a:ea typeface="+mn-ea"/>
                <a:cs typeface="+mn-cs"/>
              </a:rPr>
              <a:t>Consider a maze where you're searching for a path from the entrance to the exit.</a:t>
            </a:r>
          </a:p>
          <a:p>
            <a:pPr>
              <a:lnSpc>
                <a:spcPct val="90000"/>
              </a:lnSpc>
              <a:spcBef>
                <a:spcPts val="1000"/>
              </a:spcBef>
            </a:pPr>
            <a:r>
              <a:rPr lang="en-US" sz="2000" b="1" kern="1200" dirty="0">
                <a:solidFill>
                  <a:schemeClr val="tx1"/>
                </a:solidFill>
                <a:latin typeface="+mn-lt"/>
                <a:ea typeface="+mn-ea"/>
                <a:cs typeface="+mn-cs"/>
              </a:rPr>
              <a:t>How it works?</a:t>
            </a:r>
          </a:p>
          <a:p>
            <a:pPr>
              <a:lnSpc>
                <a:spcPct val="90000"/>
              </a:lnSpc>
              <a:spcBef>
                <a:spcPts val="1000"/>
              </a:spcBef>
            </a:pPr>
            <a:r>
              <a:rPr lang="en-US" sz="2000" kern="1200" dirty="0">
                <a:solidFill>
                  <a:schemeClr val="tx1"/>
                </a:solidFill>
                <a:latin typeface="+mn-lt"/>
                <a:ea typeface="+mn-ea"/>
                <a:cs typeface="+mn-cs"/>
              </a:rPr>
              <a:t>DFS would start exploring one path from the entrance and continue going deeper and deeper until it reaches a dead-end or the exit. If it reaches a dead-end, it backtracks to the most recent decision point and explores another path.</a:t>
            </a:r>
          </a:p>
          <a:p>
            <a:pPr>
              <a:lnSpc>
                <a:spcPct val="90000"/>
              </a:lnSpc>
              <a:spcBef>
                <a:spcPts val="1000"/>
              </a:spcBef>
            </a:pPr>
            <a:r>
              <a:rPr lang="en-US" sz="2000" kern="1200" dirty="0">
                <a:solidFill>
                  <a:schemeClr val="tx1"/>
                </a:solidFill>
                <a:latin typeface="+mn-lt"/>
                <a:ea typeface="+mn-ea"/>
                <a:cs typeface="+mn-cs"/>
              </a:rPr>
              <a:t>DFS does not guarantee the shortest path and may get stuck in infinite loops if the search space contains cycles.</a:t>
            </a:r>
          </a:p>
        </p:txBody>
      </p:sp>
      <p:cxnSp>
        <p:nvCxnSpPr>
          <p:cNvPr id="12" name="Straight Connector 11">
            <a:extLst>
              <a:ext uri="{FF2B5EF4-FFF2-40B4-BE49-F238E27FC236}">
                <a16:creationId xmlns:a16="http://schemas.microsoft.com/office/drawing/2014/main" id="{522632D6-DED9-FDEC-FD9F-09FF0A4544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399815" y="403477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D8856D6-15BD-30A9-4DD2-086351B79089}"/>
              </a:ext>
            </a:extLst>
          </p:cNvPr>
          <p:cNvSpPr txBox="1"/>
          <p:nvPr/>
        </p:nvSpPr>
        <p:spPr>
          <a:xfrm>
            <a:off x="957297" y="1232449"/>
            <a:ext cx="7441666" cy="1631216"/>
          </a:xfrm>
          <a:prstGeom prst="rect">
            <a:avLst/>
          </a:prstGeom>
          <a:noFill/>
        </p:spPr>
        <p:txBody>
          <a:bodyPr wrap="square" rtlCol="0">
            <a:spAutoFit/>
          </a:bodyPr>
          <a:lstStyle/>
          <a:p>
            <a:pPr>
              <a:spcAft>
                <a:spcPts val="600"/>
              </a:spcAft>
            </a:pPr>
            <a:r>
              <a:rPr lang="en-US" sz="2000" dirty="0"/>
              <a:t>DFS explores the search space by traversing as far as possible along a branch before backtracking. It goes as deep as possible along each branch before exploring other branches. DFS may not find the shortest path to the goal and can get stuck in infinite loops in the presence of cycles.</a:t>
            </a:r>
          </a:p>
        </p:txBody>
      </p:sp>
    </p:spTree>
    <p:extLst>
      <p:ext uri="{BB962C8B-B14F-4D97-AF65-F5344CB8AC3E}">
        <p14:creationId xmlns:p14="http://schemas.microsoft.com/office/powerpoint/2010/main" val="42108311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FF4DA9-14F4-336B-E600-56A103453383}"/>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C809B68-FA1E-38F9-CD4E-5F3CFA3E9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56F947E-9671-FFB7-DD5A-41A41F20F0BF}"/>
              </a:ext>
            </a:extLst>
          </p:cNvPr>
          <p:cNvSpPr txBox="1"/>
          <p:nvPr/>
        </p:nvSpPr>
        <p:spPr>
          <a:xfrm>
            <a:off x="838200" y="184805"/>
            <a:ext cx="10515600" cy="150588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200" dirty="0">
                <a:latin typeface="+mj-lt"/>
                <a:ea typeface="+mj-ea"/>
                <a:cs typeface="+mj-cs"/>
              </a:rPr>
              <a:t>Depth</a:t>
            </a:r>
            <a:r>
              <a:rPr lang="en-US" sz="5200" kern="1200" dirty="0">
                <a:solidFill>
                  <a:schemeClr val="tx1"/>
                </a:solidFill>
                <a:latin typeface="+mj-lt"/>
                <a:ea typeface="+mj-ea"/>
                <a:cs typeface="+mj-cs"/>
              </a:rPr>
              <a:t>-First Search (BFS)</a:t>
            </a:r>
          </a:p>
        </p:txBody>
      </p:sp>
      <p:sp>
        <p:nvSpPr>
          <p:cNvPr id="5" name="Oval 4">
            <a:extLst>
              <a:ext uri="{FF2B5EF4-FFF2-40B4-BE49-F238E27FC236}">
                <a16:creationId xmlns:a16="http://schemas.microsoft.com/office/drawing/2014/main" id="{0309AAB5-448B-AEA0-BFA2-0C917B01D270}"/>
              </a:ext>
            </a:extLst>
          </p:cNvPr>
          <p:cNvSpPr/>
          <p:nvPr/>
        </p:nvSpPr>
        <p:spPr>
          <a:xfrm>
            <a:off x="1139761" y="3214687"/>
            <a:ext cx="428625"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Oval 5">
            <a:extLst>
              <a:ext uri="{FF2B5EF4-FFF2-40B4-BE49-F238E27FC236}">
                <a16:creationId xmlns:a16="http://schemas.microsoft.com/office/drawing/2014/main" id="{7E430069-A845-5A6B-D22C-68063C61271B}"/>
              </a:ext>
            </a:extLst>
          </p:cNvPr>
          <p:cNvSpPr/>
          <p:nvPr/>
        </p:nvSpPr>
        <p:spPr>
          <a:xfrm>
            <a:off x="2847974" y="4464842"/>
            <a:ext cx="428625"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 name="Oval 6">
            <a:extLst>
              <a:ext uri="{FF2B5EF4-FFF2-40B4-BE49-F238E27FC236}">
                <a16:creationId xmlns:a16="http://schemas.microsoft.com/office/drawing/2014/main" id="{F74FF84F-8972-036E-9235-2F13AAA4B2E0}"/>
              </a:ext>
            </a:extLst>
          </p:cNvPr>
          <p:cNvSpPr/>
          <p:nvPr/>
        </p:nvSpPr>
        <p:spPr>
          <a:xfrm>
            <a:off x="2847975" y="1955006"/>
            <a:ext cx="428625"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8" name="Oval 7">
            <a:extLst>
              <a:ext uri="{FF2B5EF4-FFF2-40B4-BE49-F238E27FC236}">
                <a16:creationId xmlns:a16="http://schemas.microsoft.com/office/drawing/2014/main" id="{701990FC-F9FE-BBBE-3FBF-30CC565E891D}"/>
              </a:ext>
            </a:extLst>
          </p:cNvPr>
          <p:cNvSpPr/>
          <p:nvPr/>
        </p:nvSpPr>
        <p:spPr>
          <a:xfrm>
            <a:off x="4752975" y="3000375"/>
            <a:ext cx="428625"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9" name="Oval 8">
            <a:extLst>
              <a:ext uri="{FF2B5EF4-FFF2-40B4-BE49-F238E27FC236}">
                <a16:creationId xmlns:a16="http://schemas.microsoft.com/office/drawing/2014/main" id="{B5D50BCB-6F9B-21DB-EC89-9458E5FB4D31}"/>
              </a:ext>
            </a:extLst>
          </p:cNvPr>
          <p:cNvSpPr/>
          <p:nvPr/>
        </p:nvSpPr>
        <p:spPr>
          <a:xfrm>
            <a:off x="5261038" y="5036344"/>
            <a:ext cx="428625"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0" name="Oval 9">
            <a:extLst>
              <a:ext uri="{FF2B5EF4-FFF2-40B4-BE49-F238E27FC236}">
                <a16:creationId xmlns:a16="http://schemas.microsoft.com/office/drawing/2014/main" id="{86705058-8B3C-9B40-F013-A520ECBBBE99}"/>
              </a:ext>
            </a:extLst>
          </p:cNvPr>
          <p:cNvSpPr/>
          <p:nvPr/>
        </p:nvSpPr>
        <p:spPr>
          <a:xfrm>
            <a:off x="6308788" y="2169318"/>
            <a:ext cx="428625"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 name="Oval 10">
            <a:extLst>
              <a:ext uri="{FF2B5EF4-FFF2-40B4-BE49-F238E27FC236}">
                <a16:creationId xmlns:a16="http://schemas.microsoft.com/office/drawing/2014/main" id="{E38D925F-4B57-E158-18D1-2095FD9BD06B}"/>
              </a:ext>
            </a:extLst>
          </p:cNvPr>
          <p:cNvSpPr/>
          <p:nvPr/>
        </p:nvSpPr>
        <p:spPr>
          <a:xfrm>
            <a:off x="7480363" y="3839764"/>
            <a:ext cx="428625" cy="428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cxnSp>
        <p:nvCxnSpPr>
          <p:cNvPr id="14" name="Straight Arrow Connector 13">
            <a:extLst>
              <a:ext uri="{FF2B5EF4-FFF2-40B4-BE49-F238E27FC236}">
                <a16:creationId xmlns:a16="http://schemas.microsoft.com/office/drawing/2014/main" id="{46A1E10E-2017-75B1-DDED-89A974F28547}"/>
              </a:ext>
            </a:extLst>
          </p:cNvPr>
          <p:cNvCxnSpPr>
            <a:cxnSpLocks/>
            <a:stCxn id="5" idx="7"/>
            <a:endCxn id="7" idx="3"/>
          </p:cNvCxnSpPr>
          <p:nvPr/>
        </p:nvCxnSpPr>
        <p:spPr>
          <a:xfrm flipV="1">
            <a:off x="1505615" y="2320860"/>
            <a:ext cx="1405131" cy="9565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776E6FEF-6512-E356-0FC3-636F505C75D9}"/>
              </a:ext>
            </a:extLst>
          </p:cNvPr>
          <p:cNvCxnSpPr>
            <a:cxnSpLocks/>
            <a:stCxn id="5" idx="5"/>
            <a:endCxn id="6" idx="1"/>
          </p:cNvCxnSpPr>
          <p:nvPr/>
        </p:nvCxnSpPr>
        <p:spPr>
          <a:xfrm>
            <a:off x="1505615" y="3580541"/>
            <a:ext cx="1405130" cy="9470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953DA7EB-FEDE-7441-7099-5AB081B6BDB7}"/>
              </a:ext>
            </a:extLst>
          </p:cNvPr>
          <p:cNvCxnSpPr>
            <a:cxnSpLocks/>
            <a:stCxn id="6" idx="6"/>
            <a:endCxn id="9" idx="2"/>
          </p:cNvCxnSpPr>
          <p:nvPr/>
        </p:nvCxnSpPr>
        <p:spPr>
          <a:xfrm>
            <a:off x="3276599" y="4679155"/>
            <a:ext cx="1984439" cy="5715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FE993309-382C-2A88-5BB5-3578790F4D50}"/>
              </a:ext>
            </a:extLst>
          </p:cNvPr>
          <p:cNvCxnSpPr>
            <a:cxnSpLocks/>
            <a:stCxn id="6" idx="7"/>
            <a:endCxn id="8" idx="3"/>
          </p:cNvCxnSpPr>
          <p:nvPr/>
        </p:nvCxnSpPr>
        <p:spPr>
          <a:xfrm flipV="1">
            <a:off x="3213828" y="3366229"/>
            <a:ext cx="1601918" cy="11613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906064BB-8019-9360-D338-1F63FBA55F84}"/>
              </a:ext>
            </a:extLst>
          </p:cNvPr>
          <p:cNvCxnSpPr>
            <a:cxnSpLocks/>
            <a:stCxn id="7" idx="5"/>
            <a:endCxn id="8" idx="1"/>
          </p:cNvCxnSpPr>
          <p:nvPr/>
        </p:nvCxnSpPr>
        <p:spPr>
          <a:xfrm>
            <a:off x="3213829" y="2320860"/>
            <a:ext cx="1601917" cy="7422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F43A4ED7-73D6-91BA-1A56-AA02BE270365}"/>
              </a:ext>
            </a:extLst>
          </p:cNvPr>
          <p:cNvCxnSpPr>
            <a:cxnSpLocks/>
            <a:stCxn id="8" idx="6"/>
            <a:endCxn id="10" idx="3"/>
          </p:cNvCxnSpPr>
          <p:nvPr/>
        </p:nvCxnSpPr>
        <p:spPr>
          <a:xfrm flipV="1">
            <a:off x="5181600" y="2535172"/>
            <a:ext cx="1189959" cy="6795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3F366692-20E0-5B05-9F51-143278591673}"/>
              </a:ext>
            </a:extLst>
          </p:cNvPr>
          <p:cNvCxnSpPr>
            <a:cxnSpLocks/>
            <a:stCxn id="8" idx="5"/>
            <a:endCxn id="11" idx="2"/>
          </p:cNvCxnSpPr>
          <p:nvPr/>
        </p:nvCxnSpPr>
        <p:spPr>
          <a:xfrm>
            <a:off x="5118829" y="3366229"/>
            <a:ext cx="2361534" cy="6878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8537EEF7-6E97-1DB2-B8BB-5D284AB222F9}"/>
              </a:ext>
            </a:extLst>
          </p:cNvPr>
          <p:cNvCxnSpPr>
            <a:cxnSpLocks/>
            <a:stCxn id="10" idx="5"/>
            <a:endCxn id="11" idx="0"/>
          </p:cNvCxnSpPr>
          <p:nvPr/>
        </p:nvCxnSpPr>
        <p:spPr>
          <a:xfrm>
            <a:off x="6674642" y="2535172"/>
            <a:ext cx="1020034" cy="13045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60459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E3D02C-47B5-9734-35B5-DE28B60FB21F}"/>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0483ADC-F26E-C7E3-DFCB-97F6E92EBF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DCF1757-E044-3132-EB99-A9CA9423490D}"/>
              </a:ext>
            </a:extLst>
          </p:cNvPr>
          <p:cNvSpPr txBox="1"/>
          <p:nvPr/>
        </p:nvSpPr>
        <p:spPr>
          <a:xfrm>
            <a:off x="838200" y="184805"/>
            <a:ext cx="10515600" cy="150588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200" kern="1200" dirty="0">
                <a:solidFill>
                  <a:schemeClr val="tx1"/>
                </a:solidFill>
                <a:latin typeface="+mj-lt"/>
                <a:ea typeface="+mj-ea"/>
                <a:cs typeface="+mj-cs"/>
              </a:rPr>
              <a:t>Uniform-Cost Search (UCS)</a:t>
            </a:r>
          </a:p>
        </p:txBody>
      </p:sp>
      <p:sp>
        <p:nvSpPr>
          <p:cNvPr id="2" name="TextBox 1">
            <a:extLst>
              <a:ext uri="{FF2B5EF4-FFF2-40B4-BE49-F238E27FC236}">
                <a16:creationId xmlns:a16="http://schemas.microsoft.com/office/drawing/2014/main" id="{66376DDE-6B71-5E30-8579-E3D968BA4BA4}"/>
              </a:ext>
            </a:extLst>
          </p:cNvPr>
          <p:cNvSpPr txBox="1"/>
          <p:nvPr/>
        </p:nvSpPr>
        <p:spPr>
          <a:xfrm>
            <a:off x="838200" y="1844675"/>
            <a:ext cx="3441700" cy="4449763"/>
          </a:xfrm>
          <a:prstGeom prst="rect">
            <a:avLst/>
          </a:prstGeom>
          <a:noFill/>
        </p:spPr>
        <p:txBody>
          <a:bodyPr wrap="square" rtlCol="0" anchor="t">
            <a:normAutofit/>
          </a:bodyPr>
          <a:lstStyle/>
          <a:p>
            <a:pPr marL="457200" indent="-457200">
              <a:lnSpc>
                <a:spcPct val="90000"/>
              </a:lnSpc>
              <a:spcAft>
                <a:spcPts val="600"/>
              </a:spcAft>
              <a:buFont typeface="Arial" panose="020B0604020202020204" pitchFamily="34" charset="0"/>
              <a:buChar char="•"/>
            </a:pPr>
            <a:r>
              <a:rPr lang="en-US" sz="2600" dirty="0"/>
              <a:t>search algorithm used to find the lowest-cost path from a starting point to a goal state in a weighted graph</a:t>
            </a:r>
          </a:p>
        </p:txBody>
      </p:sp>
      <p:sp>
        <p:nvSpPr>
          <p:cNvPr id="3" name="TextBox 2">
            <a:extLst>
              <a:ext uri="{FF2B5EF4-FFF2-40B4-BE49-F238E27FC236}">
                <a16:creationId xmlns:a16="http://schemas.microsoft.com/office/drawing/2014/main" id="{2F4B9719-F2B8-BF53-E6E5-A949322B8C03}"/>
              </a:ext>
            </a:extLst>
          </p:cNvPr>
          <p:cNvSpPr txBox="1"/>
          <p:nvPr/>
        </p:nvSpPr>
        <p:spPr>
          <a:xfrm>
            <a:off x="4349750" y="1844675"/>
            <a:ext cx="6999288" cy="4449763"/>
          </a:xfrm>
          <a:prstGeom prst="rect">
            <a:avLst/>
          </a:prstGeom>
          <a:noFill/>
        </p:spPr>
        <p:txBody>
          <a:bodyPr wrap="square" rtlCol="0" anchor="t">
            <a:normAutofit/>
          </a:bodyPr>
          <a:lstStyle/>
          <a:p>
            <a:pPr>
              <a:lnSpc>
                <a:spcPct val="90000"/>
              </a:lnSpc>
              <a:spcAft>
                <a:spcPts val="600"/>
              </a:spcAft>
            </a:pPr>
            <a:r>
              <a:rPr lang="en-US" sz="2200" b="1" dirty="0"/>
              <a:t>Example</a:t>
            </a:r>
          </a:p>
          <a:p>
            <a:pPr>
              <a:lnSpc>
                <a:spcPct val="90000"/>
              </a:lnSpc>
              <a:spcAft>
                <a:spcPts val="600"/>
              </a:spcAft>
            </a:pPr>
            <a:r>
              <a:rPr lang="en-US" sz="2200" dirty="0"/>
              <a:t>Consider a simple graph representing a network of cities connected by roads. You want to find the shortest path from one city to another.</a:t>
            </a:r>
          </a:p>
          <a:p>
            <a:pPr>
              <a:lnSpc>
                <a:spcPct val="90000"/>
              </a:lnSpc>
              <a:spcAft>
                <a:spcPts val="600"/>
              </a:spcAft>
            </a:pPr>
            <a:endParaRPr lang="en-US" sz="2200" dirty="0"/>
          </a:p>
          <a:p>
            <a:pPr>
              <a:lnSpc>
                <a:spcPct val="90000"/>
              </a:lnSpc>
              <a:spcAft>
                <a:spcPts val="600"/>
              </a:spcAft>
            </a:pPr>
            <a:r>
              <a:rPr lang="en-US" sz="2200" b="1" dirty="0"/>
              <a:t>How it works?</a:t>
            </a:r>
          </a:p>
          <a:p>
            <a:pPr marL="342900" indent="-342900">
              <a:lnSpc>
                <a:spcPct val="90000"/>
              </a:lnSpc>
              <a:spcAft>
                <a:spcPts val="600"/>
              </a:spcAft>
              <a:buFont typeface="Arial" panose="020B0604020202020204" pitchFamily="34" charset="0"/>
              <a:buChar char="•"/>
            </a:pPr>
            <a:r>
              <a:rPr lang="en-US" sz="2200" dirty="0"/>
              <a:t>BFS would start from the initial city and explore all neighboring cities first before moving to the next level of cities. It continues this process until it finds the destination city.</a:t>
            </a:r>
          </a:p>
          <a:p>
            <a:pPr marL="342900" indent="-342900">
              <a:lnSpc>
                <a:spcPct val="90000"/>
              </a:lnSpc>
              <a:spcAft>
                <a:spcPts val="600"/>
              </a:spcAft>
              <a:buFont typeface="Arial" panose="020B0604020202020204" pitchFamily="34" charset="0"/>
              <a:buChar char="•"/>
            </a:pPr>
            <a:r>
              <a:rPr lang="en-US" sz="2200" dirty="0"/>
              <a:t>BFS guarantees the shortest path between the initial and destination cities in terms of the number of edges traversed.</a:t>
            </a:r>
          </a:p>
        </p:txBody>
      </p:sp>
    </p:spTree>
    <p:extLst>
      <p:ext uri="{BB962C8B-B14F-4D97-AF65-F5344CB8AC3E}">
        <p14:creationId xmlns:p14="http://schemas.microsoft.com/office/powerpoint/2010/main" val="28888277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5B3095-6596-51F5-9324-66A03DFF00E8}"/>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2B0BA22-AEDC-270F-E20D-FBF50E384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EA63529-FDDD-132D-4E43-52E05BCB9E2A}"/>
              </a:ext>
            </a:extLst>
          </p:cNvPr>
          <p:cNvSpPr txBox="1"/>
          <p:nvPr/>
        </p:nvSpPr>
        <p:spPr>
          <a:xfrm>
            <a:off x="838200" y="184805"/>
            <a:ext cx="10515600" cy="150588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200" kern="1200" dirty="0">
                <a:solidFill>
                  <a:schemeClr val="tx1"/>
                </a:solidFill>
                <a:latin typeface="+mj-lt"/>
                <a:ea typeface="+mj-ea"/>
                <a:cs typeface="+mj-cs"/>
              </a:rPr>
              <a:t>Uniform-Cost Search (UCS)</a:t>
            </a:r>
          </a:p>
        </p:txBody>
      </p:sp>
      <p:sp>
        <p:nvSpPr>
          <p:cNvPr id="2" name="TextBox 1">
            <a:extLst>
              <a:ext uri="{FF2B5EF4-FFF2-40B4-BE49-F238E27FC236}">
                <a16:creationId xmlns:a16="http://schemas.microsoft.com/office/drawing/2014/main" id="{C9665E1E-69B2-60E6-ACC3-497551552DA8}"/>
              </a:ext>
            </a:extLst>
          </p:cNvPr>
          <p:cNvSpPr txBox="1"/>
          <p:nvPr/>
        </p:nvSpPr>
        <p:spPr>
          <a:xfrm>
            <a:off x="838200" y="1844675"/>
            <a:ext cx="9734550" cy="4449763"/>
          </a:xfrm>
          <a:prstGeom prst="rect">
            <a:avLst/>
          </a:prstGeom>
          <a:noFill/>
        </p:spPr>
        <p:txBody>
          <a:bodyPr wrap="square" rtlCol="0" anchor="t">
            <a:normAutofit/>
          </a:bodyPr>
          <a:lstStyle/>
          <a:p>
            <a:pPr marL="457200" indent="-457200">
              <a:lnSpc>
                <a:spcPct val="90000"/>
              </a:lnSpc>
              <a:spcAft>
                <a:spcPts val="600"/>
              </a:spcAft>
              <a:buFont typeface="Arial" panose="020B0604020202020204" pitchFamily="34" charset="0"/>
              <a:buChar char="•"/>
            </a:pPr>
            <a:r>
              <a:rPr lang="en-US" sz="2600" dirty="0"/>
              <a:t>Search algorithm used to find the lowest-cost path from a starting point to a goal state in a weighted graph.</a:t>
            </a:r>
          </a:p>
          <a:p>
            <a:pPr marL="457200" indent="-457200">
              <a:lnSpc>
                <a:spcPct val="90000"/>
              </a:lnSpc>
              <a:spcAft>
                <a:spcPts val="600"/>
              </a:spcAft>
              <a:buFont typeface="Arial" panose="020B0604020202020204" pitchFamily="34" charset="0"/>
              <a:buChar char="•"/>
            </a:pPr>
            <a:r>
              <a:rPr lang="en-US" sz="2600" dirty="0"/>
              <a:t> UCS explores the graph by expanding nodes with the lowest path cost from the start node. It gradually builds the solution by considering paths with increasing costs, ensuring that it finds the lowest-cost path to the goal.</a:t>
            </a:r>
          </a:p>
          <a:p>
            <a:pPr marL="457200" indent="-457200">
              <a:lnSpc>
                <a:spcPct val="90000"/>
              </a:lnSpc>
              <a:spcAft>
                <a:spcPts val="600"/>
              </a:spcAft>
              <a:buFont typeface="Arial" panose="020B0604020202020204" pitchFamily="34" charset="0"/>
              <a:buChar char="•"/>
            </a:pPr>
            <a:endParaRPr lang="en-US" sz="2600" dirty="0"/>
          </a:p>
        </p:txBody>
      </p:sp>
    </p:spTree>
    <p:extLst>
      <p:ext uri="{BB962C8B-B14F-4D97-AF65-F5344CB8AC3E}">
        <p14:creationId xmlns:p14="http://schemas.microsoft.com/office/powerpoint/2010/main" val="2703499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7F0F8A-1ECD-034F-90CB-8C19628EAF49}"/>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12B946C-737D-4DE5-97C0-C0BFC22D5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3EE982A-297C-5879-9F42-FC14B45CFDE2}"/>
              </a:ext>
            </a:extLst>
          </p:cNvPr>
          <p:cNvSpPr txBox="1"/>
          <p:nvPr/>
        </p:nvSpPr>
        <p:spPr>
          <a:xfrm>
            <a:off x="838200" y="184805"/>
            <a:ext cx="10515600" cy="150588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200" kern="1200" dirty="0">
                <a:solidFill>
                  <a:schemeClr val="tx1"/>
                </a:solidFill>
                <a:latin typeface="+mj-lt"/>
                <a:ea typeface="+mj-ea"/>
                <a:cs typeface="+mj-cs"/>
              </a:rPr>
              <a:t>Uniform-Cost Search (UCS)</a:t>
            </a:r>
          </a:p>
        </p:txBody>
      </p:sp>
      <p:sp>
        <p:nvSpPr>
          <p:cNvPr id="2" name="TextBox 1">
            <a:extLst>
              <a:ext uri="{FF2B5EF4-FFF2-40B4-BE49-F238E27FC236}">
                <a16:creationId xmlns:a16="http://schemas.microsoft.com/office/drawing/2014/main" id="{60E136FC-D04F-0ECD-F6ED-383812BB1B66}"/>
              </a:ext>
            </a:extLst>
          </p:cNvPr>
          <p:cNvSpPr txBox="1"/>
          <p:nvPr/>
        </p:nvSpPr>
        <p:spPr>
          <a:xfrm>
            <a:off x="838200" y="1844675"/>
            <a:ext cx="9734550" cy="4449763"/>
          </a:xfrm>
          <a:prstGeom prst="rect">
            <a:avLst/>
          </a:prstGeom>
          <a:noFill/>
        </p:spPr>
        <p:txBody>
          <a:bodyPr wrap="square" rtlCol="0" anchor="t">
            <a:normAutofit/>
          </a:bodyPr>
          <a:lstStyle/>
          <a:p>
            <a:pPr>
              <a:lnSpc>
                <a:spcPct val="90000"/>
              </a:lnSpc>
              <a:spcAft>
                <a:spcPts val="600"/>
              </a:spcAft>
            </a:pPr>
            <a:r>
              <a:rPr lang="en-US" sz="2600" b="1" dirty="0"/>
              <a:t>Example:  </a:t>
            </a:r>
            <a:r>
              <a:rPr lang="en-US" sz="2600" dirty="0"/>
              <a:t>Consider a map where nodes represent cities and edges represent roads with associated travel costs. UCS would find the lowest-cost route from one city to another, considering the cost of each road segment.</a:t>
            </a:r>
          </a:p>
        </p:txBody>
      </p:sp>
    </p:spTree>
    <p:extLst>
      <p:ext uri="{BB962C8B-B14F-4D97-AF65-F5344CB8AC3E}">
        <p14:creationId xmlns:p14="http://schemas.microsoft.com/office/powerpoint/2010/main" val="33722567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3031</TotalTime>
  <Words>1649</Words>
  <Application>Microsoft Office PowerPoint</Application>
  <PresentationFormat>Widescreen</PresentationFormat>
  <Paragraphs>164</Paragraphs>
  <Slides>16</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Söhne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Isaac Makosa</dc:creator>
  <cp:lastModifiedBy>Indongo, Naftali</cp:lastModifiedBy>
  <cp:revision>9</cp:revision>
  <dcterms:created xsi:type="dcterms:W3CDTF">2024-02-19T07:04:00Z</dcterms:created>
  <dcterms:modified xsi:type="dcterms:W3CDTF">2025-03-17T07:08:16Z</dcterms:modified>
</cp:coreProperties>
</file>