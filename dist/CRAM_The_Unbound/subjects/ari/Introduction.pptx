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74" r:id="rId3"/>
    <p:sldId id="257" r:id="rId4"/>
    <p:sldId id="258" r:id="rId5"/>
    <p:sldId id="259" r:id="rId6"/>
    <p:sldId id="260" r:id="rId7"/>
    <p:sldId id="261" r:id="rId8"/>
    <p:sldId id="262" r:id="rId9"/>
    <p:sldId id="263" r:id="rId10"/>
    <p:sldId id="264" r:id="rId11"/>
    <p:sldId id="265" r:id="rId12"/>
    <p:sldId id="266" r:id="rId13"/>
    <p:sldId id="267"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472" autoAdjust="0"/>
  </p:normalViewPr>
  <p:slideViewPr>
    <p:cSldViewPr snapToGrid="0">
      <p:cViewPr varScale="1">
        <p:scale>
          <a:sx n="101" d="100"/>
          <a:sy n="101" d="100"/>
        </p:scale>
        <p:origin x="95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DC7DEC-8257-449D-ACA5-2C49175089EF}" type="datetimeFigureOut">
              <a:rPr lang="en-US" smtClean="0"/>
              <a:t>2/28/2024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74403E-3E46-4469-BEC1-3A2F9E093A02}" type="slidenum">
              <a:rPr lang="en-US" smtClean="0"/>
              <a:t>‹#›</a:t>
            </a:fld>
            <a:endParaRPr lang="en-US"/>
          </a:p>
        </p:txBody>
      </p:sp>
    </p:spTree>
    <p:extLst>
      <p:ext uri="{BB962C8B-B14F-4D97-AF65-F5344CB8AC3E}">
        <p14:creationId xmlns:p14="http://schemas.microsoft.com/office/powerpoint/2010/main" val="33924298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D1217-3A08-4422-A71F-A9D5E2CB811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1CF49DE-ECA7-5D9D-2646-53551E4FCC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7288D64-F0EA-CE63-D9CD-1A5A6B7ED4E3}"/>
              </a:ext>
            </a:extLst>
          </p:cNvPr>
          <p:cNvSpPr>
            <a:spLocks noGrp="1"/>
          </p:cNvSpPr>
          <p:nvPr>
            <p:ph type="dt" sz="half" idx="10"/>
          </p:nvPr>
        </p:nvSpPr>
        <p:spPr/>
        <p:txBody>
          <a:bodyPr/>
          <a:lstStyle/>
          <a:p>
            <a:fld id="{4A4EA48D-45F1-4D63-BEAE-7F1781564377}" type="datetimeFigureOut">
              <a:rPr lang="en-US" smtClean="0"/>
              <a:t>2/28/2024</a:t>
            </a:fld>
            <a:endParaRPr lang="en-US"/>
          </a:p>
        </p:txBody>
      </p:sp>
      <p:sp>
        <p:nvSpPr>
          <p:cNvPr id="5" name="Footer Placeholder 4">
            <a:extLst>
              <a:ext uri="{FF2B5EF4-FFF2-40B4-BE49-F238E27FC236}">
                <a16:creationId xmlns:a16="http://schemas.microsoft.com/office/drawing/2014/main" id="{A0E655E4-57F8-5B35-6649-0E223B33E0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453FCF-6E79-2574-F90A-DCA460C846D0}"/>
              </a:ext>
            </a:extLst>
          </p:cNvPr>
          <p:cNvSpPr>
            <a:spLocks noGrp="1"/>
          </p:cNvSpPr>
          <p:nvPr>
            <p:ph type="sldNum" sz="quarter" idx="12"/>
          </p:nvPr>
        </p:nvSpPr>
        <p:spPr/>
        <p:txBody>
          <a:bodyPr/>
          <a:lstStyle/>
          <a:p>
            <a:fld id="{B79E998A-ACE4-45A6-8B0E-EA153284DC58}" type="slidenum">
              <a:rPr lang="en-US" smtClean="0"/>
              <a:t>‹#›</a:t>
            </a:fld>
            <a:endParaRPr lang="en-US"/>
          </a:p>
        </p:txBody>
      </p:sp>
    </p:spTree>
    <p:extLst>
      <p:ext uri="{BB962C8B-B14F-4D97-AF65-F5344CB8AC3E}">
        <p14:creationId xmlns:p14="http://schemas.microsoft.com/office/powerpoint/2010/main" val="18356130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887F4-CDA9-9299-7A7F-89B2CCC3F4E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DBFA758-6CA2-F242-5756-9B45FA25279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405BCC-941B-9C3D-9C4E-859C63DD64E4}"/>
              </a:ext>
            </a:extLst>
          </p:cNvPr>
          <p:cNvSpPr>
            <a:spLocks noGrp="1"/>
          </p:cNvSpPr>
          <p:nvPr>
            <p:ph type="dt" sz="half" idx="10"/>
          </p:nvPr>
        </p:nvSpPr>
        <p:spPr/>
        <p:txBody>
          <a:bodyPr/>
          <a:lstStyle/>
          <a:p>
            <a:fld id="{4A4EA48D-45F1-4D63-BEAE-7F1781564377}" type="datetimeFigureOut">
              <a:rPr lang="en-US" smtClean="0"/>
              <a:t>2/28/2024</a:t>
            </a:fld>
            <a:endParaRPr lang="en-US"/>
          </a:p>
        </p:txBody>
      </p:sp>
      <p:sp>
        <p:nvSpPr>
          <p:cNvPr id="5" name="Footer Placeholder 4">
            <a:extLst>
              <a:ext uri="{FF2B5EF4-FFF2-40B4-BE49-F238E27FC236}">
                <a16:creationId xmlns:a16="http://schemas.microsoft.com/office/drawing/2014/main" id="{5161E96A-6BFE-09F4-4D58-A8776E66EE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DEA744-12FB-62F3-5D77-0A691106F3BA}"/>
              </a:ext>
            </a:extLst>
          </p:cNvPr>
          <p:cNvSpPr>
            <a:spLocks noGrp="1"/>
          </p:cNvSpPr>
          <p:nvPr>
            <p:ph type="sldNum" sz="quarter" idx="12"/>
          </p:nvPr>
        </p:nvSpPr>
        <p:spPr/>
        <p:txBody>
          <a:bodyPr/>
          <a:lstStyle/>
          <a:p>
            <a:fld id="{B79E998A-ACE4-45A6-8B0E-EA153284DC58}" type="slidenum">
              <a:rPr lang="en-US" smtClean="0"/>
              <a:t>‹#›</a:t>
            </a:fld>
            <a:endParaRPr lang="en-US"/>
          </a:p>
        </p:txBody>
      </p:sp>
    </p:spTree>
    <p:extLst>
      <p:ext uri="{BB962C8B-B14F-4D97-AF65-F5344CB8AC3E}">
        <p14:creationId xmlns:p14="http://schemas.microsoft.com/office/powerpoint/2010/main" val="36607127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491DF-D90C-F58E-C431-D02186C06AD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A82E418-8D9E-8EE5-0AB4-A1BC0A49C41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45B4978-2BD8-79D4-2B4A-E6C0FA921E25}"/>
              </a:ext>
            </a:extLst>
          </p:cNvPr>
          <p:cNvSpPr>
            <a:spLocks noGrp="1"/>
          </p:cNvSpPr>
          <p:nvPr>
            <p:ph type="dt" sz="half" idx="10"/>
          </p:nvPr>
        </p:nvSpPr>
        <p:spPr/>
        <p:txBody>
          <a:bodyPr/>
          <a:lstStyle/>
          <a:p>
            <a:fld id="{4A4EA48D-45F1-4D63-BEAE-7F1781564377}" type="datetimeFigureOut">
              <a:rPr lang="en-US" smtClean="0"/>
              <a:t>2/28/2024</a:t>
            </a:fld>
            <a:endParaRPr lang="en-US"/>
          </a:p>
        </p:txBody>
      </p:sp>
      <p:sp>
        <p:nvSpPr>
          <p:cNvPr id="5" name="Footer Placeholder 4">
            <a:extLst>
              <a:ext uri="{FF2B5EF4-FFF2-40B4-BE49-F238E27FC236}">
                <a16:creationId xmlns:a16="http://schemas.microsoft.com/office/drawing/2014/main" id="{EFD9BA2E-8B9E-8F9D-051F-E86AA69CEF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0B0AB2-AB5A-DD5A-B4CF-66DDFF864F1B}"/>
              </a:ext>
            </a:extLst>
          </p:cNvPr>
          <p:cNvSpPr>
            <a:spLocks noGrp="1"/>
          </p:cNvSpPr>
          <p:nvPr>
            <p:ph type="sldNum" sz="quarter" idx="12"/>
          </p:nvPr>
        </p:nvSpPr>
        <p:spPr/>
        <p:txBody>
          <a:bodyPr/>
          <a:lstStyle/>
          <a:p>
            <a:fld id="{B79E998A-ACE4-45A6-8B0E-EA153284DC58}" type="slidenum">
              <a:rPr lang="en-US" smtClean="0"/>
              <a:t>‹#›</a:t>
            </a:fld>
            <a:endParaRPr lang="en-US"/>
          </a:p>
        </p:txBody>
      </p:sp>
    </p:spTree>
    <p:extLst>
      <p:ext uri="{BB962C8B-B14F-4D97-AF65-F5344CB8AC3E}">
        <p14:creationId xmlns:p14="http://schemas.microsoft.com/office/powerpoint/2010/main" val="37040502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3F364-EBA1-7546-2093-22B82BC38EB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94F657-7D8B-7049-8D24-6C747A16E89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318A0DB-B1E2-EBDD-2207-6B4D912E690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B47D91E-BD60-4316-8F5F-2E522E122BE9}"/>
              </a:ext>
            </a:extLst>
          </p:cNvPr>
          <p:cNvSpPr>
            <a:spLocks noGrp="1"/>
          </p:cNvSpPr>
          <p:nvPr>
            <p:ph type="dt" sz="half" idx="10"/>
          </p:nvPr>
        </p:nvSpPr>
        <p:spPr/>
        <p:txBody>
          <a:bodyPr/>
          <a:lstStyle/>
          <a:p>
            <a:fld id="{4A4EA48D-45F1-4D63-BEAE-7F1781564377}" type="datetimeFigureOut">
              <a:rPr lang="en-US" smtClean="0"/>
              <a:t>2/28/2024</a:t>
            </a:fld>
            <a:endParaRPr lang="en-US"/>
          </a:p>
        </p:txBody>
      </p:sp>
      <p:sp>
        <p:nvSpPr>
          <p:cNvPr id="6" name="Footer Placeholder 5">
            <a:extLst>
              <a:ext uri="{FF2B5EF4-FFF2-40B4-BE49-F238E27FC236}">
                <a16:creationId xmlns:a16="http://schemas.microsoft.com/office/drawing/2014/main" id="{0053A47A-EA1D-CF31-8927-C0E9E7355C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E23AAD-C50A-A034-BD92-3851FD642076}"/>
              </a:ext>
            </a:extLst>
          </p:cNvPr>
          <p:cNvSpPr>
            <a:spLocks noGrp="1"/>
          </p:cNvSpPr>
          <p:nvPr>
            <p:ph type="sldNum" sz="quarter" idx="12"/>
          </p:nvPr>
        </p:nvSpPr>
        <p:spPr/>
        <p:txBody>
          <a:bodyPr/>
          <a:lstStyle/>
          <a:p>
            <a:fld id="{B79E998A-ACE4-45A6-8B0E-EA153284DC58}" type="slidenum">
              <a:rPr lang="en-US" smtClean="0"/>
              <a:t>‹#›</a:t>
            </a:fld>
            <a:endParaRPr lang="en-US"/>
          </a:p>
        </p:txBody>
      </p:sp>
    </p:spTree>
    <p:extLst>
      <p:ext uri="{BB962C8B-B14F-4D97-AF65-F5344CB8AC3E}">
        <p14:creationId xmlns:p14="http://schemas.microsoft.com/office/powerpoint/2010/main" val="41302655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489EB-738F-AFEE-2473-6B0ABD7D9D3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E5B1FA0-96FC-EB7B-6235-70B81C7816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7AB453-8273-230B-1FB0-3051767B22D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EC1939F-5E2E-76FE-DE5E-699D8F670A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B60FA0-C0DA-AB1B-FF56-294ADEFBF8F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280BBAD-2B02-442B-64F9-C5042B70B52A}"/>
              </a:ext>
            </a:extLst>
          </p:cNvPr>
          <p:cNvSpPr>
            <a:spLocks noGrp="1"/>
          </p:cNvSpPr>
          <p:nvPr>
            <p:ph type="dt" sz="half" idx="10"/>
          </p:nvPr>
        </p:nvSpPr>
        <p:spPr/>
        <p:txBody>
          <a:bodyPr/>
          <a:lstStyle/>
          <a:p>
            <a:fld id="{4A4EA48D-45F1-4D63-BEAE-7F1781564377}" type="datetimeFigureOut">
              <a:rPr lang="en-US" smtClean="0"/>
              <a:t>2/28/2024</a:t>
            </a:fld>
            <a:endParaRPr lang="en-US"/>
          </a:p>
        </p:txBody>
      </p:sp>
      <p:sp>
        <p:nvSpPr>
          <p:cNvPr id="8" name="Footer Placeholder 7">
            <a:extLst>
              <a:ext uri="{FF2B5EF4-FFF2-40B4-BE49-F238E27FC236}">
                <a16:creationId xmlns:a16="http://schemas.microsoft.com/office/drawing/2014/main" id="{82AE5827-9A0D-7A9F-560D-A4210BD6342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AB2D842-D188-E870-1210-15A7667BA73B}"/>
              </a:ext>
            </a:extLst>
          </p:cNvPr>
          <p:cNvSpPr>
            <a:spLocks noGrp="1"/>
          </p:cNvSpPr>
          <p:nvPr>
            <p:ph type="sldNum" sz="quarter" idx="12"/>
          </p:nvPr>
        </p:nvSpPr>
        <p:spPr/>
        <p:txBody>
          <a:bodyPr/>
          <a:lstStyle/>
          <a:p>
            <a:fld id="{B79E998A-ACE4-45A6-8B0E-EA153284DC58}" type="slidenum">
              <a:rPr lang="en-US" smtClean="0"/>
              <a:t>‹#›</a:t>
            </a:fld>
            <a:endParaRPr lang="en-US"/>
          </a:p>
        </p:txBody>
      </p:sp>
    </p:spTree>
    <p:extLst>
      <p:ext uri="{BB962C8B-B14F-4D97-AF65-F5344CB8AC3E}">
        <p14:creationId xmlns:p14="http://schemas.microsoft.com/office/powerpoint/2010/main" val="12415094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EC321-9409-5829-5033-CC78957010C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7F44793-3749-CD51-68FB-CBA16D4CE2D5}"/>
              </a:ext>
            </a:extLst>
          </p:cNvPr>
          <p:cNvSpPr>
            <a:spLocks noGrp="1"/>
          </p:cNvSpPr>
          <p:nvPr>
            <p:ph type="dt" sz="half" idx="10"/>
          </p:nvPr>
        </p:nvSpPr>
        <p:spPr/>
        <p:txBody>
          <a:bodyPr/>
          <a:lstStyle/>
          <a:p>
            <a:fld id="{4A4EA48D-45F1-4D63-BEAE-7F1781564377}" type="datetimeFigureOut">
              <a:rPr lang="en-US" smtClean="0"/>
              <a:t>2/28/2024</a:t>
            </a:fld>
            <a:endParaRPr lang="en-US"/>
          </a:p>
        </p:txBody>
      </p:sp>
      <p:sp>
        <p:nvSpPr>
          <p:cNvPr id="4" name="Footer Placeholder 3">
            <a:extLst>
              <a:ext uri="{FF2B5EF4-FFF2-40B4-BE49-F238E27FC236}">
                <a16:creationId xmlns:a16="http://schemas.microsoft.com/office/drawing/2014/main" id="{E0658E09-0A69-DB37-391D-CB4EEA5FEE9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FC9C256-BA9A-C00E-72F6-40A144259A00}"/>
              </a:ext>
            </a:extLst>
          </p:cNvPr>
          <p:cNvSpPr>
            <a:spLocks noGrp="1"/>
          </p:cNvSpPr>
          <p:nvPr>
            <p:ph type="sldNum" sz="quarter" idx="12"/>
          </p:nvPr>
        </p:nvSpPr>
        <p:spPr/>
        <p:txBody>
          <a:bodyPr/>
          <a:lstStyle/>
          <a:p>
            <a:fld id="{B79E998A-ACE4-45A6-8B0E-EA153284DC58}" type="slidenum">
              <a:rPr lang="en-US" smtClean="0"/>
              <a:t>‹#›</a:t>
            </a:fld>
            <a:endParaRPr lang="en-US"/>
          </a:p>
        </p:txBody>
      </p:sp>
    </p:spTree>
    <p:extLst>
      <p:ext uri="{BB962C8B-B14F-4D97-AF65-F5344CB8AC3E}">
        <p14:creationId xmlns:p14="http://schemas.microsoft.com/office/powerpoint/2010/main" val="26728708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034C52-9B3E-75C2-988E-3C463F4B68F9}"/>
              </a:ext>
            </a:extLst>
          </p:cNvPr>
          <p:cNvSpPr>
            <a:spLocks noGrp="1"/>
          </p:cNvSpPr>
          <p:nvPr>
            <p:ph type="dt" sz="half" idx="10"/>
          </p:nvPr>
        </p:nvSpPr>
        <p:spPr/>
        <p:txBody>
          <a:bodyPr/>
          <a:lstStyle/>
          <a:p>
            <a:fld id="{4A4EA48D-45F1-4D63-BEAE-7F1781564377}" type="datetimeFigureOut">
              <a:rPr lang="en-US" smtClean="0"/>
              <a:t>2/28/2024</a:t>
            </a:fld>
            <a:endParaRPr lang="en-US"/>
          </a:p>
        </p:txBody>
      </p:sp>
      <p:sp>
        <p:nvSpPr>
          <p:cNvPr id="3" name="Footer Placeholder 2">
            <a:extLst>
              <a:ext uri="{FF2B5EF4-FFF2-40B4-BE49-F238E27FC236}">
                <a16:creationId xmlns:a16="http://schemas.microsoft.com/office/drawing/2014/main" id="{40B8B849-6A2F-35F5-6EA8-4DA2E9E53B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1AEF69C-E0C5-67D7-9FEE-070D615BFCED}"/>
              </a:ext>
            </a:extLst>
          </p:cNvPr>
          <p:cNvSpPr>
            <a:spLocks noGrp="1"/>
          </p:cNvSpPr>
          <p:nvPr>
            <p:ph type="sldNum" sz="quarter" idx="12"/>
          </p:nvPr>
        </p:nvSpPr>
        <p:spPr/>
        <p:txBody>
          <a:bodyPr/>
          <a:lstStyle/>
          <a:p>
            <a:fld id="{B79E998A-ACE4-45A6-8B0E-EA153284DC58}" type="slidenum">
              <a:rPr lang="en-US" smtClean="0"/>
              <a:t>‹#›</a:t>
            </a:fld>
            <a:endParaRPr lang="en-US"/>
          </a:p>
        </p:txBody>
      </p:sp>
    </p:spTree>
    <p:extLst>
      <p:ext uri="{BB962C8B-B14F-4D97-AF65-F5344CB8AC3E}">
        <p14:creationId xmlns:p14="http://schemas.microsoft.com/office/powerpoint/2010/main" val="41147022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3EBAF-D447-37A0-01F9-3BB2A3D626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5018B12-F001-A001-5203-B0B0B9D1F4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50F2C1B-4B56-9887-9F89-FABAB1E839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AA3189-51DB-F682-DE54-65532D4D7757}"/>
              </a:ext>
            </a:extLst>
          </p:cNvPr>
          <p:cNvSpPr>
            <a:spLocks noGrp="1"/>
          </p:cNvSpPr>
          <p:nvPr>
            <p:ph type="dt" sz="half" idx="10"/>
          </p:nvPr>
        </p:nvSpPr>
        <p:spPr/>
        <p:txBody>
          <a:bodyPr/>
          <a:lstStyle/>
          <a:p>
            <a:fld id="{4A4EA48D-45F1-4D63-BEAE-7F1781564377}" type="datetimeFigureOut">
              <a:rPr lang="en-US" smtClean="0"/>
              <a:t>2/28/2024</a:t>
            </a:fld>
            <a:endParaRPr lang="en-US"/>
          </a:p>
        </p:txBody>
      </p:sp>
      <p:sp>
        <p:nvSpPr>
          <p:cNvPr id="6" name="Footer Placeholder 5">
            <a:extLst>
              <a:ext uri="{FF2B5EF4-FFF2-40B4-BE49-F238E27FC236}">
                <a16:creationId xmlns:a16="http://schemas.microsoft.com/office/drawing/2014/main" id="{C77BE4C2-9480-88A9-811B-AF072E3313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950C8C-8DE1-58C1-32E5-C04B96715103}"/>
              </a:ext>
            </a:extLst>
          </p:cNvPr>
          <p:cNvSpPr>
            <a:spLocks noGrp="1"/>
          </p:cNvSpPr>
          <p:nvPr>
            <p:ph type="sldNum" sz="quarter" idx="12"/>
          </p:nvPr>
        </p:nvSpPr>
        <p:spPr/>
        <p:txBody>
          <a:bodyPr/>
          <a:lstStyle/>
          <a:p>
            <a:fld id="{B79E998A-ACE4-45A6-8B0E-EA153284DC58}" type="slidenum">
              <a:rPr lang="en-US" smtClean="0"/>
              <a:t>‹#›</a:t>
            </a:fld>
            <a:endParaRPr lang="en-US"/>
          </a:p>
        </p:txBody>
      </p:sp>
    </p:spTree>
    <p:extLst>
      <p:ext uri="{BB962C8B-B14F-4D97-AF65-F5344CB8AC3E}">
        <p14:creationId xmlns:p14="http://schemas.microsoft.com/office/powerpoint/2010/main" val="1175486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0729F-0C6C-73EC-90BD-C5CA1E910C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9E9B0C7-493A-4196-3CA3-C963FEF0ED6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2905EED-083E-C2B1-6A11-7F3224C206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B27119-0969-E76C-C08F-7EC9D332AA00}"/>
              </a:ext>
            </a:extLst>
          </p:cNvPr>
          <p:cNvSpPr>
            <a:spLocks noGrp="1"/>
          </p:cNvSpPr>
          <p:nvPr>
            <p:ph type="dt" sz="half" idx="10"/>
          </p:nvPr>
        </p:nvSpPr>
        <p:spPr/>
        <p:txBody>
          <a:bodyPr/>
          <a:lstStyle/>
          <a:p>
            <a:fld id="{4A4EA48D-45F1-4D63-BEAE-7F1781564377}" type="datetimeFigureOut">
              <a:rPr lang="en-US" smtClean="0"/>
              <a:t>2/28/2024</a:t>
            </a:fld>
            <a:endParaRPr lang="en-US"/>
          </a:p>
        </p:txBody>
      </p:sp>
      <p:sp>
        <p:nvSpPr>
          <p:cNvPr id="6" name="Footer Placeholder 5">
            <a:extLst>
              <a:ext uri="{FF2B5EF4-FFF2-40B4-BE49-F238E27FC236}">
                <a16:creationId xmlns:a16="http://schemas.microsoft.com/office/drawing/2014/main" id="{807FE66E-6558-90E3-E4C1-42AF6C78E4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D90D9B-31E1-FB5F-5404-F991C5203394}"/>
              </a:ext>
            </a:extLst>
          </p:cNvPr>
          <p:cNvSpPr>
            <a:spLocks noGrp="1"/>
          </p:cNvSpPr>
          <p:nvPr>
            <p:ph type="sldNum" sz="quarter" idx="12"/>
          </p:nvPr>
        </p:nvSpPr>
        <p:spPr/>
        <p:txBody>
          <a:bodyPr/>
          <a:lstStyle/>
          <a:p>
            <a:fld id="{B79E998A-ACE4-45A6-8B0E-EA153284DC58}" type="slidenum">
              <a:rPr lang="en-US" smtClean="0"/>
              <a:t>‹#›</a:t>
            </a:fld>
            <a:endParaRPr lang="en-US"/>
          </a:p>
        </p:txBody>
      </p:sp>
    </p:spTree>
    <p:extLst>
      <p:ext uri="{BB962C8B-B14F-4D97-AF65-F5344CB8AC3E}">
        <p14:creationId xmlns:p14="http://schemas.microsoft.com/office/powerpoint/2010/main" val="252544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913FD-EE0D-82A7-3DDC-C92AF12F6A7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30F838D-A704-733E-4597-9D9DBF079D4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439990-F008-4341-AE84-BC2A975AE549}"/>
              </a:ext>
            </a:extLst>
          </p:cNvPr>
          <p:cNvSpPr>
            <a:spLocks noGrp="1"/>
          </p:cNvSpPr>
          <p:nvPr>
            <p:ph type="dt" sz="half" idx="10"/>
          </p:nvPr>
        </p:nvSpPr>
        <p:spPr/>
        <p:txBody>
          <a:bodyPr/>
          <a:lstStyle/>
          <a:p>
            <a:fld id="{4A4EA48D-45F1-4D63-BEAE-7F1781564377}" type="datetimeFigureOut">
              <a:rPr lang="en-US" smtClean="0"/>
              <a:t>2/28/2024</a:t>
            </a:fld>
            <a:endParaRPr lang="en-US"/>
          </a:p>
        </p:txBody>
      </p:sp>
      <p:sp>
        <p:nvSpPr>
          <p:cNvPr id="5" name="Footer Placeholder 4">
            <a:extLst>
              <a:ext uri="{FF2B5EF4-FFF2-40B4-BE49-F238E27FC236}">
                <a16:creationId xmlns:a16="http://schemas.microsoft.com/office/drawing/2014/main" id="{68F439BE-496E-A6AA-75C8-E63C0252CF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F07216-FC2E-7B84-D0FD-DB09A77B06C9}"/>
              </a:ext>
            </a:extLst>
          </p:cNvPr>
          <p:cNvSpPr>
            <a:spLocks noGrp="1"/>
          </p:cNvSpPr>
          <p:nvPr>
            <p:ph type="sldNum" sz="quarter" idx="12"/>
          </p:nvPr>
        </p:nvSpPr>
        <p:spPr/>
        <p:txBody>
          <a:bodyPr/>
          <a:lstStyle/>
          <a:p>
            <a:fld id="{B79E998A-ACE4-45A6-8B0E-EA153284DC58}" type="slidenum">
              <a:rPr lang="en-US" smtClean="0"/>
              <a:t>‹#›</a:t>
            </a:fld>
            <a:endParaRPr lang="en-US"/>
          </a:p>
        </p:txBody>
      </p:sp>
    </p:spTree>
    <p:extLst>
      <p:ext uri="{BB962C8B-B14F-4D97-AF65-F5344CB8AC3E}">
        <p14:creationId xmlns:p14="http://schemas.microsoft.com/office/powerpoint/2010/main" val="4803277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B8A0AD-DD44-2786-4980-EF51BB62523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4EED352-6F4A-89DB-4D15-576D4F554D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512714-68CD-12B2-D1AC-FE4FA15B030F}"/>
              </a:ext>
            </a:extLst>
          </p:cNvPr>
          <p:cNvSpPr>
            <a:spLocks noGrp="1"/>
          </p:cNvSpPr>
          <p:nvPr>
            <p:ph type="dt" sz="half" idx="10"/>
          </p:nvPr>
        </p:nvSpPr>
        <p:spPr/>
        <p:txBody>
          <a:bodyPr/>
          <a:lstStyle/>
          <a:p>
            <a:fld id="{4A4EA48D-45F1-4D63-BEAE-7F1781564377}" type="datetimeFigureOut">
              <a:rPr lang="en-US" smtClean="0"/>
              <a:t>2/28/2024</a:t>
            </a:fld>
            <a:endParaRPr lang="en-US"/>
          </a:p>
        </p:txBody>
      </p:sp>
      <p:sp>
        <p:nvSpPr>
          <p:cNvPr id="5" name="Footer Placeholder 4">
            <a:extLst>
              <a:ext uri="{FF2B5EF4-FFF2-40B4-BE49-F238E27FC236}">
                <a16:creationId xmlns:a16="http://schemas.microsoft.com/office/drawing/2014/main" id="{820B0D98-054B-4F04-C860-01D550617B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28D5F8-B181-EEB4-5EB4-883695353647}"/>
              </a:ext>
            </a:extLst>
          </p:cNvPr>
          <p:cNvSpPr>
            <a:spLocks noGrp="1"/>
          </p:cNvSpPr>
          <p:nvPr>
            <p:ph type="sldNum" sz="quarter" idx="12"/>
          </p:nvPr>
        </p:nvSpPr>
        <p:spPr/>
        <p:txBody>
          <a:bodyPr/>
          <a:lstStyle/>
          <a:p>
            <a:fld id="{B79E998A-ACE4-45A6-8B0E-EA153284DC58}" type="slidenum">
              <a:rPr lang="en-US" smtClean="0"/>
              <a:t>‹#›</a:t>
            </a:fld>
            <a:endParaRPr lang="en-US"/>
          </a:p>
        </p:txBody>
      </p:sp>
    </p:spTree>
    <p:extLst>
      <p:ext uri="{BB962C8B-B14F-4D97-AF65-F5344CB8AC3E}">
        <p14:creationId xmlns:p14="http://schemas.microsoft.com/office/powerpoint/2010/main" val="4263565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9F31CA-6D0A-9A31-77E8-2F4996CBBA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2AA7E53-D4A5-B259-734C-09EE4FEF1B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190FBD-53DB-EF2D-3829-4F5C0485DCD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4EA48D-45F1-4D63-BEAE-7F1781564377}" type="datetimeFigureOut">
              <a:rPr lang="en-US" smtClean="0"/>
              <a:t>2/28/2024</a:t>
            </a:fld>
            <a:endParaRPr lang="en-US"/>
          </a:p>
        </p:txBody>
      </p:sp>
      <p:sp>
        <p:nvSpPr>
          <p:cNvPr id="5" name="Footer Placeholder 4">
            <a:extLst>
              <a:ext uri="{FF2B5EF4-FFF2-40B4-BE49-F238E27FC236}">
                <a16:creationId xmlns:a16="http://schemas.microsoft.com/office/drawing/2014/main" id="{5B837025-BD83-AB56-ACC2-A502387EEA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34F3E05-A2D1-418B-2918-736CD87614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9E998A-ACE4-45A6-8B0E-EA153284DC58}" type="slidenum">
              <a:rPr lang="en-US" smtClean="0"/>
              <a:t>‹#›</a:t>
            </a:fld>
            <a:endParaRPr lang="en-US"/>
          </a:p>
        </p:txBody>
      </p:sp>
    </p:spTree>
    <p:extLst>
      <p:ext uri="{BB962C8B-B14F-4D97-AF65-F5344CB8AC3E}">
        <p14:creationId xmlns:p14="http://schemas.microsoft.com/office/powerpoint/2010/main" val="36565617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70BE455-57BF-C57F-4071-9FC2716117D1}"/>
              </a:ext>
            </a:extLst>
          </p:cNvPr>
          <p:cNvSpPr txBox="1"/>
          <p:nvPr/>
        </p:nvSpPr>
        <p:spPr>
          <a:xfrm>
            <a:off x="1070686" y="2547259"/>
            <a:ext cx="10050628" cy="1107996"/>
          </a:xfrm>
          <a:prstGeom prst="rect">
            <a:avLst/>
          </a:prstGeom>
          <a:noFill/>
        </p:spPr>
        <p:txBody>
          <a:bodyPr wrap="square" rtlCol="0">
            <a:spAutoFit/>
          </a:bodyPr>
          <a:lstStyle/>
          <a:p>
            <a:pPr algn="ctr"/>
            <a:r>
              <a:rPr lang="en-US" sz="6600" b="1" dirty="0"/>
              <a:t>Artificial Intelligence(AI)</a:t>
            </a:r>
          </a:p>
        </p:txBody>
      </p:sp>
    </p:spTree>
    <p:extLst>
      <p:ext uri="{BB962C8B-B14F-4D97-AF65-F5344CB8AC3E}">
        <p14:creationId xmlns:p14="http://schemas.microsoft.com/office/powerpoint/2010/main" val="1922112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09CEA-ADDE-099C-233C-AA0FCC160D7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E22106B-5840-5369-8251-425479852791}"/>
              </a:ext>
            </a:extLst>
          </p:cNvPr>
          <p:cNvSpPr txBox="1"/>
          <p:nvPr/>
        </p:nvSpPr>
        <p:spPr>
          <a:xfrm>
            <a:off x="1202092" y="1054360"/>
            <a:ext cx="8322906" cy="830997"/>
          </a:xfrm>
          <a:prstGeom prst="rect">
            <a:avLst/>
          </a:prstGeom>
          <a:noFill/>
        </p:spPr>
        <p:txBody>
          <a:bodyPr wrap="square" rtlCol="0">
            <a:spAutoFit/>
          </a:bodyPr>
          <a:lstStyle/>
          <a:p>
            <a:r>
              <a:rPr lang="en-US" sz="4800" b="1" dirty="0"/>
              <a:t>Content</a:t>
            </a:r>
          </a:p>
        </p:txBody>
      </p:sp>
      <p:sp>
        <p:nvSpPr>
          <p:cNvPr id="5" name="TextBox 4">
            <a:extLst>
              <a:ext uri="{FF2B5EF4-FFF2-40B4-BE49-F238E27FC236}">
                <a16:creationId xmlns:a16="http://schemas.microsoft.com/office/drawing/2014/main" id="{31CFB8B0-A6CD-ACFC-DDE5-4BFBD25131C6}"/>
              </a:ext>
            </a:extLst>
          </p:cNvPr>
          <p:cNvSpPr txBox="1"/>
          <p:nvPr/>
        </p:nvSpPr>
        <p:spPr>
          <a:xfrm>
            <a:off x="1202092" y="2310776"/>
            <a:ext cx="9787815" cy="2554545"/>
          </a:xfrm>
          <a:prstGeom prst="rect">
            <a:avLst/>
          </a:prstGeom>
          <a:noFill/>
        </p:spPr>
        <p:txBody>
          <a:bodyPr wrap="square" rtlCol="0">
            <a:spAutoFit/>
          </a:bodyPr>
          <a:lstStyle/>
          <a:p>
            <a:pPr marL="285750" indent="-285750">
              <a:buFont typeface="Arial" panose="020B0604020202020204" pitchFamily="34" charset="0"/>
              <a:buChar char="•"/>
            </a:pPr>
            <a:r>
              <a:rPr lang="en-US" sz="4000" dirty="0"/>
              <a:t>Introduction to AI</a:t>
            </a:r>
          </a:p>
          <a:p>
            <a:pPr marL="285750" indent="-285750">
              <a:buFont typeface="Arial" panose="020B0604020202020204" pitchFamily="34" charset="0"/>
              <a:buChar char="•"/>
            </a:pPr>
            <a:r>
              <a:rPr lang="en-US" sz="4000" dirty="0"/>
              <a:t>Agent Architecture</a:t>
            </a:r>
          </a:p>
          <a:p>
            <a:pPr marL="285750" indent="-285750">
              <a:buFont typeface="Arial" panose="020B0604020202020204" pitchFamily="34" charset="0"/>
              <a:buChar char="•"/>
            </a:pPr>
            <a:r>
              <a:rPr lang="en-US" sz="4000" dirty="0"/>
              <a:t>Introduction to Optimization</a:t>
            </a:r>
          </a:p>
          <a:p>
            <a:pPr marL="285750" indent="-285750">
              <a:buFont typeface="Arial" panose="020B0604020202020204" pitchFamily="34" charset="0"/>
              <a:buChar char="•"/>
            </a:pPr>
            <a:r>
              <a:rPr lang="en-US" sz="4000" dirty="0"/>
              <a:t>AI Search Algorithms</a:t>
            </a:r>
          </a:p>
        </p:txBody>
      </p:sp>
    </p:spTree>
    <p:extLst>
      <p:ext uri="{BB962C8B-B14F-4D97-AF65-F5344CB8AC3E}">
        <p14:creationId xmlns:p14="http://schemas.microsoft.com/office/powerpoint/2010/main" val="40470654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35473-4A6A-9B37-ED35-EA921C08E53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195C207-883F-9850-BB3C-96ABCD557D25}"/>
              </a:ext>
            </a:extLst>
          </p:cNvPr>
          <p:cNvSpPr txBox="1"/>
          <p:nvPr/>
        </p:nvSpPr>
        <p:spPr>
          <a:xfrm>
            <a:off x="1202092" y="1054360"/>
            <a:ext cx="10274561" cy="769441"/>
          </a:xfrm>
          <a:prstGeom prst="rect">
            <a:avLst/>
          </a:prstGeom>
          <a:noFill/>
        </p:spPr>
        <p:txBody>
          <a:bodyPr wrap="square" rtlCol="0">
            <a:spAutoFit/>
          </a:bodyPr>
          <a:lstStyle/>
          <a:p>
            <a:r>
              <a:rPr lang="en-US" sz="4400" b="1" dirty="0"/>
              <a:t>What is Artificial Intelligence(</a:t>
            </a:r>
            <a:r>
              <a:rPr lang="en-US" sz="4400" b="1"/>
              <a:t>AI)?</a:t>
            </a:r>
            <a:endParaRPr lang="en-US" sz="4400" b="1" dirty="0"/>
          </a:p>
        </p:txBody>
      </p:sp>
      <p:sp>
        <p:nvSpPr>
          <p:cNvPr id="2" name="TextBox 1">
            <a:extLst>
              <a:ext uri="{FF2B5EF4-FFF2-40B4-BE49-F238E27FC236}">
                <a16:creationId xmlns:a16="http://schemas.microsoft.com/office/drawing/2014/main" id="{E067C6D6-B33F-9C6A-30A3-4DC271AFDE12}"/>
              </a:ext>
            </a:extLst>
          </p:cNvPr>
          <p:cNvSpPr txBox="1"/>
          <p:nvPr/>
        </p:nvSpPr>
        <p:spPr>
          <a:xfrm>
            <a:off x="1239414" y="2130491"/>
            <a:ext cx="9714725" cy="830997"/>
          </a:xfrm>
          <a:prstGeom prst="rect">
            <a:avLst/>
          </a:prstGeom>
          <a:noFill/>
        </p:spPr>
        <p:txBody>
          <a:bodyPr wrap="square" rtlCol="0">
            <a:spAutoFit/>
          </a:bodyPr>
          <a:lstStyle/>
          <a:p>
            <a:pPr marL="342900" indent="-342900">
              <a:buFont typeface="Arial" panose="020B0604020202020204" pitchFamily="34" charset="0"/>
              <a:buChar char="•"/>
            </a:pPr>
            <a:r>
              <a:rPr lang="en-US" sz="2400" dirty="0"/>
              <a:t>AI is the simulation of human intelligence processes by machines, especially computer systems.</a:t>
            </a:r>
          </a:p>
        </p:txBody>
      </p:sp>
      <p:sp>
        <p:nvSpPr>
          <p:cNvPr id="3" name="TextBox 2">
            <a:extLst>
              <a:ext uri="{FF2B5EF4-FFF2-40B4-BE49-F238E27FC236}">
                <a16:creationId xmlns:a16="http://schemas.microsoft.com/office/drawing/2014/main" id="{2D9A9175-63D7-102B-DACF-74CB2CDB57E5}"/>
              </a:ext>
            </a:extLst>
          </p:cNvPr>
          <p:cNvSpPr txBox="1"/>
          <p:nvPr/>
        </p:nvSpPr>
        <p:spPr>
          <a:xfrm>
            <a:off x="1202092" y="2886843"/>
            <a:ext cx="9714725" cy="2677656"/>
          </a:xfrm>
          <a:prstGeom prst="rect">
            <a:avLst/>
          </a:prstGeom>
          <a:noFill/>
        </p:spPr>
        <p:txBody>
          <a:bodyPr wrap="square" rtlCol="0">
            <a:spAutoFit/>
          </a:bodyPr>
          <a:lstStyle/>
          <a:p>
            <a:pPr marL="342900" indent="-342900">
              <a:buFont typeface="Arial" panose="020B0604020202020204" pitchFamily="34" charset="0"/>
              <a:buChar char="•"/>
            </a:pPr>
            <a:r>
              <a:rPr lang="en-US" sz="2400" dirty="0"/>
              <a:t>Aims to perform tasks that typically require human intelligence, such as visual perception, speech recognition, decision-making, and language translation.</a:t>
            </a:r>
          </a:p>
          <a:p>
            <a:pPr marL="342900" indent="-342900">
              <a:buFont typeface="Arial" panose="020B0604020202020204" pitchFamily="34" charset="0"/>
              <a:buChar char="•"/>
            </a:pPr>
            <a:r>
              <a:rPr lang="en-US" sz="2400" dirty="0"/>
              <a:t>It is important in various fields, including healthcare, finance, transportation, entertainment, and more.</a:t>
            </a:r>
          </a:p>
          <a:p>
            <a:pPr marL="342900" indent="-342900">
              <a:buFont typeface="Arial" panose="020B0604020202020204" pitchFamily="34" charset="0"/>
              <a:buChar char="•"/>
            </a:pPr>
            <a:r>
              <a:rPr lang="en-US" sz="2400" dirty="0"/>
              <a:t>Self-driving cars, virtual assistants (e.g., Siri, Alexa), recommendation systems (e.g., Netflix, Amazon), medical diagnosis systems.</a:t>
            </a:r>
          </a:p>
        </p:txBody>
      </p:sp>
    </p:spTree>
    <p:extLst>
      <p:ext uri="{BB962C8B-B14F-4D97-AF65-F5344CB8AC3E}">
        <p14:creationId xmlns:p14="http://schemas.microsoft.com/office/powerpoint/2010/main" val="2736805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ADE54-499B-8865-32E2-9D068A27257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AD1FAB0-86E2-B995-0968-55FD7F053680}"/>
              </a:ext>
            </a:extLst>
          </p:cNvPr>
          <p:cNvSpPr txBox="1"/>
          <p:nvPr/>
        </p:nvSpPr>
        <p:spPr>
          <a:xfrm>
            <a:off x="1202092" y="1054360"/>
            <a:ext cx="10274561" cy="769441"/>
          </a:xfrm>
          <a:prstGeom prst="rect">
            <a:avLst/>
          </a:prstGeom>
          <a:noFill/>
        </p:spPr>
        <p:txBody>
          <a:bodyPr wrap="square" rtlCol="0">
            <a:spAutoFit/>
          </a:bodyPr>
          <a:lstStyle/>
          <a:p>
            <a:r>
              <a:rPr lang="en-US" sz="4400" b="1" dirty="0"/>
              <a:t>Agent Architecture</a:t>
            </a:r>
          </a:p>
        </p:txBody>
      </p:sp>
      <p:sp>
        <p:nvSpPr>
          <p:cNvPr id="2" name="TextBox 1">
            <a:extLst>
              <a:ext uri="{FF2B5EF4-FFF2-40B4-BE49-F238E27FC236}">
                <a16:creationId xmlns:a16="http://schemas.microsoft.com/office/drawing/2014/main" id="{F2CDDD59-835B-E36D-23D9-D8FB090041E3}"/>
              </a:ext>
            </a:extLst>
          </p:cNvPr>
          <p:cNvSpPr txBox="1"/>
          <p:nvPr/>
        </p:nvSpPr>
        <p:spPr>
          <a:xfrm>
            <a:off x="1239414" y="2130491"/>
            <a:ext cx="9714725" cy="1384995"/>
          </a:xfrm>
          <a:prstGeom prst="rect">
            <a:avLst/>
          </a:prstGeom>
          <a:noFill/>
        </p:spPr>
        <p:txBody>
          <a:bodyPr wrap="square" rtlCol="0">
            <a:spAutoFit/>
          </a:bodyPr>
          <a:lstStyle/>
          <a:p>
            <a:pPr marL="342900" indent="-342900">
              <a:buFont typeface="Arial" panose="020B0604020202020204" pitchFamily="34" charset="0"/>
              <a:buChar char="•"/>
            </a:pPr>
            <a:r>
              <a:rPr lang="en-US" sz="2800" dirty="0"/>
              <a:t>What is an agent?</a:t>
            </a:r>
          </a:p>
          <a:p>
            <a:pPr marL="342900" indent="-342900">
              <a:buFont typeface="Arial" panose="020B0604020202020204" pitchFamily="34" charset="0"/>
              <a:buChar char="•"/>
            </a:pPr>
            <a:r>
              <a:rPr lang="en-US" sz="2800" dirty="0"/>
              <a:t>What are Autonomous agent?</a:t>
            </a:r>
          </a:p>
          <a:p>
            <a:pPr marL="342900" indent="-342900">
              <a:buFont typeface="Arial" panose="020B0604020202020204" pitchFamily="34" charset="0"/>
              <a:buChar char="•"/>
            </a:pPr>
            <a:r>
              <a:rPr lang="en-US" sz="2800" dirty="0"/>
              <a:t>Agent Architecture.</a:t>
            </a:r>
          </a:p>
        </p:txBody>
      </p:sp>
    </p:spTree>
    <p:extLst>
      <p:ext uri="{BB962C8B-B14F-4D97-AF65-F5344CB8AC3E}">
        <p14:creationId xmlns:p14="http://schemas.microsoft.com/office/powerpoint/2010/main" val="2606687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62A4E-FAE0-7880-05FB-F797D143F27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D1C245F-3DCA-B46D-3DA7-6FD4139996B0}"/>
              </a:ext>
            </a:extLst>
          </p:cNvPr>
          <p:cNvSpPr txBox="1"/>
          <p:nvPr/>
        </p:nvSpPr>
        <p:spPr>
          <a:xfrm>
            <a:off x="1202092" y="1054360"/>
            <a:ext cx="10274561" cy="769441"/>
          </a:xfrm>
          <a:prstGeom prst="rect">
            <a:avLst/>
          </a:prstGeom>
          <a:noFill/>
        </p:spPr>
        <p:txBody>
          <a:bodyPr wrap="square" rtlCol="0">
            <a:spAutoFit/>
          </a:bodyPr>
          <a:lstStyle/>
          <a:p>
            <a:r>
              <a:rPr lang="en-US" sz="4400" b="1" dirty="0"/>
              <a:t>Agent Definitions</a:t>
            </a:r>
          </a:p>
        </p:txBody>
      </p:sp>
      <p:sp>
        <p:nvSpPr>
          <p:cNvPr id="2" name="TextBox 1">
            <a:extLst>
              <a:ext uri="{FF2B5EF4-FFF2-40B4-BE49-F238E27FC236}">
                <a16:creationId xmlns:a16="http://schemas.microsoft.com/office/drawing/2014/main" id="{25269BE3-3CC5-7121-C14E-C8E7DCA842C1}"/>
              </a:ext>
            </a:extLst>
          </p:cNvPr>
          <p:cNvSpPr txBox="1"/>
          <p:nvPr/>
        </p:nvSpPr>
        <p:spPr>
          <a:xfrm>
            <a:off x="1239414" y="2130491"/>
            <a:ext cx="9714725" cy="3108543"/>
          </a:xfrm>
          <a:prstGeom prst="rect">
            <a:avLst/>
          </a:prstGeom>
          <a:noFill/>
        </p:spPr>
        <p:txBody>
          <a:bodyPr wrap="square" rtlCol="0">
            <a:spAutoFit/>
          </a:bodyPr>
          <a:lstStyle/>
          <a:p>
            <a:pPr marL="342900" indent="-342900">
              <a:buFont typeface="Arial" panose="020B0604020202020204" pitchFamily="34" charset="0"/>
              <a:buChar char="•"/>
            </a:pPr>
            <a:r>
              <a:rPr lang="en-US" sz="2800" dirty="0"/>
              <a:t>“An Agent” is an entity that perceives its environment through sensors and acts upon that environment through actuators based on its observations and goals.</a:t>
            </a:r>
          </a:p>
          <a:p>
            <a:pPr marL="342900" indent="-342900">
              <a:buFont typeface="Arial" panose="020B0604020202020204" pitchFamily="34" charset="0"/>
              <a:buChar char="•"/>
            </a:pPr>
            <a:r>
              <a:rPr lang="en-US" sz="2800" dirty="0"/>
              <a:t>Autonomous agents are computer systems that live within a dynamic environment, sense what's happening around them, make decisions on their own, and carry out tasks they're designed to do, all without human intervention.</a:t>
            </a:r>
            <a:endParaRPr lang="en-US" sz="2800" b="1" dirty="0"/>
          </a:p>
        </p:txBody>
      </p:sp>
    </p:spTree>
    <p:extLst>
      <p:ext uri="{BB962C8B-B14F-4D97-AF65-F5344CB8AC3E}">
        <p14:creationId xmlns:p14="http://schemas.microsoft.com/office/powerpoint/2010/main" val="37172071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2F1C9-8ED3-259D-E65A-1E0B09F0610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134CD56-F2AF-9913-92AE-F45AE231B31D}"/>
              </a:ext>
            </a:extLst>
          </p:cNvPr>
          <p:cNvSpPr txBox="1"/>
          <p:nvPr/>
        </p:nvSpPr>
        <p:spPr>
          <a:xfrm>
            <a:off x="1303952" y="4997467"/>
            <a:ext cx="9714725" cy="1323439"/>
          </a:xfrm>
          <a:prstGeom prst="rect">
            <a:avLst/>
          </a:prstGeom>
          <a:noFill/>
        </p:spPr>
        <p:txBody>
          <a:bodyPr wrap="square" rtlCol="0">
            <a:spAutoFit/>
          </a:bodyPr>
          <a:lstStyle/>
          <a:p>
            <a:r>
              <a:rPr lang="en-US" sz="2800" b="1" dirty="0"/>
              <a:t>4. Agent Program</a:t>
            </a:r>
          </a:p>
          <a:p>
            <a:r>
              <a:rPr lang="en-US" sz="2400" dirty="0"/>
              <a:t>Implements the agent function.</a:t>
            </a:r>
          </a:p>
          <a:p>
            <a:endParaRPr lang="en-US" sz="2800" b="1" dirty="0"/>
          </a:p>
        </p:txBody>
      </p:sp>
      <p:sp>
        <p:nvSpPr>
          <p:cNvPr id="3" name="TextBox 2">
            <a:extLst>
              <a:ext uri="{FF2B5EF4-FFF2-40B4-BE49-F238E27FC236}">
                <a16:creationId xmlns:a16="http://schemas.microsoft.com/office/drawing/2014/main" id="{36C4ABE2-675F-FB3D-D0F0-FE1F68B8AA39}"/>
              </a:ext>
            </a:extLst>
          </p:cNvPr>
          <p:cNvSpPr txBox="1"/>
          <p:nvPr/>
        </p:nvSpPr>
        <p:spPr>
          <a:xfrm>
            <a:off x="1108787" y="750602"/>
            <a:ext cx="6955302" cy="646331"/>
          </a:xfrm>
          <a:prstGeom prst="rect">
            <a:avLst/>
          </a:prstGeom>
          <a:noFill/>
        </p:spPr>
        <p:txBody>
          <a:bodyPr wrap="none" rtlCol="0">
            <a:spAutoFit/>
          </a:bodyPr>
          <a:lstStyle/>
          <a:p>
            <a:r>
              <a:rPr lang="en-US" sz="3600" b="1" dirty="0"/>
              <a:t>Components of Agent Architecture.</a:t>
            </a:r>
          </a:p>
        </p:txBody>
      </p:sp>
      <p:sp>
        <p:nvSpPr>
          <p:cNvPr id="5" name="TextBox 4">
            <a:extLst>
              <a:ext uri="{FF2B5EF4-FFF2-40B4-BE49-F238E27FC236}">
                <a16:creationId xmlns:a16="http://schemas.microsoft.com/office/drawing/2014/main" id="{882A98C0-9577-D0DE-0576-134EABC1ED2F}"/>
              </a:ext>
            </a:extLst>
          </p:cNvPr>
          <p:cNvSpPr txBox="1"/>
          <p:nvPr/>
        </p:nvSpPr>
        <p:spPr>
          <a:xfrm>
            <a:off x="1238637" y="1671504"/>
            <a:ext cx="8707018" cy="892552"/>
          </a:xfrm>
          <a:prstGeom prst="rect">
            <a:avLst/>
          </a:prstGeom>
          <a:noFill/>
        </p:spPr>
        <p:txBody>
          <a:bodyPr wrap="square" rtlCol="0">
            <a:spAutoFit/>
          </a:bodyPr>
          <a:lstStyle/>
          <a:p>
            <a:r>
              <a:rPr lang="en-US" sz="2800" b="1" dirty="0"/>
              <a:t>1. Percept</a:t>
            </a:r>
          </a:p>
          <a:p>
            <a:r>
              <a:rPr lang="en-US" sz="2400" dirty="0"/>
              <a:t>The agent’s perception of the environment.</a:t>
            </a:r>
          </a:p>
        </p:txBody>
      </p:sp>
      <p:sp>
        <p:nvSpPr>
          <p:cNvPr id="6" name="TextBox 5">
            <a:extLst>
              <a:ext uri="{FF2B5EF4-FFF2-40B4-BE49-F238E27FC236}">
                <a16:creationId xmlns:a16="http://schemas.microsoft.com/office/drawing/2014/main" id="{8191313C-FFBD-2F43-1379-7836C0D25FDD}"/>
              </a:ext>
            </a:extLst>
          </p:cNvPr>
          <p:cNvSpPr txBox="1"/>
          <p:nvPr/>
        </p:nvSpPr>
        <p:spPr>
          <a:xfrm>
            <a:off x="1303952" y="2657047"/>
            <a:ext cx="8707018" cy="1261884"/>
          </a:xfrm>
          <a:prstGeom prst="rect">
            <a:avLst/>
          </a:prstGeom>
          <a:noFill/>
        </p:spPr>
        <p:txBody>
          <a:bodyPr wrap="square" rtlCol="0">
            <a:spAutoFit/>
          </a:bodyPr>
          <a:lstStyle/>
          <a:p>
            <a:r>
              <a:rPr lang="en-US" sz="2800" b="1" dirty="0"/>
              <a:t>2. Actuators</a:t>
            </a:r>
          </a:p>
          <a:p>
            <a:r>
              <a:rPr lang="en-US" sz="2400" dirty="0"/>
              <a:t>The mechanisms through which the agent acts upon the environment.</a:t>
            </a:r>
          </a:p>
        </p:txBody>
      </p:sp>
      <p:sp>
        <p:nvSpPr>
          <p:cNvPr id="7" name="TextBox 6">
            <a:extLst>
              <a:ext uri="{FF2B5EF4-FFF2-40B4-BE49-F238E27FC236}">
                <a16:creationId xmlns:a16="http://schemas.microsoft.com/office/drawing/2014/main" id="{AFC03A7F-E603-5960-F449-4F1005CD190C}"/>
              </a:ext>
            </a:extLst>
          </p:cNvPr>
          <p:cNvSpPr txBox="1"/>
          <p:nvPr/>
        </p:nvSpPr>
        <p:spPr>
          <a:xfrm>
            <a:off x="1238637" y="4011923"/>
            <a:ext cx="9714725" cy="892552"/>
          </a:xfrm>
          <a:prstGeom prst="rect">
            <a:avLst/>
          </a:prstGeom>
          <a:noFill/>
        </p:spPr>
        <p:txBody>
          <a:bodyPr wrap="square" rtlCol="0">
            <a:spAutoFit/>
          </a:bodyPr>
          <a:lstStyle/>
          <a:p>
            <a:r>
              <a:rPr lang="en-US" sz="2800" b="1" dirty="0"/>
              <a:t>3. Agent Function</a:t>
            </a:r>
          </a:p>
          <a:p>
            <a:r>
              <a:rPr lang="en-US" sz="2400" dirty="0"/>
              <a:t>Maps percept sequences to actions.</a:t>
            </a:r>
          </a:p>
        </p:txBody>
      </p:sp>
    </p:spTree>
    <p:extLst>
      <p:ext uri="{BB962C8B-B14F-4D97-AF65-F5344CB8AC3E}">
        <p14:creationId xmlns:p14="http://schemas.microsoft.com/office/powerpoint/2010/main" val="472762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88BB8-5C1F-5201-3C1E-1BE7A158222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CAB684B-4F41-9174-A6EB-8D3BEDDE3B42}"/>
              </a:ext>
            </a:extLst>
          </p:cNvPr>
          <p:cNvSpPr txBox="1"/>
          <p:nvPr/>
        </p:nvSpPr>
        <p:spPr>
          <a:xfrm>
            <a:off x="1313282" y="4608695"/>
            <a:ext cx="9714725" cy="523220"/>
          </a:xfrm>
          <a:prstGeom prst="rect">
            <a:avLst/>
          </a:prstGeom>
          <a:noFill/>
        </p:spPr>
        <p:txBody>
          <a:bodyPr wrap="square" rtlCol="0">
            <a:spAutoFit/>
          </a:bodyPr>
          <a:lstStyle/>
          <a:p>
            <a:r>
              <a:rPr lang="en-US" sz="2800" dirty="0"/>
              <a:t>Utility-based agents</a:t>
            </a:r>
          </a:p>
        </p:txBody>
      </p:sp>
      <p:sp>
        <p:nvSpPr>
          <p:cNvPr id="3" name="TextBox 2">
            <a:extLst>
              <a:ext uri="{FF2B5EF4-FFF2-40B4-BE49-F238E27FC236}">
                <a16:creationId xmlns:a16="http://schemas.microsoft.com/office/drawing/2014/main" id="{7B6583B0-D836-0EC6-7EC6-847DC2C7A5FC}"/>
              </a:ext>
            </a:extLst>
          </p:cNvPr>
          <p:cNvSpPr txBox="1"/>
          <p:nvPr/>
        </p:nvSpPr>
        <p:spPr>
          <a:xfrm>
            <a:off x="1238637" y="842126"/>
            <a:ext cx="4592217" cy="646331"/>
          </a:xfrm>
          <a:prstGeom prst="rect">
            <a:avLst/>
          </a:prstGeom>
          <a:noFill/>
        </p:spPr>
        <p:txBody>
          <a:bodyPr wrap="square" rtlCol="0">
            <a:spAutoFit/>
          </a:bodyPr>
          <a:lstStyle/>
          <a:p>
            <a:r>
              <a:rPr lang="en-US" sz="3600" b="1" dirty="0"/>
              <a:t>Types of Agents</a:t>
            </a:r>
          </a:p>
        </p:txBody>
      </p:sp>
      <p:sp>
        <p:nvSpPr>
          <p:cNvPr id="5" name="TextBox 4">
            <a:extLst>
              <a:ext uri="{FF2B5EF4-FFF2-40B4-BE49-F238E27FC236}">
                <a16:creationId xmlns:a16="http://schemas.microsoft.com/office/drawing/2014/main" id="{524CE8D4-2207-97E2-49DE-DF97717DA834}"/>
              </a:ext>
            </a:extLst>
          </p:cNvPr>
          <p:cNvSpPr txBox="1"/>
          <p:nvPr/>
        </p:nvSpPr>
        <p:spPr>
          <a:xfrm>
            <a:off x="1238637" y="1889866"/>
            <a:ext cx="8707018" cy="523220"/>
          </a:xfrm>
          <a:prstGeom prst="rect">
            <a:avLst/>
          </a:prstGeom>
          <a:noFill/>
        </p:spPr>
        <p:txBody>
          <a:bodyPr wrap="square" rtlCol="0">
            <a:spAutoFit/>
          </a:bodyPr>
          <a:lstStyle/>
          <a:p>
            <a:r>
              <a:rPr lang="en-US" sz="2800" dirty="0"/>
              <a:t>Simple reflex agents.</a:t>
            </a:r>
            <a:endParaRPr lang="en-US" sz="2400" dirty="0"/>
          </a:p>
        </p:txBody>
      </p:sp>
      <p:sp>
        <p:nvSpPr>
          <p:cNvPr id="6" name="TextBox 5">
            <a:extLst>
              <a:ext uri="{FF2B5EF4-FFF2-40B4-BE49-F238E27FC236}">
                <a16:creationId xmlns:a16="http://schemas.microsoft.com/office/drawing/2014/main" id="{7854F924-1049-37B0-11C3-59471473FEBC}"/>
              </a:ext>
            </a:extLst>
          </p:cNvPr>
          <p:cNvSpPr txBox="1"/>
          <p:nvPr/>
        </p:nvSpPr>
        <p:spPr>
          <a:xfrm>
            <a:off x="1238637" y="2569573"/>
            <a:ext cx="8707018" cy="523220"/>
          </a:xfrm>
          <a:prstGeom prst="rect">
            <a:avLst/>
          </a:prstGeom>
          <a:noFill/>
        </p:spPr>
        <p:txBody>
          <a:bodyPr wrap="square" rtlCol="0">
            <a:spAutoFit/>
          </a:bodyPr>
          <a:lstStyle/>
          <a:p>
            <a:r>
              <a:rPr lang="en-US" sz="2800" dirty="0"/>
              <a:t>Model-based reflex agents.</a:t>
            </a:r>
          </a:p>
        </p:txBody>
      </p:sp>
      <p:sp>
        <p:nvSpPr>
          <p:cNvPr id="7" name="TextBox 6">
            <a:extLst>
              <a:ext uri="{FF2B5EF4-FFF2-40B4-BE49-F238E27FC236}">
                <a16:creationId xmlns:a16="http://schemas.microsoft.com/office/drawing/2014/main" id="{763E0AF4-AA08-9CD8-5927-24F620F2C8EB}"/>
              </a:ext>
            </a:extLst>
          </p:cNvPr>
          <p:cNvSpPr txBox="1"/>
          <p:nvPr/>
        </p:nvSpPr>
        <p:spPr>
          <a:xfrm>
            <a:off x="1313282" y="3249281"/>
            <a:ext cx="9714725" cy="523220"/>
          </a:xfrm>
          <a:prstGeom prst="rect">
            <a:avLst/>
          </a:prstGeom>
          <a:noFill/>
        </p:spPr>
        <p:txBody>
          <a:bodyPr wrap="square" rtlCol="0">
            <a:spAutoFit/>
          </a:bodyPr>
          <a:lstStyle/>
          <a:p>
            <a:r>
              <a:rPr lang="en-US" sz="2800" dirty="0"/>
              <a:t>Goal-based agents.</a:t>
            </a:r>
          </a:p>
        </p:txBody>
      </p:sp>
      <p:sp>
        <p:nvSpPr>
          <p:cNvPr id="4" name="TextBox 3">
            <a:extLst>
              <a:ext uri="{FF2B5EF4-FFF2-40B4-BE49-F238E27FC236}">
                <a16:creationId xmlns:a16="http://schemas.microsoft.com/office/drawing/2014/main" id="{93AF0B3A-AE20-683B-676D-B770E5D10ECC}"/>
              </a:ext>
            </a:extLst>
          </p:cNvPr>
          <p:cNvSpPr txBox="1"/>
          <p:nvPr/>
        </p:nvSpPr>
        <p:spPr>
          <a:xfrm>
            <a:off x="1313282" y="3928988"/>
            <a:ext cx="9714725" cy="523220"/>
          </a:xfrm>
          <a:prstGeom prst="rect">
            <a:avLst/>
          </a:prstGeom>
          <a:noFill/>
        </p:spPr>
        <p:txBody>
          <a:bodyPr wrap="square" rtlCol="0">
            <a:spAutoFit/>
          </a:bodyPr>
          <a:lstStyle/>
          <a:p>
            <a:r>
              <a:rPr lang="en-US" sz="2800" dirty="0"/>
              <a:t>Learning agents</a:t>
            </a:r>
          </a:p>
        </p:txBody>
      </p:sp>
    </p:spTree>
    <p:extLst>
      <p:ext uri="{BB962C8B-B14F-4D97-AF65-F5344CB8AC3E}">
        <p14:creationId xmlns:p14="http://schemas.microsoft.com/office/powerpoint/2010/main" val="500890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F031D-F0F1-DF11-48BF-773ADBA9B18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744F3B7-04DD-20B1-3383-E2D0F1150DFD}"/>
              </a:ext>
            </a:extLst>
          </p:cNvPr>
          <p:cNvSpPr txBox="1"/>
          <p:nvPr/>
        </p:nvSpPr>
        <p:spPr>
          <a:xfrm>
            <a:off x="1238637" y="1250303"/>
            <a:ext cx="10274561" cy="646331"/>
          </a:xfrm>
          <a:prstGeom prst="rect">
            <a:avLst/>
          </a:prstGeom>
          <a:noFill/>
        </p:spPr>
        <p:txBody>
          <a:bodyPr wrap="square" rtlCol="0">
            <a:spAutoFit/>
          </a:bodyPr>
          <a:lstStyle/>
          <a:p>
            <a:r>
              <a:rPr lang="en-US" sz="3600" b="1" dirty="0"/>
              <a:t>Simple Reflex Agent</a:t>
            </a:r>
          </a:p>
        </p:txBody>
      </p:sp>
      <p:sp>
        <p:nvSpPr>
          <p:cNvPr id="2" name="TextBox 1">
            <a:extLst>
              <a:ext uri="{FF2B5EF4-FFF2-40B4-BE49-F238E27FC236}">
                <a16:creationId xmlns:a16="http://schemas.microsoft.com/office/drawing/2014/main" id="{ACA3EAD0-703B-7D82-48C6-DEF05E052F82}"/>
              </a:ext>
            </a:extLst>
          </p:cNvPr>
          <p:cNvSpPr txBox="1"/>
          <p:nvPr/>
        </p:nvSpPr>
        <p:spPr>
          <a:xfrm>
            <a:off x="1239414" y="2130491"/>
            <a:ext cx="9714725" cy="954107"/>
          </a:xfrm>
          <a:prstGeom prst="rect">
            <a:avLst/>
          </a:prstGeom>
          <a:noFill/>
        </p:spPr>
        <p:txBody>
          <a:bodyPr wrap="square" rtlCol="0">
            <a:spAutoFit/>
          </a:bodyPr>
          <a:lstStyle/>
          <a:p>
            <a:r>
              <a:rPr lang="en-US" sz="2800" b="1" dirty="0"/>
              <a:t>Example</a:t>
            </a:r>
          </a:p>
          <a:p>
            <a:r>
              <a:rPr lang="en-US" sz="2800" dirty="0"/>
              <a:t>Automatic thermostat.</a:t>
            </a:r>
          </a:p>
        </p:txBody>
      </p:sp>
      <p:sp>
        <p:nvSpPr>
          <p:cNvPr id="3" name="TextBox 2">
            <a:extLst>
              <a:ext uri="{FF2B5EF4-FFF2-40B4-BE49-F238E27FC236}">
                <a16:creationId xmlns:a16="http://schemas.microsoft.com/office/drawing/2014/main" id="{B02686F7-EEF3-1B0C-4A50-F744241C0CEA}"/>
              </a:ext>
            </a:extLst>
          </p:cNvPr>
          <p:cNvSpPr txBox="1"/>
          <p:nvPr/>
        </p:nvSpPr>
        <p:spPr>
          <a:xfrm>
            <a:off x="1239414" y="3084598"/>
            <a:ext cx="9714725" cy="954107"/>
          </a:xfrm>
          <a:prstGeom prst="rect">
            <a:avLst/>
          </a:prstGeom>
          <a:noFill/>
        </p:spPr>
        <p:txBody>
          <a:bodyPr wrap="square" rtlCol="0">
            <a:spAutoFit/>
          </a:bodyPr>
          <a:lstStyle/>
          <a:p>
            <a:r>
              <a:rPr lang="en-US" sz="2800" b="1" dirty="0"/>
              <a:t>Percepts</a:t>
            </a:r>
          </a:p>
          <a:p>
            <a:r>
              <a:rPr lang="en-US" sz="2800" dirty="0"/>
              <a:t>Temperature readings.</a:t>
            </a:r>
          </a:p>
        </p:txBody>
      </p:sp>
      <p:sp>
        <p:nvSpPr>
          <p:cNvPr id="5" name="TextBox 4">
            <a:extLst>
              <a:ext uri="{FF2B5EF4-FFF2-40B4-BE49-F238E27FC236}">
                <a16:creationId xmlns:a16="http://schemas.microsoft.com/office/drawing/2014/main" id="{8BA8DED0-B9DC-BCB2-4C90-9B6173CAE6AC}"/>
              </a:ext>
            </a:extLst>
          </p:cNvPr>
          <p:cNvSpPr txBox="1"/>
          <p:nvPr/>
        </p:nvSpPr>
        <p:spPr>
          <a:xfrm>
            <a:off x="1238637" y="4038705"/>
            <a:ext cx="9714725" cy="954107"/>
          </a:xfrm>
          <a:prstGeom prst="rect">
            <a:avLst/>
          </a:prstGeom>
          <a:noFill/>
        </p:spPr>
        <p:txBody>
          <a:bodyPr wrap="square" rtlCol="0">
            <a:spAutoFit/>
          </a:bodyPr>
          <a:lstStyle/>
          <a:p>
            <a:r>
              <a:rPr lang="en-US" sz="2800" b="1" dirty="0"/>
              <a:t>Actions</a:t>
            </a:r>
          </a:p>
          <a:p>
            <a:r>
              <a:rPr lang="en-US" sz="2800" dirty="0"/>
              <a:t>Turn on heating or cooling based on temperature threshold.</a:t>
            </a:r>
          </a:p>
        </p:txBody>
      </p:sp>
    </p:spTree>
    <p:extLst>
      <p:ext uri="{BB962C8B-B14F-4D97-AF65-F5344CB8AC3E}">
        <p14:creationId xmlns:p14="http://schemas.microsoft.com/office/powerpoint/2010/main" val="37210202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A1879-E89F-1E1A-5B71-A346E3C9465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17ED91E-F70F-5674-4988-3226FB926DED}"/>
              </a:ext>
            </a:extLst>
          </p:cNvPr>
          <p:cNvSpPr txBox="1"/>
          <p:nvPr/>
        </p:nvSpPr>
        <p:spPr>
          <a:xfrm>
            <a:off x="1238637" y="1250303"/>
            <a:ext cx="10274561" cy="646331"/>
          </a:xfrm>
          <a:prstGeom prst="rect">
            <a:avLst/>
          </a:prstGeom>
          <a:noFill/>
        </p:spPr>
        <p:txBody>
          <a:bodyPr wrap="square" rtlCol="0">
            <a:spAutoFit/>
          </a:bodyPr>
          <a:lstStyle/>
          <a:p>
            <a:r>
              <a:rPr lang="en-US" sz="3600" b="1" dirty="0"/>
              <a:t>Model-Based Reflex Agent</a:t>
            </a:r>
          </a:p>
        </p:txBody>
      </p:sp>
      <p:sp>
        <p:nvSpPr>
          <p:cNvPr id="2" name="TextBox 1">
            <a:extLst>
              <a:ext uri="{FF2B5EF4-FFF2-40B4-BE49-F238E27FC236}">
                <a16:creationId xmlns:a16="http://schemas.microsoft.com/office/drawing/2014/main" id="{39F52BE0-32BB-456A-8055-638781FCB994}"/>
              </a:ext>
            </a:extLst>
          </p:cNvPr>
          <p:cNvSpPr txBox="1"/>
          <p:nvPr/>
        </p:nvSpPr>
        <p:spPr>
          <a:xfrm>
            <a:off x="1239414" y="2130491"/>
            <a:ext cx="9714725" cy="954107"/>
          </a:xfrm>
          <a:prstGeom prst="rect">
            <a:avLst/>
          </a:prstGeom>
          <a:noFill/>
        </p:spPr>
        <p:txBody>
          <a:bodyPr wrap="square" rtlCol="0">
            <a:spAutoFit/>
          </a:bodyPr>
          <a:lstStyle/>
          <a:p>
            <a:r>
              <a:rPr lang="en-US" sz="2800" b="1" dirty="0"/>
              <a:t>Example</a:t>
            </a:r>
          </a:p>
          <a:p>
            <a:r>
              <a:rPr lang="en-US" sz="2800" dirty="0"/>
              <a:t>Chess-playing computer program.</a:t>
            </a:r>
          </a:p>
        </p:txBody>
      </p:sp>
      <p:sp>
        <p:nvSpPr>
          <p:cNvPr id="3" name="TextBox 2">
            <a:extLst>
              <a:ext uri="{FF2B5EF4-FFF2-40B4-BE49-F238E27FC236}">
                <a16:creationId xmlns:a16="http://schemas.microsoft.com/office/drawing/2014/main" id="{6A46AC09-3A9B-E276-8AB2-F28B7E09D8D1}"/>
              </a:ext>
            </a:extLst>
          </p:cNvPr>
          <p:cNvSpPr txBox="1"/>
          <p:nvPr/>
        </p:nvSpPr>
        <p:spPr>
          <a:xfrm>
            <a:off x="1239414" y="3084598"/>
            <a:ext cx="9714725" cy="954107"/>
          </a:xfrm>
          <a:prstGeom prst="rect">
            <a:avLst/>
          </a:prstGeom>
          <a:noFill/>
        </p:spPr>
        <p:txBody>
          <a:bodyPr wrap="square" rtlCol="0">
            <a:spAutoFit/>
          </a:bodyPr>
          <a:lstStyle/>
          <a:p>
            <a:r>
              <a:rPr lang="en-US" sz="2800" b="1" dirty="0"/>
              <a:t>Percepts</a:t>
            </a:r>
          </a:p>
          <a:p>
            <a:r>
              <a:rPr lang="en-US" sz="2800" dirty="0"/>
              <a:t>Current state of the chessboard.</a:t>
            </a:r>
          </a:p>
        </p:txBody>
      </p:sp>
      <p:sp>
        <p:nvSpPr>
          <p:cNvPr id="5" name="TextBox 4">
            <a:extLst>
              <a:ext uri="{FF2B5EF4-FFF2-40B4-BE49-F238E27FC236}">
                <a16:creationId xmlns:a16="http://schemas.microsoft.com/office/drawing/2014/main" id="{C3786ECE-55B7-F1AA-5485-786B37BDFA5A}"/>
              </a:ext>
            </a:extLst>
          </p:cNvPr>
          <p:cNvSpPr txBox="1"/>
          <p:nvPr/>
        </p:nvSpPr>
        <p:spPr>
          <a:xfrm>
            <a:off x="1238637" y="4038705"/>
            <a:ext cx="9714725" cy="1384995"/>
          </a:xfrm>
          <a:prstGeom prst="rect">
            <a:avLst/>
          </a:prstGeom>
          <a:noFill/>
        </p:spPr>
        <p:txBody>
          <a:bodyPr wrap="square" rtlCol="0">
            <a:spAutoFit/>
          </a:bodyPr>
          <a:lstStyle/>
          <a:p>
            <a:r>
              <a:rPr lang="en-US" sz="2800" b="1" dirty="0"/>
              <a:t>Actions</a:t>
            </a:r>
          </a:p>
          <a:p>
            <a:r>
              <a:rPr lang="en-US" sz="2800" dirty="0"/>
              <a:t>Determines best move based on the current board configuration and predefined strategies.</a:t>
            </a:r>
          </a:p>
        </p:txBody>
      </p:sp>
    </p:spTree>
    <p:extLst>
      <p:ext uri="{BB962C8B-B14F-4D97-AF65-F5344CB8AC3E}">
        <p14:creationId xmlns:p14="http://schemas.microsoft.com/office/powerpoint/2010/main" val="16380154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35397-616D-EC41-3F4E-07BDC90353A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8EFCDFE-545A-64BD-3C72-8DEE4160AE06}"/>
              </a:ext>
            </a:extLst>
          </p:cNvPr>
          <p:cNvSpPr txBox="1"/>
          <p:nvPr/>
        </p:nvSpPr>
        <p:spPr>
          <a:xfrm>
            <a:off x="1238637" y="1250303"/>
            <a:ext cx="10274561" cy="646331"/>
          </a:xfrm>
          <a:prstGeom prst="rect">
            <a:avLst/>
          </a:prstGeom>
          <a:noFill/>
        </p:spPr>
        <p:txBody>
          <a:bodyPr wrap="square" rtlCol="0">
            <a:spAutoFit/>
          </a:bodyPr>
          <a:lstStyle/>
          <a:p>
            <a:r>
              <a:rPr lang="en-US" sz="3600" b="1" dirty="0"/>
              <a:t>Goal-Based Agent</a:t>
            </a:r>
          </a:p>
        </p:txBody>
      </p:sp>
      <p:sp>
        <p:nvSpPr>
          <p:cNvPr id="2" name="TextBox 1">
            <a:extLst>
              <a:ext uri="{FF2B5EF4-FFF2-40B4-BE49-F238E27FC236}">
                <a16:creationId xmlns:a16="http://schemas.microsoft.com/office/drawing/2014/main" id="{51A4B251-B926-206E-3348-B30EF6C91E05}"/>
              </a:ext>
            </a:extLst>
          </p:cNvPr>
          <p:cNvSpPr txBox="1"/>
          <p:nvPr/>
        </p:nvSpPr>
        <p:spPr>
          <a:xfrm>
            <a:off x="1239414" y="2130491"/>
            <a:ext cx="9714725" cy="954107"/>
          </a:xfrm>
          <a:prstGeom prst="rect">
            <a:avLst/>
          </a:prstGeom>
          <a:noFill/>
        </p:spPr>
        <p:txBody>
          <a:bodyPr wrap="square" rtlCol="0">
            <a:spAutoFit/>
          </a:bodyPr>
          <a:lstStyle/>
          <a:p>
            <a:r>
              <a:rPr lang="en-US" sz="2800" b="1" dirty="0"/>
              <a:t>Example</a:t>
            </a:r>
          </a:p>
          <a:p>
            <a:r>
              <a:rPr lang="en-US" sz="2800" dirty="0"/>
              <a:t>Personal Assistant software (Siri, Google Assistant)</a:t>
            </a:r>
          </a:p>
        </p:txBody>
      </p:sp>
      <p:sp>
        <p:nvSpPr>
          <p:cNvPr id="3" name="TextBox 2">
            <a:extLst>
              <a:ext uri="{FF2B5EF4-FFF2-40B4-BE49-F238E27FC236}">
                <a16:creationId xmlns:a16="http://schemas.microsoft.com/office/drawing/2014/main" id="{DB5521B1-F25D-CA43-2EA2-0E33D0509055}"/>
              </a:ext>
            </a:extLst>
          </p:cNvPr>
          <p:cNvSpPr txBox="1"/>
          <p:nvPr/>
        </p:nvSpPr>
        <p:spPr>
          <a:xfrm>
            <a:off x="1239414" y="3084598"/>
            <a:ext cx="9714725" cy="954107"/>
          </a:xfrm>
          <a:prstGeom prst="rect">
            <a:avLst/>
          </a:prstGeom>
          <a:noFill/>
        </p:spPr>
        <p:txBody>
          <a:bodyPr wrap="square" rtlCol="0">
            <a:spAutoFit/>
          </a:bodyPr>
          <a:lstStyle/>
          <a:p>
            <a:r>
              <a:rPr lang="en-US" sz="2800" b="1" dirty="0"/>
              <a:t>Percepts</a:t>
            </a:r>
          </a:p>
          <a:p>
            <a:r>
              <a:rPr lang="en-US" sz="2800" dirty="0"/>
              <a:t>Voice commands, text inputs</a:t>
            </a:r>
          </a:p>
        </p:txBody>
      </p:sp>
      <p:sp>
        <p:nvSpPr>
          <p:cNvPr id="5" name="TextBox 4">
            <a:extLst>
              <a:ext uri="{FF2B5EF4-FFF2-40B4-BE49-F238E27FC236}">
                <a16:creationId xmlns:a16="http://schemas.microsoft.com/office/drawing/2014/main" id="{F426958A-59B9-66FD-F11E-51245C89D4E0}"/>
              </a:ext>
            </a:extLst>
          </p:cNvPr>
          <p:cNvSpPr txBox="1"/>
          <p:nvPr/>
        </p:nvSpPr>
        <p:spPr>
          <a:xfrm>
            <a:off x="1238637" y="4038705"/>
            <a:ext cx="9714725" cy="1384995"/>
          </a:xfrm>
          <a:prstGeom prst="rect">
            <a:avLst/>
          </a:prstGeom>
          <a:noFill/>
        </p:spPr>
        <p:txBody>
          <a:bodyPr wrap="square" rtlCol="0">
            <a:spAutoFit/>
          </a:bodyPr>
          <a:lstStyle/>
          <a:p>
            <a:r>
              <a:rPr lang="en-US" sz="2800" b="1" dirty="0"/>
              <a:t>Actions</a:t>
            </a:r>
          </a:p>
          <a:p>
            <a:r>
              <a:rPr lang="en-US" sz="2800" dirty="0"/>
              <a:t>Performs tasks such as setting alarms, scheduling events, providing information based on user requests.</a:t>
            </a:r>
            <a:endParaRPr lang="en-US" sz="4000" dirty="0"/>
          </a:p>
        </p:txBody>
      </p:sp>
    </p:spTree>
    <p:extLst>
      <p:ext uri="{BB962C8B-B14F-4D97-AF65-F5344CB8AC3E}">
        <p14:creationId xmlns:p14="http://schemas.microsoft.com/office/powerpoint/2010/main" val="14834643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EC3B7-1586-7F44-08D1-92D6E930360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C7CEAC5-F53D-7605-0198-34ACFC069F49}"/>
              </a:ext>
            </a:extLst>
          </p:cNvPr>
          <p:cNvSpPr txBox="1"/>
          <p:nvPr/>
        </p:nvSpPr>
        <p:spPr>
          <a:xfrm>
            <a:off x="1238637" y="1250303"/>
            <a:ext cx="10274561" cy="646331"/>
          </a:xfrm>
          <a:prstGeom prst="rect">
            <a:avLst/>
          </a:prstGeom>
          <a:noFill/>
        </p:spPr>
        <p:txBody>
          <a:bodyPr wrap="square" rtlCol="0">
            <a:spAutoFit/>
          </a:bodyPr>
          <a:lstStyle/>
          <a:p>
            <a:r>
              <a:rPr lang="en-US" sz="3600" b="1" dirty="0"/>
              <a:t>Utility-Based Agent</a:t>
            </a:r>
          </a:p>
        </p:txBody>
      </p:sp>
      <p:sp>
        <p:nvSpPr>
          <p:cNvPr id="2" name="TextBox 1">
            <a:extLst>
              <a:ext uri="{FF2B5EF4-FFF2-40B4-BE49-F238E27FC236}">
                <a16:creationId xmlns:a16="http://schemas.microsoft.com/office/drawing/2014/main" id="{584E6D3C-E948-A304-8812-00E75AFDA609}"/>
              </a:ext>
            </a:extLst>
          </p:cNvPr>
          <p:cNvSpPr txBox="1"/>
          <p:nvPr/>
        </p:nvSpPr>
        <p:spPr>
          <a:xfrm>
            <a:off x="1239414" y="2130491"/>
            <a:ext cx="9714725" cy="954107"/>
          </a:xfrm>
          <a:prstGeom prst="rect">
            <a:avLst/>
          </a:prstGeom>
          <a:noFill/>
        </p:spPr>
        <p:txBody>
          <a:bodyPr wrap="square" rtlCol="0">
            <a:spAutoFit/>
          </a:bodyPr>
          <a:lstStyle/>
          <a:p>
            <a:r>
              <a:rPr lang="en-US" sz="2800" b="1" dirty="0"/>
              <a:t>Example</a:t>
            </a:r>
          </a:p>
          <a:p>
            <a:r>
              <a:rPr lang="en-US" sz="2800" dirty="0"/>
              <a:t>Autonomous vehicles</a:t>
            </a:r>
          </a:p>
        </p:txBody>
      </p:sp>
      <p:sp>
        <p:nvSpPr>
          <p:cNvPr id="3" name="TextBox 2">
            <a:extLst>
              <a:ext uri="{FF2B5EF4-FFF2-40B4-BE49-F238E27FC236}">
                <a16:creationId xmlns:a16="http://schemas.microsoft.com/office/drawing/2014/main" id="{FC768787-BA20-D353-08B0-CE1798D29772}"/>
              </a:ext>
            </a:extLst>
          </p:cNvPr>
          <p:cNvSpPr txBox="1"/>
          <p:nvPr/>
        </p:nvSpPr>
        <p:spPr>
          <a:xfrm>
            <a:off x="1239414" y="3084598"/>
            <a:ext cx="9714725" cy="954107"/>
          </a:xfrm>
          <a:prstGeom prst="rect">
            <a:avLst/>
          </a:prstGeom>
          <a:noFill/>
        </p:spPr>
        <p:txBody>
          <a:bodyPr wrap="square" rtlCol="0">
            <a:spAutoFit/>
          </a:bodyPr>
          <a:lstStyle/>
          <a:p>
            <a:r>
              <a:rPr lang="en-US" sz="2800" b="1" dirty="0"/>
              <a:t>Percepts</a:t>
            </a:r>
          </a:p>
          <a:p>
            <a:r>
              <a:rPr lang="en-US" sz="2800" dirty="0"/>
              <a:t>Surrounding environment (e.g., traffic, pedestrians)</a:t>
            </a:r>
            <a:endParaRPr lang="en-US" sz="4000" dirty="0"/>
          </a:p>
        </p:txBody>
      </p:sp>
      <p:sp>
        <p:nvSpPr>
          <p:cNvPr id="5" name="TextBox 4">
            <a:extLst>
              <a:ext uri="{FF2B5EF4-FFF2-40B4-BE49-F238E27FC236}">
                <a16:creationId xmlns:a16="http://schemas.microsoft.com/office/drawing/2014/main" id="{336619D2-28F6-E232-291A-9DFA56A1D47B}"/>
              </a:ext>
            </a:extLst>
          </p:cNvPr>
          <p:cNvSpPr txBox="1"/>
          <p:nvPr/>
        </p:nvSpPr>
        <p:spPr>
          <a:xfrm>
            <a:off x="1238637" y="4038705"/>
            <a:ext cx="9714725" cy="1384995"/>
          </a:xfrm>
          <a:prstGeom prst="rect">
            <a:avLst/>
          </a:prstGeom>
          <a:noFill/>
        </p:spPr>
        <p:txBody>
          <a:bodyPr wrap="square" rtlCol="0">
            <a:spAutoFit/>
          </a:bodyPr>
          <a:lstStyle/>
          <a:p>
            <a:r>
              <a:rPr lang="en-US" sz="2800" b="1" dirty="0"/>
              <a:t>Actions</a:t>
            </a:r>
          </a:p>
          <a:p>
            <a:r>
              <a:rPr lang="en-US" sz="2800" dirty="0"/>
              <a:t>Navigate safely to the destination while considering factors like traffic conditions, road regulations, and passenger comfort.</a:t>
            </a:r>
            <a:endParaRPr lang="en-US" sz="5400" dirty="0"/>
          </a:p>
        </p:txBody>
      </p:sp>
    </p:spTree>
    <p:extLst>
      <p:ext uri="{BB962C8B-B14F-4D97-AF65-F5344CB8AC3E}">
        <p14:creationId xmlns:p14="http://schemas.microsoft.com/office/powerpoint/2010/main" val="41679839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C51A5-DF7E-20A4-519D-477AF342377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268C33D-9F43-0D89-A659-A5D6FFA94E7B}"/>
              </a:ext>
            </a:extLst>
          </p:cNvPr>
          <p:cNvSpPr txBox="1"/>
          <p:nvPr/>
        </p:nvSpPr>
        <p:spPr>
          <a:xfrm>
            <a:off x="1238637" y="1250303"/>
            <a:ext cx="10274561" cy="646331"/>
          </a:xfrm>
          <a:prstGeom prst="rect">
            <a:avLst/>
          </a:prstGeom>
          <a:noFill/>
        </p:spPr>
        <p:txBody>
          <a:bodyPr wrap="square" rtlCol="0">
            <a:spAutoFit/>
          </a:bodyPr>
          <a:lstStyle/>
          <a:p>
            <a:r>
              <a:rPr lang="en-US" sz="3600" b="1" dirty="0"/>
              <a:t>Learning Agent</a:t>
            </a:r>
          </a:p>
        </p:txBody>
      </p:sp>
      <p:sp>
        <p:nvSpPr>
          <p:cNvPr id="2" name="TextBox 1">
            <a:extLst>
              <a:ext uri="{FF2B5EF4-FFF2-40B4-BE49-F238E27FC236}">
                <a16:creationId xmlns:a16="http://schemas.microsoft.com/office/drawing/2014/main" id="{4B55181C-8860-CE43-FDB9-4A79B1A3B18B}"/>
              </a:ext>
            </a:extLst>
          </p:cNvPr>
          <p:cNvSpPr txBox="1"/>
          <p:nvPr/>
        </p:nvSpPr>
        <p:spPr>
          <a:xfrm>
            <a:off x="1239414" y="2130491"/>
            <a:ext cx="9714725" cy="954107"/>
          </a:xfrm>
          <a:prstGeom prst="rect">
            <a:avLst/>
          </a:prstGeom>
          <a:noFill/>
        </p:spPr>
        <p:txBody>
          <a:bodyPr wrap="square" rtlCol="0">
            <a:spAutoFit/>
          </a:bodyPr>
          <a:lstStyle/>
          <a:p>
            <a:r>
              <a:rPr lang="en-US" sz="2800" b="1" dirty="0"/>
              <a:t>Example</a:t>
            </a:r>
          </a:p>
          <a:p>
            <a:r>
              <a:rPr lang="en-US" sz="2800" dirty="0"/>
              <a:t>Email spam filter</a:t>
            </a:r>
          </a:p>
        </p:txBody>
      </p:sp>
      <p:sp>
        <p:nvSpPr>
          <p:cNvPr id="3" name="TextBox 2">
            <a:extLst>
              <a:ext uri="{FF2B5EF4-FFF2-40B4-BE49-F238E27FC236}">
                <a16:creationId xmlns:a16="http://schemas.microsoft.com/office/drawing/2014/main" id="{E9EBEF1F-5679-C86F-4CD8-4D879431B5F4}"/>
              </a:ext>
            </a:extLst>
          </p:cNvPr>
          <p:cNvSpPr txBox="1"/>
          <p:nvPr/>
        </p:nvSpPr>
        <p:spPr>
          <a:xfrm>
            <a:off x="1239414" y="3084598"/>
            <a:ext cx="9714725" cy="954107"/>
          </a:xfrm>
          <a:prstGeom prst="rect">
            <a:avLst/>
          </a:prstGeom>
          <a:noFill/>
        </p:spPr>
        <p:txBody>
          <a:bodyPr wrap="square" rtlCol="0">
            <a:spAutoFit/>
          </a:bodyPr>
          <a:lstStyle/>
          <a:p>
            <a:r>
              <a:rPr lang="en-US" sz="2800" b="1" dirty="0"/>
              <a:t>Percepts</a:t>
            </a:r>
          </a:p>
          <a:p>
            <a:r>
              <a:rPr lang="en-US" sz="2800" dirty="0"/>
              <a:t>Incoming emails</a:t>
            </a:r>
            <a:endParaRPr lang="en-US" sz="4000" dirty="0"/>
          </a:p>
        </p:txBody>
      </p:sp>
      <p:sp>
        <p:nvSpPr>
          <p:cNvPr id="5" name="TextBox 4">
            <a:extLst>
              <a:ext uri="{FF2B5EF4-FFF2-40B4-BE49-F238E27FC236}">
                <a16:creationId xmlns:a16="http://schemas.microsoft.com/office/drawing/2014/main" id="{C0906885-0FB2-6D3A-7634-917A0D2CD5EC}"/>
              </a:ext>
            </a:extLst>
          </p:cNvPr>
          <p:cNvSpPr txBox="1"/>
          <p:nvPr/>
        </p:nvSpPr>
        <p:spPr>
          <a:xfrm>
            <a:off x="1238637" y="4038705"/>
            <a:ext cx="9714725" cy="1384995"/>
          </a:xfrm>
          <a:prstGeom prst="rect">
            <a:avLst/>
          </a:prstGeom>
          <a:noFill/>
        </p:spPr>
        <p:txBody>
          <a:bodyPr wrap="square" rtlCol="0">
            <a:spAutoFit/>
          </a:bodyPr>
          <a:lstStyle/>
          <a:p>
            <a:r>
              <a:rPr lang="en-US" sz="2800" b="1" dirty="0"/>
              <a:t>Actions</a:t>
            </a:r>
          </a:p>
          <a:p>
            <a:r>
              <a:rPr lang="en-US" sz="2800" dirty="0"/>
              <a:t>Learns from labeled examples to classify emails as spam or non-spam, improving its classification accuracy over time.</a:t>
            </a:r>
            <a:endParaRPr lang="en-US" sz="5400" dirty="0"/>
          </a:p>
        </p:txBody>
      </p:sp>
    </p:spTree>
    <p:extLst>
      <p:ext uri="{BB962C8B-B14F-4D97-AF65-F5344CB8AC3E}">
        <p14:creationId xmlns:p14="http://schemas.microsoft.com/office/powerpoint/2010/main" val="36626524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C1757-5696-7ED5-09BE-4E2D60564D9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89DF2E8-AB8B-F9A3-67F5-1CAC0B386378}"/>
              </a:ext>
            </a:extLst>
          </p:cNvPr>
          <p:cNvSpPr txBox="1"/>
          <p:nvPr/>
        </p:nvSpPr>
        <p:spPr>
          <a:xfrm>
            <a:off x="1238637" y="674610"/>
            <a:ext cx="10274561" cy="646331"/>
          </a:xfrm>
          <a:prstGeom prst="rect">
            <a:avLst/>
          </a:prstGeom>
          <a:noFill/>
        </p:spPr>
        <p:txBody>
          <a:bodyPr wrap="square" rtlCol="0">
            <a:spAutoFit/>
          </a:bodyPr>
          <a:lstStyle/>
          <a:p>
            <a:r>
              <a:rPr lang="en-US" sz="3600" b="1" dirty="0"/>
              <a:t>Introduction to Optimization</a:t>
            </a:r>
          </a:p>
        </p:txBody>
      </p:sp>
      <p:sp>
        <p:nvSpPr>
          <p:cNvPr id="2" name="TextBox 1">
            <a:extLst>
              <a:ext uri="{FF2B5EF4-FFF2-40B4-BE49-F238E27FC236}">
                <a16:creationId xmlns:a16="http://schemas.microsoft.com/office/drawing/2014/main" id="{9FFBB16B-8364-1723-AD44-0DB67E95408E}"/>
              </a:ext>
            </a:extLst>
          </p:cNvPr>
          <p:cNvSpPr txBox="1"/>
          <p:nvPr/>
        </p:nvSpPr>
        <p:spPr>
          <a:xfrm>
            <a:off x="1238637" y="1984806"/>
            <a:ext cx="9714725" cy="3108543"/>
          </a:xfrm>
          <a:prstGeom prst="rect">
            <a:avLst/>
          </a:prstGeom>
          <a:noFill/>
        </p:spPr>
        <p:txBody>
          <a:bodyPr wrap="square" rtlCol="0">
            <a:spAutoFit/>
          </a:bodyPr>
          <a:lstStyle/>
          <a:p>
            <a:pPr marL="457200" indent="-457200">
              <a:buFont typeface="Arial" panose="020B0604020202020204" pitchFamily="34" charset="0"/>
              <a:buChar char="•"/>
            </a:pPr>
            <a:r>
              <a:rPr lang="en-US" sz="2800" dirty="0"/>
              <a:t>The process of finding the best solution from all feasible solutions, considering specific criteria or objectives.</a:t>
            </a:r>
          </a:p>
          <a:p>
            <a:endParaRPr lang="en-US" sz="2800" dirty="0"/>
          </a:p>
          <a:p>
            <a:pPr marL="457200" indent="-457200">
              <a:buFont typeface="Arial" panose="020B0604020202020204" pitchFamily="34" charset="0"/>
              <a:buChar char="•"/>
            </a:pPr>
            <a:r>
              <a:rPr lang="en-US" sz="2800" dirty="0"/>
              <a:t>It involves techniques and algorithms aimed at improving the performance, efficiency, or effectiveness of AI systems by fine-tuning parameters, selecting optimal choices, or maximizing desired outcomes.</a:t>
            </a:r>
          </a:p>
        </p:txBody>
      </p:sp>
    </p:spTree>
    <p:extLst>
      <p:ext uri="{BB962C8B-B14F-4D97-AF65-F5344CB8AC3E}">
        <p14:creationId xmlns:p14="http://schemas.microsoft.com/office/powerpoint/2010/main" val="5945506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95069-7A32-D345-F58D-AF9093F5517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81A2395-2A23-6979-04C6-7D13A34E8B00}"/>
              </a:ext>
            </a:extLst>
          </p:cNvPr>
          <p:cNvSpPr txBox="1"/>
          <p:nvPr/>
        </p:nvSpPr>
        <p:spPr>
          <a:xfrm>
            <a:off x="1238637" y="366700"/>
            <a:ext cx="10274561" cy="646331"/>
          </a:xfrm>
          <a:prstGeom prst="rect">
            <a:avLst/>
          </a:prstGeom>
          <a:noFill/>
        </p:spPr>
        <p:txBody>
          <a:bodyPr wrap="square" rtlCol="0">
            <a:spAutoFit/>
          </a:bodyPr>
          <a:lstStyle/>
          <a:p>
            <a:r>
              <a:rPr lang="en-US" sz="3600" b="1" dirty="0"/>
              <a:t>How Optimization Works</a:t>
            </a:r>
          </a:p>
        </p:txBody>
      </p:sp>
      <p:sp>
        <p:nvSpPr>
          <p:cNvPr id="2" name="TextBox 1">
            <a:extLst>
              <a:ext uri="{FF2B5EF4-FFF2-40B4-BE49-F238E27FC236}">
                <a16:creationId xmlns:a16="http://schemas.microsoft.com/office/drawing/2014/main" id="{35320AFF-C819-F7CD-45A2-57C34AAF137A}"/>
              </a:ext>
            </a:extLst>
          </p:cNvPr>
          <p:cNvSpPr txBox="1"/>
          <p:nvPr/>
        </p:nvSpPr>
        <p:spPr>
          <a:xfrm>
            <a:off x="968050" y="1191704"/>
            <a:ext cx="9714725" cy="5016758"/>
          </a:xfrm>
          <a:prstGeom prst="rect">
            <a:avLst/>
          </a:prstGeom>
          <a:noFill/>
        </p:spPr>
        <p:txBody>
          <a:bodyPr wrap="square" rtlCol="0">
            <a:spAutoFit/>
          </a:bodyPr>
          <a:lstStyle/>
          <a:p>
            <a:pPr marL="514350" indent="-514350">
              <a:buAutoNum type="arabicPeriod"/>
            </a:pPr>
            <a:r>
              <a:rPr lang="en-US" sz="2000" dirty="0"/>
              <a:t>Objective function – defining an objective function that quantifies the performance or quality of the system. This function represents what needs to be maximized or minimized. In machine learning, for example, the objective function could be </a:t>
            </a:r>
            <a:r>
              <a:rPr lang="en-US" sz="2000" b="1" dirty="0"/>
              <a:t>accuracy, error rate</a:t>
            </a:r>
            <a:r>
              <a:rPr lang="en-US" sz="2000" dirty="0"/>
              <a:t>, or another metric that evaluates the model's performance.</a:t>
            </a:r>
          </a:p>
          <a:p>
            <a:pPr marL="514350" indent="-514350">
              <a:buAutoNum type="arabicPeriod"/>
            </a:pPr>
            <a:r>
              <a:rPr lang="en-US" sz="2000" dirty="0"/>
              <a:t>Search Space - Optimization algorithms explore a search space, which represents all possible solutions to the problem at hand.</a:t>
            </a:r>
          </a:p>
          <a:p>
            <a:pPr marL="514350" indent="-514350">
              <a:buAutoNum type="arabicPeriod"/>
            </a:pPr>
            <a:r>
              <a:rPr lang="en-US" sz="2000" dirty="0"/>
              <a:t>Constraints – rules or limits that need to be followed when finding best solutions to a problem. Constraints help ensure that the solution you find is realistic and practical within the given circumstances.</a:t>
            </a:r>
          </a:p>
          <a:p>
            <a:pPr marL="514350" indent="-514350">
              <a:buAutoNum type="arabicPeriod"/>
            </a:pPr>
            <a:r>
              <a:rPr lang="en-US" sz="2000" dirty="0"/>
              <a:t>Optimization Algorithms - Various optimization algorithms are employed to search through the solution space and find the optimal solution based on the defined objective function and constraints.</a:t>
            </a:r>
          </a:p>
          <a:p>
            <a:pPr marL="514350" indent="-514350">
              <a:buAutoNum type="arabicPeriod"/>
            </a:pPr>
            <a:r>
              <a:rPr lang="en-US" sz="2000" dirty="0"/>
              <a:t>Applications - Optimization techniques find applications across various domains of AI, including machine learning, robotics, natural language processing, computer vision, and operations research.</a:t>
            </a:r>
          </a:p>
          <a:p>
            <a:pPr marL="514350" indent="-514350">
              <a:buAutoNum type="arabicPeriod"/>
            </a:pPr>
            <a:endParaRPr lang="en-US" sz="2000" dirty="0"/>
          </a:p>
        </p:txBody>
      </p:sp>
    </p:spTree>
    <p:extLst>
      <p:ext uri="{BB962C8B-B14F-4D97-AF65-F5344CB8AC3E}">
        <p14:creationId xmlns:p14="http://schemas.microsoft.com/office/powerpoint/2010/main" val="17288899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1730</TotalTime>
  <Words>634</Words>
  <Application>Microsoft Office PowerPoint</Application>
  <PresentationFormat>Widescreen</PresentationFormat>
  <Paragraphs>78</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Isaac Makosa</dc:creator>
  <cp:lastModifiedBy>219005516 - ISAAC MAKOSA</cp:lastModifiedBy>
  <cp:revision>5</cp:revision>
  <dcterms:created xsi:type="dcterms:W3CDTF">2024-02-19T07:04:00Z</dcterms:created>
  <dcterms:modified xsi:type="dcterms:W3CDTF">2024-02-27T22:39:40Z</dcterms:modified>
</cp:coreProperties>
</file>